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49"/>
  </p:notesMasterIdLst>
  <p:handoutMasterIdLst>
    <p:handoutMasterId r:id="rId50"/>
  </p:handoutMasterIdLst>
  <p:sldIdLst>
    <p:sldId id="772" r:id="rId5"/>
    <p:sldId id="267" r:id="rId6"/>
    <p:sldId id="796" r:id="rId7"/>
    <p:sldId id="774" r:id="rId8"/>
    <p:sldId id="2147476112" r:id="rId9"/>
    <p:sldId id="773" r:id="rId10"/>
    <p:sldId id="775" r:id="rId11"/>
    <p:sldId id="779" r:id="rId12"/>
    <p:sldId id="776" r:id="rId13"/>
    <p:sldId id="781" r:id="rId14"/>
    <p:sldId id="802" r:id="rId15"/>
    <p:sldId id="2147476114" r:id="rId16"/>
    <p:sldId id="269" r:id="rId17"/>
    <p:sldId id="778" r:id="rId18"/>
    <p:sldId id="783" r:id="rId19"/>
    <p:sldId id="782" r:id="rId20"/>
    <p:sldId id="780" r:id="rId21"/>
    <p:sldId id="279" r:id="rId22"/>
    <p:sldId id="328" r:id="rId23"/>
    <p:sldId id="784" r:id="rId24"/>
    <p:sldId id="2147476115" r:id="rId25"/>
    <p:sldId id="282" r:id="rId26"/>
    <p:sldId id="769" r:id="rId27"/>
    <p:sldId id="770" r:id="rId28"/>
    <p:sldId id="296" r:id="rId29"/>
    <p:sldId id="2147476116" r:id="rId30"/>
    <p:sldId id="280" r:id="rId31"/>
    <p:sldId id="756" r:id="rId32"/>
    <p:sldId id="785" r:id="rId33"/>
    <p:sldId id="800" r:id="rId34"/>
    <p:sldId id="798" r:id="rId35"/>
    <p:sldId id="801" r:id="rId36"/>
    <p:sldId id="797" r:id="rId37"/>
    <p:sldId id="786" r:id="rId38"/>
    <p:sldId id="788" r:id="rId39"/>
    <p:sldId id="791" r:id="rId40"/>
    <p:sldId id="792" r:id="rId41"/>
    <p:sldId id="314" r:id="rId42"/>
    <p:sldId id="790" r:id="rId43"/>
    <p:sldId id="795" r:id="rId44"/>
    <p:sldId id="787" r:id="rId45"/>
    <p:sldId id="789" r:id="rId46"/>
    <p:sldId id="793" r:id="rId47"/>
    <p:sldId id="794" r:id="rId4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CE53B1-6E21-4B1D-6692-0265EE7D48FE}" name="Singh, Jagmeet" initials="SJ" userId="S::n805706@sbna.santander.us::2a44bece-2d8e-441b-9b19-cadde5aae49e" providerId="AD"/>
  <p188:author id="{C2FFEEB9-6013-4860-6922-9046D05531D5}" name="Jayavelu, Balaji" initials="JB" userId="S::n894358@sbna.santander.us::712fe9ee-f077-47e3-bea7-da59e4bee4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000"/>
    <a:srgbClr val="D25252"/>
    <a:srgbClr val="5252D2"/>
    <a:srgbClr val="7F7F7F"/>
    <a:srgbClr val="D9D9D9"/>
    <a:srgbClr val="DEEDF2"/>
    <a:srgbClr val="3C3C3B"/>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AAA602-66EA-4B7E-BCE1-8F2A17472E84}" v="82" dt="2025-12-10T08:19:41.13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4660"/>
  </p:normalViewPr>
  <p:slideViewPr>
    <p:cSldViewPr snapToGrid="0" showGuides="1">
      <p:cViewPr varScale="1">
        <p:scale>
          <a:sx n="88" d="100"/>
          <a:sy n="88" d="100"/>
        </p:scale>
        <p:origin x="432" y="67"/>
      </p:cViewPr>
      <p:guideLst>
        <p:guide orient="horz" pos="2160"/>
        <p:guide pos="3840"/>
      </p:guideLst>
    </p:cSldViewPr>
  </p:slideViewPr>
  <p:notesTextViewPr>
    <p:cViewPr>
      <p:scale>
        <a:sx n="1" d="1"/>
        <a:sy n="1" d="1"/>
      </p:scale>
      <p:origin x="0" y="0"/>
    </p:cViewPr>
  </p:notesTextViewPr>
  <p:sorterViewPr>
    <p:cViewPr>
      <p:scale>
        <a:sx n="100" d="100"/>
        <a:sy n="100" d="100"/>
      </p:scale>
      <p:origin x="0" y="-1072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1A04BC-5D88-4C7F-9756-DA256928EA24}" type="doc">
      <dgm:prSet loTypeId="urn:microsoft.com/office/officeart/2008/layout/HexagonCluster" loCatId="picture" qsTypeId="urn:microsoft.com/office/officeart/2005/8/quickstyle/simple1" qsCatId="simple" csTypeId="urn:microsoft.com/office/officeart/2005/8/colors/accent1_2" csCatId="accent1" phldr="1"/>
      <dgm:spPr/>
    </dgm:pt>
    <dgm:pt modelId="{A60848D6-BD58-4265-BCBA-EFAEB1ABA5CB}">
      <dgm:prSet phldrT="[Texto]"/>
      <dgm:spPr>
        <a:solidFill>
          <a:srgbClr val="92D050"/>
        </a:solidFill>
        <a:ln>
          <a:solidFill>
            <a:schemeClr val="bg1"/>
          </a:solidFill>
        </a:ln>
      </dgm:spPr>
      <dgm:t>
        <a:bodyPr/>
        <a:lstStyle/>
        <a:p>
          <a:endParaRPr lang="es-MX"/>
        </a:p>
      </dgm:t>
    </dgm:pt>
    <dgm:pt modelId="{9B04ACC6-4CF0-47F1-AABC-C0813911ED14}" type="parTrans" cxnId="{6CE54880-7345-43FA-8292-C35954292FA6}">
      <dgm:prSet/>
      <dgm:spPr/>
      <dgm:t>
        <a:bodyPr/>
        <a:lstStyle/>
        <a:p>
          <a:endParaRPr lang="es-MX"/>
        </a:p>
      </dgm:t>
    </dgm:pt>
    <dgm:pt modelId="{8F1EDDD8-6E93-460E-81E0-62A6C5F22F60}" type="sibTrans" cxnId="{6CE54880-7345-43FA-8292-C35954292FA6}">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a:solidFill>
            <a:srgbClr val="00B050"/>
          </a:solidFill>
        </a:ln>
      </dgm:spPr>
      <dgm:t>
        <a:bodyPr/>
        <a:lstStyle/>
        <a:p>
          <a:endParaRPr lang="es-MX"/>
        </a:p>
      </dgm:t>
    </dgm:pt>
    <dgm:pt modelId="{52AA544E-68AF-4380-915D-7D523E338379}" type="pres">
      <dgm:prSet presAssocID="{AA1A04BC-5D88-4C7F-9756-DA256928EA24}" presName="Name0" presStyleCnt="0">
        <dgm:presLayoutVars>
          <dgm:chMax val="21"/>
          <dgm:chPref val="21"/>
        </dgm:presLayoutVars>
      </dgm:prSet>
      <dgm:spPr/>
    </dgm:pt>
    <dgm:pt modelId="{F77272EC-DC86-4CF3-92C8-2F24073C1282}" type="pres">
      <dgm:prSet presAssocID="{A60848D6-BD58-4265-BCBA-EFAEB1ABA5CB}" presName="text1" presStyleCnt="0"/>
      <dgm:spPr/>
    </dgm:pt>
    <dgm:pt modelId="{96B736D1-01A8-4FA8-9ACD-946E6253B0C5}" type="pres">
      <dgm:prSet presAssocID="{A60848D6-BD58-4265-BCBA-EFAEB1ABA5CB}" presName="textRepeatNode" presStyleLbl="alignNode1" presStyleIdx="0" presStyleCnt="1" custLinFactNeighborX="-3132" custLinFactNeighborY="-26238">
        <dgm:presLayoutVars>
          <dgm:chMax val="0"/>
          <dgm:chPref val="0"/>
          <dgm:bulletEnabled val="1"/>
        </dgm:presLayoutVars>
      </dgm:prSet>
      <dgm:spPr/>
    </dgm:pt>
    <dgm:pt modelId="{251A7AE2-5BAA-4488-B300-D4056277CDE2}" type="pres">
      <dgm:prSet presAssocID="{A60848D6-BD58-4265-BCBA-EFAEB1ABA5CB}" presName="textaccent1" presStyleCnt="0"/>
      <dgm:spPr/>
    </dgm:pt>
    <dgm:pt modelId="{85C588C5-8F4E-44F6-AEFF-E993DF0432E5}" type="pres">
      <dgm:prSet presAssocID="{A60848D6-BD58-4265-BCBA-EFAEB1ABA5CB}" presName="accentRepeatNode" presStyleLbl="solidAlignAcc1" presStyleIdx="0" presStyleCnt="2" custScaleX="754234" custScaleY="731487" custLinFactY="-400000" custLinFactNeighborX="-7861" custLinFactNeighborY="-483970"/>
      <dgm:spPr>
        <a:solidFill>
          <a:srgbClr val="92D050"/>
        </a:solidFill>
        <a:ln>
          <a:solidFill>
            <a:schemeClr val="bg1"/>
          </a:solidFill>
        </a:ln>
      </dgm:spPr>
    </dgm:pt>
    <dgm:pt modelId="{DEBAC0E2-4677-4E5F-BFF4-24C547A546B5}" type="pres">
      <dgm:prSet presAssocID="{8F1EDDD8-6E93-460E-81E0-62A6C5F22F60}" presName="image1" presStyleCnt="0"/>
      <dgm:spPr/>
    </dgm:pt>
    <dgm:pt modelId="{155D5851-5009-4C13-A9CF-64E3546312A5}" type="pres">
      <dgm:prSet presAssocID="{8F1EDDD8-6E93-460E-81E0-62A6C5F22F60}" presName="imageRepeatNode" presStyleLbl="alignAcc1" presStyleIdx="0" presStyleCnt="1" custScaleX="91076" custScaleY="84828" custLinFactY="14307" custLinFactNeighborX="69790" custLinFactNeighborY="100000"/>
      <dgm:spPr/>
    </dgm:pt>
    <dgm:pt modelId="{DE9F9D64-40EE-466D-9537-43B634F898AB}" type="pres">
      <dgm:prSet presAssocID="{8F1EDDD8-6E93-460E-81E0-62A6C5F22F60}" presName="imageaccent1" presStyleCnt="0"/>
      <dgm:spPr/>
    </dgm:pt>
    <dgm:pt modelId="{A00062D0-AC4E-42F0-BDA3-261B37709350}" type="pres">
      <dgm:prSet presAssocID="{8F1EDDD8-6E93-460E-81E0-62A6C5F22F60}" presName="accentRepeatNode" presStyleLbl="solidAlignAcc1" presStyleIdx="1" presStyleCnt="2" custScaleX="798920" custScaleY="742600" custLinFactX="-100000" custLinFactY="-73614" custLinFactNeighborX="-130330" custLinFactNeighborY="-100000"/>
      <dgm:spPr>
        <a:solidFill>
          <a:srgbClr val="92D050"/>
        </a:solidFill>
        <a:ln>
          <a:solidFill>
            <a:schemeClr val="bg1"/>
          </a:solidFill>
        </a:ln>
      </dgm:spPr>
    </dgm:pt>
  </dgm:ptLst>
  <dgm:cxnLst>
    <dgm:cxn modelId="{9CB31253-4BAC-4B22-AD35-AEC35AB50A29}" type="presOf" srcId="{8F1EDDD8-6E93-460E-81E0-62A6C5F22F60}" destId="{155D5851-5009-4C13-A9CF-64E3546312A5}" srcOrd="0" destOrd="0" presId="urn:microsoft.com/office/officeart/2008/layout/HexagonCluster"/>
    <dgm:cxn modelId="{6CE54880-7345-43FA-8292-C35954292FA6}" srcId="{AA1A04BC-5D88-4C7F-9756-DA256928EA24}" destId="{A60848D6-BD58-4265-BCBA-EFAEB1ABA5CB}" srcOrd="0" destOrd="0" parTransId="{9B04ACC6-4CF0-47F1-AABC-C0813911ED14}" sibTransId="{8F1EDDD8-6E93-460E-81E0-62A6C5F22F60}"/>
    <dgm:cxn modelId="{342AF2B0-08F3-46A0-A191-22C090CABBB9}" type="presOf" srcId="{A60848D6-BD58-4265-BCBA-EFAEB1ABA5CB}" destId="{96B736D1-01A8-4FA8-9ACD-946E6253B0C5}" srcOrd="0" destOrd="0" presId="urn:microsoft.com/office/officeart/2008/layout/HexagonCluster"/>
    <dgm:cxn modelId="{8EB3F2E1-7CBB-4984-88B8-7A64305343B7}" type="presOf" srcId="{AA1A04BC-5D88-4C7F-9756-DA256928EA24}" destId="{52AA544E-68AF-4380-915D-7D523E338379}" srcOrd="0" destOrd="0" presId="urn:microsoft.com/office/officeart/2008/layout/HexagonCluster"/>
    <dgm:cxn modelId="{DC525CED-795E-44EC-816A-1243277FCEE0}" type="presParOf" srcId="{52AA544E-68AF-4380-915D-7D523E338379}" destId="{F77272EC-DC86-4CF3-92C8-2F24073C1282}" srcOrd="0" destOrd="0" presId="urn:microsoft.com/office/officeart/2008/layout/HexagonCluster"/>
    <dgm:cxn modelId="{F67A345D-D000-437F-B2C2-68E9328BDE60}" type="presParOf" srcId="{F77272EC-DC86-4CF3-92C8-2F24073C1282}" destId="{96B736D1-01A8-4FA8-9ACD-946E6253B0C5}" srcOrd="0" destOrd="0" presId="urn:microsoft.com/office/officeart/2008/layout/HexagonCluster"/>
    <dgm:cxn modelId="{CCA5185D-4738-4CE1-B4BC-C9A5E0F2BA7F}" type="presParOf" srcId="{52AA544E-68AF-4380-915D-7D523E338379}" destId="{251A7AE2-5BAA-4488-B300-D4056277CDE2}" srcOrd="1" destOrd="0" presId="urn:microsoft.com/office/officeart/2008/layout/HexagonCluster"/>
    <dgm:cxn modelId="{0882E862-D45B-4C95-9770-53813657EBE2}" type="presParOf" srcId="{251A7AE2-5BAA-4488-B300-D4056277CDE2}" destId="{85C588C5-8F4E-44F6-AEFF-E993DF0432E5}" srcOrd="0" destOrd="0" presId="urn:microsoft.com/office/officeart/2008/layout/HexagonCluster"/>
    <dgm:cxn modelId="{2A8AE26C-18EE-474A-8287-10A17BF9F03F}" type="presParOf" srcId="{52AA544E-68AF-4380-915D-7D523E338379}" destId="{DEBAC0E2-4677-4E5F-BFF4-24C547A546B5}" srcOrd="2" destOrd="0" presId="urn:microsoft.com/office/officeart/2008/layout/HexagonCluster"/>
    <dgm:cxn modelId="{0632729E-4E4F-486F-A1C4-DE412D0C5D73}" type="presParOf" srcId="{DEBAC0E2-4677-4E5F-BFF4-24C547A546B5}" destId="{155D5851-5009-4C13-A9CF-64E3546312A5}" srcOrd="0" destOrd="0" presId="urn:microsoft.com/office/officeart/2008/layout/HexagonCluster"/>
    <dgm:cxn modelId="{F1C2ED00-435B-4B56-AEC6-A29874F68B2E}" type="presParOf" srcId="{52AA544E-68AF-4380-915D-7D523E338379}" destId="{DE9F9D64-40EE-466D-9537-43B634F898AB}" srcOrd="3" destOrd="0" presId="urn:microsoft.com/office/officeart/2008/layout/HexagonCluster"/>
    <dgm:cxn modelId="{BB366D08-4170-48D7-B59B-3567A223DD53}" type="presParOf" srcId="{DE9F9D64-40EE-466D-9537-43B634F898AB}" destId="{A00062D0-AC4E-42F0-BDA3-261B37709350}" srcOrd="0" destOrd="0" presId="urn:microsoft.com/office/officeart/2008/layout/HexagonCluster"/>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736D1-01A8-4FA8-9ACD-946E6253B0C5}">
      <dsp:nvSpPr>
        <dsp:cNvPr id="0" name=""/>
        <dsp:cNvSpPr/>
      </dsp:nvSpPr>
      <dsp:spPr>
        <a:xfrm>
          <a:off x="147857" y="119598"/>
          <a:ext cx="191306" cy="164746"/>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890" rIns="0" bIns="8890" numCol="1" spcCol="1270" anchor="ctr" anchorCtr="0">
          <a:noAutofit/>
        </a:bodyPr>
        <a:lstStyle/>
        <a:p>
          <a:pPr marL="0" lvl="0" indent="0" algn="ctr" defTabSz="311150">
            <a:lnSpc>
              <a:spcPct val="90000"/>
            </a:lnSpc>
            <a:spcBef>
              <a:spcPct val="0"/>
            </a:spcBef>
            <a:spcAft>
              <a:spcPct val="35000"/>
            </a:spcAft>
            <a:buNone/>
          </a:pPr>
          <a:endParaRPr lang="es-MX" sz="700" kern="1200"/>
        </a:p>
      </dsp:txBody>
      <dsp:txXfrm>
        <a:off x="177528" y="145150"/>
        <a:ext cx="131964" cy="113642"/>
      </dsp:txXfrm>
    </dsp:sp>
    <dsp:sp modelId="{85C588C5-8F4E-44F6-AEFF-E993DF0432E5}">
      <dsp:nvSpPr>
        <dsp:cNvPr id="0" name=""/>
        <dsp:cNvSpPr/>
      </dsp:nvSpPr>
      <dsp:spPr>
        <a:xfrm>
          <a:off x="83493" y="4380"/>
          <a:ext cx="168403" cy="140963"/>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 modelId="{155D5851-5009-4C13-A9CF-64E3546312A5}">
      <dsp:nvSpPr>
        <dsp:cNvPr id="0" name=""/>
        <dsp:cNvSpPr/>
      </dsp:nvSpPr>
      <dsp:spPr>
        <a:xfrm>
          <a:off x="137604" y="276021"/>
          <a:ext cx="174011" cy="139708"/>
        </a:xfrm>
        <a:prstGeom prst="hexagon">
          <a:avLst>
            <a:gd name="adj" fmla="val 25000"/>
            <a:gd name="vf" fmla="val 1154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w="12700" cap="flat" cmpd="sng" algn="ctr">
          <a:solidFill>
            <a:srgbClr val="00B050"/>
          </a:solidFill>
          <a:prstDash val="solid"/>
          <a:miter lim="800000"/>
        </a:ln>
        <a:effectLst/>
      </dsp:spPr>
      <dsp:style>
        <a:lnRef idx="2">
          <a:scrgbClr r="0" g="0" b="0"/>
        </a:lnRef>
        <a:fillRef idx="1">
          <a:scrgbClr r="0" g="0" b="0"/>
        </a:fillRef>
        <a:effectRef idx="0">
          <a:scrgbClr r="0" g="0" b="0"/>
        </a:effectRef>
        <a:fontRef idx="minor"/>
      </dsp:style>
    </dsp:sp>
    <dsp:sp modelId="{A00062D0-AC4E-42F0-BDA3-261B37709350}">
      <dsp:nvSpPr>
        <dsp:cNvPr id="0" name=""/>
        <dsp:cNvSpPr/>
      </dsp:nvSpPr>
      <dsp:spPr>
        <a:xfrm>
          <a:off x="0" y="122189"/>
          <a:ext cx="178381" cy="143104"/>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A5188B-02CB-4126-A12E-C27940239E67}" type="datetimeFigureOut">
              <a:rPr lang="es-ES" smtClean="0"/>
              <a:t>28/10/2026</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1D6FC-8B18-4D83-81FA-5ECA9E5C1AAF}" type="datetimeFigureOut">
              <a:rPr lang="es-ES" smtClean="0"/>
              <a:t>28/10/2026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7F7C8EE-E826-4BDA-96F2-1474586E7DCD}" type="slidenum">
              <a:rPr lang="es-ES" altLang="en-US" smtClean="0"/>
              <a:pPr/>
              <a:t>2</a:t>
            </a:fld>
            <a:endParaRPr lang="es-ES" altLang="en-US" dirty="0"/>
          </a:p>
        </p:txBody>
      </p:sp>
    </p:spTree>
    <p:extLst>
      <p:ext uri="{BB962C8B-B14F-4D97-AF65-F5344CB8AC3E}">
        <p14:creationId xmlns:p14="http://schemas.microsoft.com/office/powerpoint/2010/main" val="58339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4218175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38</a:t>
            </a:fld>
            <a:endParaRPr lang="es-ES"/>
          </a:p>
        </p:txBody>
      </p:sp>
    </p:spTree>
    <p:extLst>
      <p:ext uri="{BB962C8B-B14F-4D97-AF65-F5344CB8AC3E}">
        <p14:creationId xmlns:p14="http://schemas.microsoft.com/office/powerpoint/2010/main" val="2048361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ho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rgbClr val="EB0000"/>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1">
                    <a:lumMod val="65000"/>
                    <a:lumOff val="3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1">
                    <a:lumMod val="65000"/>
                    <a:lumOff val="35000"/>
                  </a:schemeClr>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a:t>Click to edit Master text styles</a:t>
            </a:r>
          </a:p>
        </p:txBody>
      </p:sp>
      <p:pic>
        <p:nvPicPr>
          <p:cNvPr id="11"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971" y="5727401"/>
            <a:ext cx="2528789" cy="332588"/>
          </a:xfrm>
          <a:prstGeom prst="rect">
            <a:avLst/>
          </a:prstGeom>
        </p:spPr>
      </p:pic>
      <p:sp>
        <p:nvSpPr>
          <p:cNvPr id="12" name="Forma libre: forma 6">
            <a:extLst>
              <a:ext uri="{FF2B5EF4-FFF2-40B4-BE49-F238E27FC236}">
                <a16:creationId xmlns:a16="http://schemas.microsoft.com/office/drawing/2014/main" id="{67D1300D-9BA1-4612-9EA5-90328019812E}"/>
              </a:ext>
            </a:extLst>
          </p:cNvPr>
          <p:cNvSpPr/>
          <p:nvPr userDrawn="1"/>
        </p:nvSpPr>
        <p:spPr>
          <a:xfrm>
            <a:off x="0" y="5229922"/>
            <a:ext cx="12192000"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pic>
        <p:nvPicPr>
          <p:cNvPr id="14"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09649" y="5879801"/>
            <a:ext cx="2528789" cy="332588"/>
          </a:xfrm>
          <a:prstGeom prst="rect">
            <a:avLst/>
          </a:prstGeom>
        </p:spPr>
      </p:pic>
    </p:spTree>
    <p:extLst>
      <p:ext uri="{BB962C8B-B14F-4D97-AF65-F5344CB8AC3E}">
        <p14:creationId xmlns:p14="http://schemas.microsoft.com/office/powerpoint/2010/main" val="307993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
        <p:nvSpPr>
          <p:cNvPr id="10" name="CuadroTexto 9">
            <a:extLst>
              <a:ext uri="{FF2B5EF4-FFF2-40B4-BE49-F238E27FC236}">
                <a16:creationId xmlns:a16="http://schemas.microsoft.com/office/drawing/2014/main" id="{B3950534-FF56-4FD6-A098-D625BC54F0FA}"/>
              </a:ext>
            </a:extLst>
          </p:cNvPr>
          <p:cNvSpPr txBox="1"/>
          <p:nvPr/>
        </p:nvSpPr>
        <p:spPr>
          <a:xfrm>
            <a:off x="722534" y="312269"/>
            <a:ext cx="1849821" cy="242374"/>
          </a:xfrm>
          <a:prstGeom prst="rect">
            <a:avLst/>
          </a:prstGeom>
          <a:noFill/>
        </p:spPr>
        <p:txBody>
          <a:bodyPr wrap="square" rtlCol="0">
            <a:spAutoFit/>
          </a:bodyPr>
          <a:lstStyle/>
          <a:p>
            <a:r>
              <a:rPr lang="es-ES" sz="975" dirty="0" err="1">
                <a:solidFill>
                  <a:schemeClr val="accent1"/>
                </a:solidFill>
              </a:rPr>
              <a:t>Index</a:t>
            </a:r>
            <a:endParaRPr lang="es-ES" sz="975"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324000" indent="-297000">
              <a:buClr>
                <a:schemeClr val="accent1"/>
              </a:buClr>
              <a:buSzPct val="45000"/>
              <a:buFont typeface="+mj-lt"/>
              <a:buAutoNum type="arabicPeriod"/>
              <a:defRPr lang="es-ES" sz="3000" b="1" kern="1200" dirty="0" smtClean="0">
                <a:solidFill>
                  <a:srgbClr val="3C3C3B"/>
                </a:solidFill>
                <a:latin typeface="+mn-lt"/>
                <a:ea typeface="+mn-ea"/>
                <a:cs typeface="+mn-cs"/>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72717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hoto">
    <p:spTree>
      <p:nvGrpSpPr>
        <p:cNvPr id="1" name=""/>
        <p:cNvGrpSpPr/>
        <p:nvPr/>
      </p:nvGrpSpPr>
      <p:grpSpPr>
        <a:xfrm>
          <a:off x="0" y="0"/>
          <a:ext cx="0" cy="0"/>
          <a:chOff x="0" y="0"/>
          <a:chExt cx="0" cy="0"/>
        </a:xfrm>
      </p:grpSpPr>
      <p:sp>
        <p:nvSpPr>
          <p:cNvPr id="6" name="Forma libre: forma 6">
            <a:extLst>
              <a:ext uri="{FF2B5EF4-FFF2-40B4-BE49-F238E27FC236}">
                <a16:creationId xmlns:a16="http://schemas.microsoft.com/office/drawing/2014/main" id="{49C540BB-A189-4361-ABD8-4DA84C6612C3}"/>
              </a:ext>
            </a:extLst>
          </p:cNvPr>
          <p:cNvSpPr/>
          <p:nvPr userDrawn="1"/>
        </p:nvSpPr>
        <p:spPr>
          <a:xfrm>
            <a:off x="8945217" y="0"/>
            <a:ext cx="3246783"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rgbClr val="EB0000"/>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81623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1099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01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1875" b="1">
                <a:solidFill>
                  <a:schemeClr val="accent3"/>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6894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200"/>
            </a:lvl1pPr>
          </a:lstStyle>
          <a:p>
            <a:r>
              <a:rPr lang="es-ES" dirty="0" err="1"/>
              <a:t>Insert</a:t>
            </a:r>
            <a:r>
              <a:rPr lang="es-ES" dirty="0"/>
              <a:t> </a:t>
            </a:r>
            <a:r>
              <a:rPr lang="es-ES" dirty="0" err="1"/>
              <a:t>graphic</a:t>
            </a:r>
            <a:r>
              <a:rPr lang="es-ES" dirty="0"/>
              <a:t> </a:t>
            </a:r>
            <a:r>
              <a:rPr lang="es-ES" dirty="0" err="1"/>
              <a:t>here</a:t>
            </a:r>
            <a:endParaRPr lang="es-ES" dirty="0"/>
          </a:p>
        </p:txBody>
      </p:sp>
      <p:pic>
        <p:nvPicPr>
          <p:cNvPr id="12"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5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9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2894133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4"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38927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 Contact ">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3" name="CuadroTexto 22">
            <a:extLst>
              <a:ext uri="{FF2B5EF4-FFF2-40B4-BE49-F238E27FC236}">
                <a16:creationId xmlns:a16="http://schemas.microsoft.com/office/drawing/2014/main" id="{B163354C-97AE-4FC8-BF01-B7FCA9B2C7C0}"/>
              </a:ext>
            </a:extLst>
          </p:cNvPr>
          <p:cNvSpPr txBox="1"/>
          <p:nvPr/>
        </p:nvSpPr>
        <p:spPr>
          <a:xfrm>
            <a:off x="719289" y="1945649"/>
            <a:ext cx="3365479" cy="900246"/>
          </a:xfrm>
          <a:prstGeom prst="rect">
            <a:avLst/>
          </a:prstGeom>
          <a:noFill/>
        </p:spPr>
        <p:txBody>
          <a:bodyPr wrap="square" rtlCol="0">
            <a:spAutoFit/>
          </a:bodyPr>
          <a:lstStyle/>
          <a:p>
            <a:r>
              <a:rPr lang="en-US" sz="1050" dirty="0">
                <a:solidFill>
                  <a:schemeClr val="tx2"/>
                </a:solidFill>
              </a:rPr>
              <a:t>Our purpose is to help people </a:t>
            </a:r>
            <a:br>
              <a:rPr lang="en-US" sz="1050" dirty="0">
                <a:solidFill>
                  <a:schemeClr val="tx2"/>
                </a:solidFill>
              </a:rPr>
            </a:br>
            <a:r>
              <a:rPr lang="en-US" sz="1050" dirty="0">
                <a:solidFill>
                  <a:schemeClr val="tx2"/>
                </a:solidFill>
              </a:rPr>
              <a:t>and business prosper.</a:t>
            </a:r>
          </a:p>
          <a:p>
            <a:endParaRPr lang="en-US" sz="1050" dirty="0">
              <a:solidFill>
                <a:schemeClr val="tx2"/>
              </a:solidFill>
            </a:endParaRPr>
          </a:p>
          <a:p>
            <a:r>
              <a:rPr lang="en-US" sz="1050" dirty="0">
                <a:solidFill>
                  <a:schemeClr val="tx2"/>
                </a:solidFill>
              </a:rPr>
              <a:t>Our culture is based on believing </a:t>
            </a:r>
            <a:br>
              <a:rPr lang="en-US" sz="1050" dirty="0">
                <a:solidFill>
                  <a:schemeClr val="tx2"/>
                </a:solidFill>
              </a:rPr>
            </a:br>
            <a:r>
              <a:rPr lang="en-US" sz="105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p:nvSpPr>
        <p:spPr>
          <a:xfrm>
            <a:off x="721506" y="628193"/>
            <a:ext cx="3365479" cy="553998"/>
          </a:xfrm>
          <a:prstGeom prst="rect">
            <a:avLst/>
          </a:prstGeom>
          <a:noFill/>
        </p:spPr>
        <p:txBody>
          <a:bodyPr wrap="square" rtlCol="0">
            <a:spAutoFit/>
          </a:bodyPr>
          <a:lstStyle/>
          <a:p>
            <a:r>
              <a:rPr lang="es-ES" sz="3000" dirty="0" err="1">
                <a:solidFill>
                  <a:schemeClr val="accent1"/>
                </a:solidFill>
              </a:rPr>
              <a:t>Thank</a:t>
            </a:r>
            <a:r>
              <a:rPr lang="es-ES" sz="3000" dirty="0">
                <a:solidFill>
                  <a:schemeClr val="accent1"/>
                </a:solidFill>
              </a:rPr>
              <a:t> </a:t>
            </a:r>
            <a:r>
              <a:rPr lang="es-ES" sz="3000" dirty="0" err="1">
                <a:solidFill>
                  <a:schemeClr val="accent1"/>
                </a:solidFill>
              </a:rPr>
              <a:t>You</a:t>
            </a:r>
            <a:r>
              <a:rPr lang="es-ES" sz="3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14"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9"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pic>
        <p:nvPicPr>
          <p:cNvPr id="30"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0236" y="5868390"/>
            <a:ext cx="2438400" cy="320406"/>
          </a:xfrm>
          <a:prstGeom prst="rect">
            <a:avLst/>
          </a:prstGeom>
          <a:noFill/>
          <a:ln>
            <a:noFill/>
          </a:ln>
        </p:spPr>
      </p:pic>
      <p:sp>
        <p:nvSpPr>
          <p:cNvPr id="32" name="Freeform: Shape 14">
            <a:extLst>
              <a:ext uri="{FF2B5EF4-FFF2-40B4-BE49-F238E27FC236}">
                <a16:creationId xmlns:a16="http://schemas.microsoft.com/office/drawing/2014/main" id="{80DAC009-2BB8-4885-AC03-9FD05C47BE65}"/>
              </a:ext>
            </a:extLst>
          </p:cNvPr>
          <p:cNvSpPr/>
          <p:nvPr userDrawn="1"/>
        </p:nvSpPr>
        <p:spPr>
          <a:xfrm>
            <a:off x="823204" y="3317616"/>
            <a:ext cx="3261563"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57914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age Photo">
    <p:spTree>
      <p:nvGrpSpPr>
        <p:cNvPr id="1" name=""/>
        <p:cNvGrpSpPr/>
        <p:nvPr/>
      </p:nvGrpSpPr>
      <p:grpSpPr>
        <a:xfrm>
          <a:off x="0" y="0"/>
          <a:ext cx="0" cy="0"/>
          <a:chOff x="0" y="0"/>
          <a:chExt cx="0" cy="0"/>
        </a:xfrm>
      </p:grpSpPr>
      <p:sp>
        <p:nvSpPr>
          <p:cNvPr id="13" name="Marcador de posición de imagen 12">
            <a:extLst>
              <a:ext uri="{FF2B5EF4-FFF2-40B4-BE49-F238E27FC236}">
                <a16:creationId xmlns:a16="http://schemas.microsoft.com/office/drawing/2014/main" id="{15C5E64B-3225-45C7-B625-CC93DD9A4117}"/>
              </a:ext>
            </a:extLst>
          </p:cNvPr>
          <p:cNvSpPr>
            <a:spLocks noGrp="1"/>
          </p:cNvSpPr>
          <p:nvPr>
            <p:ph type="pic" sz="quarter" idx="13" hasCustomPrompt="1"/>
          </p:nvPr>
        </p:nvSpPr>
        <p:spPr>
          <a:xfrm>
            <a:off x="0" y="1222376"/>
            <a:ext cx="12192000" cy="5635625"/>
          </a:xfrm>
          <a:custGeom>
            <a:avLst/>
            <a:gdLst>
              <a:gd name="connsiteX0" fmla="*/ 6096000 w 12192000"/>
              <a:gd name="connsiteY0" fmla="*/ 0 h 5635625"/>
              <a:gd name="connsiteX1" fmla="*/ 12192000 w 12192000"/>
              <a:gd name="connsiteY1" fmla="*/ 0 h 5635625"/>
              <a:gd name="connsiteX2" fmla="*/ 12192000 w 12192000"/>
              <a:gd name="connsiteY2" fmla="*/ 5635625 h 5635625"/>
              <a:gd name="connsiteX3" fmla="*/ 0 w 12192000"/>
              <a:gd name="connsiteY3" fmla="*/ 5635625 h 5635625"/>
              <a:gd name="connsiteX4" fmla="*/ 0 w 12192000"/>
              <a:gd name="connsiteY4" fmla="*/ 5222492 h 5635625"/>
              <a:gd name="connsiteX5" fmla="*/ 6096000 w 12192000"/>
              <a:gd name="connsiteY5" fmla="*/ 5222492 h 56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5635625">
                <a:moveTo>
                  <a:pt x="6096000" y="0"/>
                </a:moveTo>
                <a:lnTo>
                  <a:pt x="12192000" y="0"/>
                </a:lnTo>
                <a:lnTo>
                  <a:pt x="12192000" y="5635625"/>
                </a:lnTo>
                <a:lnTo>
                  <a:pt x="0" y="5635625"/>
                </a:lnTo>
                <a:lnTo>
                  <a:pt x="0" y="5222492"/>
                </a:lnTo>
                <a:lnTo>
                  <a:pt x="6096000" y="5222492"/>
                </a:lnTo>
                <a:close/>
              </a:path>
            </a:pathLst>
          </a:custGeom>
        </p:spPr>
        <p:txBody>
          <a:bodyPr wrap="square">
            <a:noAutofit/>
          </a:bodyPr>
          <a:lstStyle>
            <a:lvl1pPr marL="0" indent="0" algn="r">
              <a:buFontTx/>
              <a:buNone/>
              <a:defRPr sz="1800"/>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dirty="0"/>
              <a:t>Edit Master text styles</a:t>
            </a:r>
          </a:p>
        </p:txBody>
      </p:sp>
    </p:spTree>
    <p:extLst>
      <p:ext uri="{BB962C8B-B14F-4D97-AF65-F5344CB8AC3E}">
        <p14:creationId xmlns:p14="http://schemas.microsoft.com/office/powerpoint/2010/main" val="45491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4" y="312269"/>
            <a:ext cx="1849821" cy="292388"/>
          </a:xfrm>
          <a:prstGeom prst="rect">
            <a:avLst/>
          </a:prstGeom>
          <a:noFill/>
        </p:spPr>
        <p:txBody>
          <a:bodyPr wrap="square" rtlCol="0">
            <a:spAutoFit/>
          </a:bodyPr>
          <a:lstStyle/>
          <a:p>
            <a:r>
              <a:rPr lang="es-ES" sz="1300" dirty="0" err="1">
                <a:solidFill>
                  <a:schemeClr val="accent1"/>
                </a:solidFill>
              </a:rPr>
              <a:t>Index</a:t>
            </a:r>
            <a:endParaRPr lang="es-ES" sz="1300"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19179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Divider Photo">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71194EF8-8B73-4F1D-8F99-CAB16E8EF906}"/>
              </a:ext>
            </a:extLst>
          </p:cNvPr>
          <p:cNvSpPr>
            <a:spLocks noGrp="1"/>
          </p:cNvSpPr>
          <p:nvPr>
            <p:ph type="pic" sz="quarter" idx="13" hasCustomPrompt="1"/>
          </p:nvPr>
        </p:nvSpPr>
        <p:spPr>
          <a:xfrm>
            <a:off x="0" y="0"/>
            <a:ext cx="10555357" cy="6858000"/>
          </a:xfrm>
          <a:custGeom>
            <a:avLst/>
            <a:gdLst>
              <a:gd name="connsiteX0" fmla="*/ 0 w 10555357"/>
              <a:gd name="connsiteY0" fmla="*/ 0 h 6858000"/>
              <a:gd name="connsiteX1" fmla="*/ 10555357 w 10555357"/>
              <a:gd name="connsiteY1" fmla="*/ 0 h 6858000"/>
              <a:gd name="connsiteX2" fmla="*/ 10555357 w 10555357"/>
              <a:gd name="connsiteY2" fmla="*/ 2822713 h 6858000"/>
              <a:gd name="connsiteX3" fmla="*/ 8925339 w 10555357"/>
              <a:gd name="connsiteY3" fmla="*/ 2822713 h 6858000"/>
              <a:gd name="connsiteX4" fmla="*/ 8925339 w 10555357"/>
              <a:gd name="connsiteY4" fmla="*/ 6858000 h 6858000"/>
              <a:gd name="connsiteX5" fmla="*/ 0 w 1055535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55357" h="6858000">
                <a:moveTo>
                  <a:pt x="0" y="0"/>
                </a:moveTo>
                <a:lnTo>
                  <a:pt x="10555357" y="0"/>
                </a:lnTo>
                <a:lnTo>
                  <a:pt x="10555357" y="2822713"/>
                </a:lnTo>
                <a:lnTo>
                  <a:pt x="8925339" y="2822713"/>
                </a:lnTo>
                <a:lnTo>
                  <a:pt x="8925339" y="6858000"/>
                </a:lnTo>
                <a:lnTo>
                  <a:pt x="0" y="6858000"/>
                </a:lnTo>
                <a:close/>
              </a:path>
            </a:pathLst>
          </a:custGeom>
        </p:spPr>
        <p:txBody>
          <a:bodyPr wrap="square">
            <a:noAutofit/>
          </a:bodyPr>
          <a:lstStyle>
            <a:lvl1pPr marL="0" indent="0" algn="r">
              <a:buFontTx/>
              <a:buNone/>
              <a:defRPr sz="1800">
                <a:solidFill>
                  <a:schemeClr val="tx1">
                    <a:lumMod val="65000"/>
                    <a:lumOff val="35000"/>
                  </a:schemeClr>
                </a:solidFill>
              </a:defRPr>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4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6600">
                <a:solidFill>
                  <a:schemeClr val="accent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160067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229718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err="1"/>
              <a:t>Edit</a:t>
            </a:r>
            <a:r>
              <a:rPr lang="es-ES" dirty="0"/>
              <a:t> Master </a:t>
            </a:r>
            <a:r>
              <a:rPr lang="es-ES" dirty="0" err="1"/>
              <a:t>text</a:t>
            </a:r>
            <a:r>
              <a:rPr lang="es-ES" dirty="0"/>
              <a:t> </a:t>
            </a:r>
            <a:r>
              <a:rPr lang="es-ES" dirty="0" err="1"/>
              <a:t>styles</a:t>
            </a:r>
            <a:endParaRPr lang="es-ES" dirty="0"/>
          </a:p>
        </p:txBody>
      </p:sp>
    </p:spTree>
    <p:extLst>
      <p:ext uri="{BB962C8B-B14F-4D97-AF65-F5344CB8AC3E}">
        <p14:creationId xmlns:p14="http://schemas.microsoft.com/office/powerpoint/2010/main" val="228433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2500" b="1">
                <a:solidFill>
                  <a:schemeClr val="accent3"/>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352118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600"/>
            </a:lvl1pPr>
          </a:lstStyle>
          <a:p>
            <a:r>
              <a:rPr lang="es-ES" dirty="0" err="1"/>
              <a:t>Insert</a:t>
            </a:r>
            <a:r>
              <a:rPr lang="es-ES" dirty="0"/>
              <a:t> </a:t>
            </a:r>
            <a:r>
              <a:rPr lang="es-ES" dirty="0" err="1"/>
              <a:t>graphic</a:t>
            </a:r>
            <a:r>
              <a:rPr lang="es-ES" dirty="0"/>
              <a:t> </a:t>
            </a:r>
            <a:r>
              <a:rPr lang="es-ES" dirty="0" err="1"/>
              <a:t>here</a:t>
            </a:r>
            <a:endParaRPr lang="es-ES" dirty="0"/>
          </a:p>
        </p:txBody>
      </p:sp>
    </p:spTree>
    <p:extLst>
      <p:ext uri="{BB962C8B-B14F-4D97-AF65-F5344CB8AC3E}">
        <p14:creationId xmlns:p14="http://schemas.microsoft.com/office/powerpoint/2010/main" val="66421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118542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136390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hank you - Contact ">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80DAC009-2BB8-4885-AC03-9FD05C47BE65}"/>
              </a:ext>
            </a:extLst>
          </p:cNvPr>
          <p:cNvSpPr/>
          <p:nvPr userDrawn="1"/>
        </p:nvSpPr>
        <p:spPr>
          <a:xfrm>
            <a:off x="820237" y="3464159"/>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796917" y="5573145"/>
            <a:ext cx="1347483"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60" y="5573578"/>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9" y="1945650"/>
            <a:ext cx="3365479" cy="1169551"/>
          </a:xfrm>
          <a:prstGeom prst="rect">
            <a:avLst/>
          </a:prstGeom>
          <a:noFill/>
        </p:spPr>
        <p:txBody>
          <a:bodyPr wrap="square" rtlCol="0">
            <a:spAutoFit/>
          </a:bodyPr>
          <a:lstStyle/>
          <a:p>
            <a:r>
              <a:rPr lang="en-US" sz="1400" dirty="0">
                <a:solidFill>
                  <a:schemeClr val="tx2"/>
                </a:solidFill>
              </a:rPr>
              <a:t>Our purpose is to help people </a:t>
            </a:r>
            <a:br>
              <a:rPr lang="en-US" sz="1400" dirty="0">
                <a:solidFill>
                  <a:schemeClr val="tx2"/>
                </a:solidFill>
              </a:rPr>
            </a:br>
            <a:r>
              <a:rPr lang="en-US" sz="1400" dirty="0">
                <a:solidFill>
                  <a:schemeClr val="tx2"/>
                </a:solidFill>
              </a:rPr>
              <a:t>and business prosper.</a:t>
            </a:r>
          </a:p>
          <a:p>
            <a:endParaRPr lang="en-US" sz="1400" dirty="0">
              <a:solidFill>
                <a:schemeClr val="tx2"/>
              </a:solidFill>
            </a:endParaRPr>
          </a:p>
          <a:p>
            <a:r>
              <a:rPr lang="en-US" sz="1400" dirty="0">
                <a:solidFill>
                  <a:schemeClr val="tx2"/>
                </a:solidFill>
              </a:rPr>
              <a:t>Our culture is based on believing </a:t>
            </a:r>
            <a:br>
              <a:rPr lang="en-US" sz="1400" dirty="0">
                <a:solidFill>
                  <a:schemeClr val="tx2"/>
                </a:solidFill>
              </a:rPr>
            </a:br>
            <a:r>
              <a:rPr lang="en-US" sz="140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4"/>
            <a:ext cx="3365479" cy="707886"/>
          </a:xfrm>
          <a:prstGeom prst="rect">
            <a:avLst/>
          </a:prstGeom>
          <a:noFill/>
        </p:spPr>
        <p:txBody>
          <a:bodyPr wrap="square" rtlCol="0">
            <a:spAutoFit/>
          </a:bodyPr>
          <a:lstStyle/>
          <a:p>
            <a:r>
              <a:rPr lang="es-ES" sz="4000" dirty="0" err="1">
                <a:solidFill>
                  <a:schemeClr val="accent1"/>
                </a:solidFill>
              </a:rPr>
              <a:t>Thank</a:t>
            </a:r>
            <a:r>
              <a:rPr lang="es-ES" sz="4000" dirty="0">
                <a:solidFill>
                  <a:schemeClr val="accent1"/>
                </a:solidFill>
              </a:rPr>
              <a:t> </a:t>
            </a:r>
            <a:r>
              <a:rPr lang="es-ES" sz="4000" dirty="0" err="1">
                <a:solidFill>
                  <a:schemeClr val="accent1"/>
                </a:solidFill>
              </a:rPr>
              <a:t>You</a:t>
            </a:r>
            <a:r>
              <a:rPr lang="es-ES" sz="4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spTree>
    <p:extLst>
      <p:ext uri="{BB962C8B-B14F-4D97-AF65-F5344CB8AC3E}">
        <p14:creationId xmlns:p14="http://schemas.microsoft.com/office/powerpoint/2010/main" val="2942568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Page 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2"/>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dirty="0"/>
              <a:t>Edit Master text styles</a:t>
            </a:r>
          </a:p>
        </p:txBody>
      </p:sp>
      <p:sp>
        <p:nvSpPr>
          <p:cNvPr id="7" name="Forma libre: forma 6">
            <a:extLst>
              <a:ext uri="{FF2B5EF4-FFF2-40B4-BE49-F238E27FC236}">
                <a16:creationId xmlns:a16="http://schemas.microsoft.com/office/drawing/2014/main" id="{67D1300D-9BA1-4612-9EA5-90328019812E}"/>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Tree>
    <p:extLst>
      <p:ext uri="{BB962C8B-B14F-4D97-AF65-F5344CB8AC3E}">
        <p14:creationId xmlns:p14="http://schemas.microsoft.com/office/powerpoint/2010/main" val="133192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6" name="Rectangle 4"/>
          <p:cNvSpPr>
            <a:spLocks noGrp="1" noChangeArrowheads="1"/>
          </p:cNvSpPr>
          <p:nvPr>
            <p:ph type="dt" sz="half" idx="2"/>
          </p:nvPr>
        </p:nvSpPr>
        <p:spPr bwMode="auto">
          <a:xfrm>
            <a:off x="2682329" y="6320948"/>
            <a:ext cx="1834727"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defTabSz="677024">
              <a:spcBef>
                <a:spcPct val="0"/>
              </a:spcBef>
              <a:buClrTx/>
              <a:buFontTx/>
              <a:buNone/>
              <a:defRPr sz="1039">
                <a:latin typeface="Times New Roman" pitchFamily="18" charset="0"/>
              </a:defRPr>
            </a:lvl1pPr>
          </a:lstStyle>
          <a:p>
            <a:pPr>
              <a:defRPr/>
            </a:pPr>
            <a:endParaRPr lang="es-ES" dirty="0"/>
          </a:p>
        </p:txBody>
      </p:sp>
      <p:sp>
        <p:nvSpPr>
          <p:cNvPr id="7" name="Rectangle 5"/>
          <p:cNvSpPr>
            <a:spLocks noGrp="1" noChangeArrowheads="1"/>
          </p:cNvSpPr>
          <p:nvPr>
            <p:ph type="ftr" sz="quarter" idx="3"/>
          </p:nvPr>
        </p:nvSpPr>
        <p:spPr bwMode="auto">
          <a:xfrm>
            <a:off x="4696527" y="6335653"/>
            <a:ext cx="3860000"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algn="ctr" defTabSz="677024">
              <a:spcBef>
                <a:spcPct val="0"/>
              </a:spcBef>
              <a:buClrTx/>
              <a:buFontTx/>
              <a:buNone/>
              <a:defRPr sz="1039">
                <a:latin typeface="Times New Roman" pitchFamily="18" charset="0"/>
              </a:defRPr>
            </a:lvl1pPr>
          </a:lstStyle>
          <a:p>
            <a:pPr>
              <a:defRPr/>
            </a:pPr>
            <a:endParaRPr lang="es-ES" dirty="0"/>
          </a:p>
        </p:txBody>
      </p:sp>
      <p:sp>
        <p:nvSpPr>
          <p:cNvPr id="8" name="Slide Number Placeholder 5"/>
          <p:cNvSpPr>
            <a:spLocks noGrp="1"/>
          </p:cNvSpPr>
          <p:nvPr>
            <p:ph type="sldNum" sz="quarter" idx="4"/>
          </p:nvPr>
        </p:nvSpPr>
        <p:spPr>
          <a:xfrm>
            <a:off x="10750200" y="6352311"/>
            <a:ext cx="1368659" cy="337038"/>
          </a:xfrm>
          <a:prstGeom prst="rect">
            <a:avLst/>
          </a:prstGeom>
        </p:spPr>
        <p:txBody>
          <a:bodyPr vert="horz" lIns="91440" tIns="45720" rIns="91440" bIns="45720" rtlCol="0" anchor="ctr"/>
          <a:lstStyle>
            <a:lvl1pPr algn="r">
              <a:defRPr sz="831">
                <a:solidFill>
                  <a:schemeClr val="tx1">
                    <a:tint val="75000"/>
                  </a:schemeClr>
                </a:solidFill>
              </a:defRPr>
            </a:lvl1p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a:t>
            </a:fld>
            <a:endParaRPr lang="es-ES" dirty="0">
              <a:solidFill>
                <a:prstClr val="black">
                  <a:tint val="75000"/>
                </a:prstClr>
              </a:solidFill>
              <a:latin typeface="Arial" charset="0"/>
            </a:endParaRPr>
          </a:p>
        </p:txBody>
      </p:sp>
    </p:spTree>
    <p:extLst>
      <p:ext uri="{BB962C8B-B14F-4D97-AF65-F5344CB8AC3E}">
        <p14:creationId xmlns:p14="http://schemas.microsoft.com/office/powerpoint/2010/main" val="3393080413"/>
      </p:ext>
    </p:extLst>
  </p:cSld>
  <p:clrMapOvr>
    <a:masterClrMapping/>
  </p:clrMapOvr>
  <p:extLst>
    <p:ext uri="{DCECCB84-F9BA-43D5-87BE-67443E8EF086}">
      <p15:sldGuideLst xmlns:p15="http://schemas.microsoft.com/office/powerpoint/2012/main">
        <p15:guide id="1" orient="horz" pos="2340" userDrawn="1">
          <p15:clr>
            <a:srgbClr val="FBAE40"/>
          </p15:clr>
        </p15:guide>
        <p15:guide id="2" pos="79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Divider White">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1"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16112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Edit Master text styles</a:t>
            </a:r>
            <a:endParaRPr lang="es-ES" dirty="0"/>
          </a:p>
          <a:p>
            <a:pPr lvl="1"/>
            <a:r>
              <a:rPr lang="es-ES" dirty="0" err="1"/>
              <a:t>Second</a:t>
            </a:r>
            <a:r>
              <a:rPr lang="es-ES" dirty="0"/>
              <a:t> </a:t>
            </a:r>
            <a:r>
              <a:rPr lang="es-ES" dirty="0" err="1"/>
              <a:t>level</a:t>
            </a:r>
            <a:endParaRPr lang="es-ES" dirty="0"/>
          </a:p>
          <a:p>
            <a:pPr lvl="2"/>
            <a:r>
              <a:rPr lang="es-ES" dirty="0" err="1"/>
              <a:t>Third</a:t>
            </a:r>
            <a:r>
              <a:rPr lang="es-ES" dirty="0"/>
              <a:t> </a:t>
            </a:r>
            <a:r>
              <a:rPr lang="es-ES" dirty="0" err="1"/>
              <a:t>level</a:t>
            </a:r>
            <a:endParaRPr lang="es-ES" dirty="0"/>
          </a:p>
          <a:p>
            <a:pPr lvl="3"/>
            <a:r>
              <a:rPr lang="en-US" dirty="0"/>
              <a:t>Fourth level</a:t>
            </a:r>
          </a:p>
          <a:p>
            <a:pPr lvl="4"/>
            <a:r>
              <a:rPr lang="en-US" dirty="0"/>
              <a:t>Fifth level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dirty="0"/>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dirty="0"/>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0D97B6-E32F-4D7D-B839-7C3B51F2640F}" type="slidenum">
              <a:rPr lang="es-ES" smtClean="0"/>
              <a:t>‹#›</a:t>
            </a:fld>
            <a:endParaRPr lang="es-ES" dirty="0"/>
          </a:p>
        </p:txBody>
      </p:sp>
      <p:sp>
        <p:nvSpPr>
          <p:cNvPr id="8" name="MSIPCMContentMarking" descr="{&quot;HashCode&quot;:-665463564,&quot;Placement&quot;:&quot;Header&quot;,&quot;Top&quot;:0.0,&quot;Left&quot;:0.0,&quot;SlideWidth&quot;:960,&quot;SlideHeight&quot;:540}">
            <a:extLst>
              <a:ext uri="{FF2B5EF4-FFF2-40B4-BE49-F238E27FC236}">
                <a16:creationId xmlns:a16="http://schemas.microsoft.com/office/drawing/2014/main" id="{81F1615C-6C48-4B4F-A883-81E839BAC02C}"/>
              </a:ext>
            </a:extLst>
          </p:cNvPr>
          <p:cNvSpPr txBox="1"/>
          <p:nvPr userDrawn="1"/>
        </p:nvSpPr>
        <p:spPr>
          <a:xfrm>
            <a:off x="0" y="0"/>
            <a:ext cx="907183"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Confidential</a:t>
            </a:r>
          </a:p>
        </p:txBody>
      </p:sp>
    </p:spTree>
    <p:extLst>
      <p:ext uri="{BB962C8B-B14F-4D97-AF65-F5344CB8AC3E}">
        <p14:creationId xmlns:p14="http://schemas.microsoft.com/office/powerpoint/2010/main" val="61613118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99" r:id="rId21"/>
    <p:sldLayoutId id="2147483700" r:id="rId22"/>
    <p:sldLayoutId id="2147483701" r:id="rId2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hyperlink" Target="https://santandernet.sharepoint.com/sites/SantanderPlatforms"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diagramColors" Target="../diagrams/colors1.xml"/><Relationship Id="rId18" Type="http://schemas.openxmlformats.org/officeDocument/2006/relationships/image" Target="../media/image21.emf"/><Relationship Id="rId26" Type="http://schemas.openxmlformats.org/officeDocument/2006/relationships/image" Target="../media/image29.png"/><Relationship Id="rId3" Type="http://schemas.openxmlformats.org/officeDocument/2006/relationships/image" Target="../media/image10.png"/><Relationship Id="rId21" Type="http://schemas.openxmlformats.org/officeDocument/2006/relationships/image" Target="../media/image24.png"/><Relationship Id="rId7" Type="http://schemas.openxmlformats.org/officeDocument/2006/relationships/image" Target="../media/image14.png"/><Relationship Id="rId12" Type="http://schemas.openxmlformats.org/officeDocument/2006/relationships/diagramQuickStyle" Target="../diagrams/quickStyle1.xml"/><Relationship Id="rId17" Type="http://schemas.openxmlformats.org/officeDocument/2006/relationships/image" Target="../media/image20.png"/><Relationship Id="rId25" Type="http://schemas.openxmlformats.org/officeDocument/2006/relationships/image" Target="../media/image28.jpg"/><Relationship Id="rId2" Type="http://schemas.openxmlformats.org/officeDocument/2006/relationships/image" Target="../media/image9.png"/><Relationship Id="rId16" Type="http://schemas.openxmlformats.org/officeDocument/2006/relationships/image" Target="../media/image19.emf"/><Relationship Id="rId20"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diagramLayout" Target="../diagrams/layout1.xml"/><Relationship Id="rId24" Type="http://schemas.openxmlformats.org/officeDocument/2006/relationships/image" Target="../media/image27.png"/><Relationship Id="rId5" Type="http://schemas.openxmlformats.org/officeDocument/2006/relationships/image" Target="../media/image12.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diagramData" Target="../diagrams/data1.xml"/><Relationship Id="rId19" Type="http://schemas.openxmlformats.org/officeDocument/2006/relationships/image" Target="../media/image22.png"/><Relationship Id="rId4" Type="http://schemas.openxmlformats.org/officeDocument/2006/relationships/image" Target="../media/image11.png"/><Relationship Id="rId9" Type="http://schemas.openxmlformats.org/officeDocument/2006/relationships/image" Target="../media/image16.emf"/><Relationship Id="rId14" Type="http://schemas.microsoft.com/office/2007/relationships/diagramDrawing" Target="../diagrams/drawing1.xml"/><Relationship Id="rId22"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hyperlink" Target="http://rdamac.aacc.gs.corp/TRDEFI_ENS/EarEstatico/TRDEFI_ENS/BtoChannelDriver.ssobto?dse_operationName=inicioPorta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s://docs.aws.amazon.com/config/latest/developerguide/resource-config-reference.html" TargetMode="External"/><Relationship Id="rId2" Type="http://schemas.openxmlformats.org/officeDocument/2006/relationships/hyperlink" Target="https://aws.amazon.com/products/?aws-products-all.sort-by=item.additionalFields.productNameLowercase&amp;aws-products-all.sort-order=asc&amp;awsf.re%3AInvent=*all&amp;awsf.Free%20Tier%20Type=*all&amp;awsf.tech-category=*all"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4.xml"/><Relationship Id="rId1" Type="http://schemas.openxmlformats.org/officeDocument/2006/relationships/themeOverride" Target="../theme/themeOverride1.xml"/><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2056238" y="2778833"/>
            <a:ext cx="8079524" cy="1055253"/>
          </a:xfrm>
        </p:spPr>
        <p:txBody>
          <a:bodyPr>
            <a:noAutofit/>
          </a:bodyPr>
          <a:lstStyle/>
          <a:p>
            <a:r>
              <a:rPr lang="en-US" sz="4000" b="1" dirty="0"/>
              <a:t>Single Design</a:t>
            </a:r>
            <a:br>
              <a:rPr lang="en-US" sz="4000" b="1" dirty="0"/>
            </a:br>
            <a:br>
              <a:rPr lang="en-US" sz="4000" dirty="0"/>
            </a:br>
            <a:endParaRPr lang="en-US" sz="4000" dirty="0"/>
          </a:p>
        </p:txBody>
      </p:sp>
      <p:sp>
        <p:nvSpPr>
          <p:cNvPr id="5" name="Rectangle 2"/>
          <p:cNvSpPr txBox="1">
            <a:spLocks noChangeArrowheads="1"/>
          </p:cNvSpPr>
          <p:nvPr/>
        </p:nvSpPr>
        <p:spPr>
          <a:xfrm>
            <a:off x="2056237" y="1757356"/>
            <a:ext cx="8899146" cy="931069"/>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100" kern="1200">
                <a:solidFill>
                  <a:schemeClr val="accent1"/>
                </a:solidFill>
                <a:latin typeface="+mj-lt"/>
                <a:ea typeface="+mj-ea"/>
                <a:cs typeface="+mj-cs"/>
              </a:defRPr>
            </a:lvl1pPr>
          </a:lstStyle>
          <a:p>
            <a:pPr>
              <a:lnSpc>
                <a:spcPts val="3375"/>
              </a:lnSpc>
              <a:defRPr/>
            </a:pPr>
            <a:r>
              <a:rPr lang="en-US" sz="3200" dirty="0">
                <a:solidFill>
                  <a:schemeClr val="bg1">
                    <a:lumMod val="65000"/>
                  </a:schemeClr>
                </a:solidFill>
                <a:latin typeface="+mn-lt"/>
              </a:rPr>
              <a:t>DH 3264 – Derivatives OTC Customer Phase 1</a:t>
            </a:r>
            <a:br>
              <a:rPr lang="en-US" sz="3200" dirty="0">
                <a:solidFill>
                  <a:schemeClr val="bg1">
                    <a:lumMod val="65000"/>
                  </a:schemeClr>
                </a:solidFill>
                <a:latin typeface="+mn-lt"/>
              </a:rPr>
            </a:br>
            <a:endParaRPr lang="en-US" sz="3200" dirty="0">
              <a:solidFill>
                <a:schemeClr val="bg1">
                  <a:lumMod val="65000"/>
                </a:schemeClr>
              </a:solidFill>
              <a:latin typeface="+mn-lt"/>
            </a:endParaRPr>
          </a:p>
        </p:txBody>
      </p:sp>
      <p:sp>
        <p:nvSpPr>
          <p:cNvPr id="12" name="Rectangle 2"/>
          <p:cNvSpPr txBox="1">
            <a:spLocks noChangeArrowheads="1"/>
          </p:cNvSpPr>
          <p:nvPr/>
        </p:nvSpPr>
        <p:spPr bwMode="auto">
          <a:xfrm>
            <a:off x="2056238" y="3306460"/>
            <a:ext cx="4689872" cy="931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977900" rtl="0" eaLnBrk="0" fontAlgn="base" hangingPunct="0">
              <a:spcBef>
                <a:spcPct val="0"/>
              </a:spcBef>
              <a:spcAft>
                <a:spcPct val="0"/>
              </a:spcAft>
              <a:defRPr sz="4000" b="1">
                <a:solidFill>
                  <a:srgbClr val="FF0000"/>
                </a:solidFill>
                <a:latin typeface="+mj-lt"/>
                <a:ea typeface="+mj-ea"/>
                <a:cs typeface="+mj-cs"/>
              </a:defRPr>
            </a:lvl1pPr>
            <a:lvl2pPr algn="l" defTabSz="977900" rtl="0" eaLnBrk="0" fontAlgn="base" hangingPunct="0">
              <a:spcBef>
                <a:spcPct val="0"/>
              </a:spcBef>
              <a:spcAft>
                <a:spcPct val="0"/>
              </a:spcAft>
              <a:defRPr sz="2400" b="1">
                <a:solidFill>
                  <a:schemeClr val="tx1"/>
                </a:solidFill>
                <a:latin typeface="Arial" charset="0"/>
              </a:defRPr>
            </a:lvl2pPr>
            <a:lvl3pPr algn="l" defTabSz="977900" rtl="0" eaLnBrk="0" fontAlgn="base" hangingPunct="0">
              <a:spcBef>
                <a:spcPct val="0"/>
              </a:spcBef>
              <a:spcAft>
                <a:spcPct val="0"/>
              </a:spcAft>
              <a:defRPr sz="2400" b="1">
                <a:solidFill>
                  <a:schemeClr val="tx1"/>
                </a:solidFill>
                <a:latin typeface="Arial" charset="0"/>
              </a:defRPr>
            </a:lvl3pPr>
            <a:lvl4pPr algn="l" defTabSz="977900" rtl="0" eaLnBrk="0" fontAlgn="base" hangingPunct="0">
              <a:spcBef>
                <a:spcPct val="0"/>
              </a:spcBef>
              <a:spcAft>
                <a:spcPct val="0"/>
              </a:spcAft>
              <a:defRPr sz="2400" b="1">
                <a:solidFill>
                  <a:schemeClr val="tx1"/>
                </a:solidFill>
                <a:latin typeface="Arial" charset="0"/>
              </a:defRPr>
            </a:lvl4pPr>
            <a:lvl5pPr algn="l" defTabSz="977900" rtl="0" eaLnBrk="0" fontAlgn="base" hangingPunct="0">
              <a:spcBef>
                <a:spcPct val="0"/>
              </a:spcBef>
              <a:spcAft>
                <a:spcPct val="0"/>
              </a:spcAft>
              <a:defRPr sz="2400" b="1">
                <a:solidFill>
                  <a:schemeClr val="tx1"/>
                </a:solidFill>
                <a:latin typeface="Arial" charset="0"/>
              </a:defRPr>
            </a:lvl5pPr>
            <a:lvl6pPr marL="457200" algn="l" defTabSz="977900" rtl="0" fontAlgn="base">
              <a:spcBef>
                <a:spcPct val="0"/>
              </a:spcBef>
              <a:spcAft>
                <a:spcPct val="0"/>
              </a:spcAft>
              <a:defRPr sz="2400" b="1">
                <a:solidFill>
                  <a:schemeClr val="tx1"/>
                </a:solidFill>
                <a:latin typeface="Arial" charset="0"/>
              </a:defRPr>
            </a:lvl6pPr>
            <a:lvl7pPr marL="914400" algn="l" defTabSz="977900" rtl="0" fontAlgn="base">
              <a:spcBef>
                <a:spcPct val="0"/>
              </a:spcBef>
              <a:spcAft>
                <a:spcPct val="0"/>
              </a:spcAft>
              <a:defRPr sz="2400" b="1">
                <a:solidFill>
                  <a:schemeClr val="tx1"/>
                </a:solidFill>
                <a:latin typeface="Arial" charset="0"/>
              </a:defRPr>
            </a:lvl7pPr>
            <a:lvl8pPr marL="1371600" algn="l" defTabSz="977900" rtl="0" fontAlgn="base">
              <a:spcBef>
                <a:spcPct val="0"/>
              </a:spcBef>
              <a:spcAft>
                <a:spcPct val="0"/>
              </a:spcAft>
              <a:defRPr sz="2400" b="1">
                <a:solidFill>
                  <a:schemeClr val="tx1"/>
                </a:solidFill>
                <a:latin typeface="Arial" charset="0"/>
              </a:defRPr>
            </a:lvl8pPr>
            <a:lvl9pPr marL="1828800" algn="l" defTabSz="977900" rtl="0" fontAlgn="base">
              <a:spcBef>
                <a:spcPct val="0"/>
              </a:spcBef>
              <a:spcAft>
                <a:spcPct val="0"/>
              </a:spcAft>
              <a:defRPr sz="2400" b="1">
                <a:solidFill>
                  <a:schemeClr val="tx1"/>
                </a:solidFill>
                <a:latin typeface="Arial" charset="0"/>
              </a:defRPr>
            </a:lvl9pPr>
          </a:lstStyle>
          <a:p>
            <a:pPr>
              <a:lnSpc>
                <a:spcPts val="3375"/>
              </a:lnSpc>
              <a:defRPr/>
            </a:pPr>
            <a:r>
              <a:rPr lang="en-US" sz="1800" b="0" kern="0" dirty="0"/>
              <a:t>Template Version</a:t>
            </a:r>
            <a:r>
              <a:rPr lang="en-US" sz="1800" b="0" kern="0"/>
              <a:t>: 1.3</a:t>
            </a:r>
            <a:endParaRPr lang="en-US" sz="1800" b="0" kern="0" dirty="0"/>
          </a:p>
        </p:txBody>
      </p:sp>
      <p:sp>
        <p:nvSpPr>
          <p:cNvPr id="7" name="TextBox 6">
            <a:extLst>
              <a:ext uri="{FF2B5EF4-FFF2-40B4-BE49-F238E27FC236}">
                <a16:creationId xmlns:a16="http://schemas.microsoft.com/office/drawing/2014/main" id="{F007583C-06D1-400C-A454-6E88117ED3C4}"/>
              </a:ext>
            </a:extLst>
          </p:cNvPr>
          <p:cNvSpPr txBox="1"/>
          <p:nvPr/>
        </p:nvSpPr>
        <p:spPr>
          <a:xfrm>
            <a:off x="2179164" y="5032972"/>
            <a:ext cx="2562225" cy="215444"/>
          </a:xfrm>
          <a:prstGeom prst="rect">
            <a:avLst/>
          </a:prstGeom>
          <a:noFill/>
        </p:spPr>
        <p:txBody>
          <a:bodyPr wrap="square" lIns="0" tIns="0" rIns="0" bIns="0" rtlCol="0">
            <a:spAutoFit/>
          </a:bodyPr>
          <a:lstStyle/>
          <a:p>
            <a:r>
              <a:rPr lang="en-US" sz="1400" dirty="0"/>
              <a:t>December 08, 2025</a:t>
            </a:r>
          </a:p>
        </p:txBody>
      </p:sp>
    </p:spTree>
    <p:extLst>
      <p:ext uri="{BB962C8B-B14F-4D97-AF65-F5344CB8AC3E}">
        <p14:creationId xmlns:p14="http://schemas.microsoft.com/office/powerpoint/2010/main" val="94723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2</a:t>
            </a:fld>
            <a:endParaRPr lang="es-ES" dirty="0">
              <a:solidFill>
                <a:prstClr val="black">
                  <a:tint val="75000"/>
                </a:prstClr>
              </a:solidFill>
              <a:latin typeface="Arial" charset="0"/>
            </a:endParaRPr>
          </a:p>
        </p:txBody>
      </p:sp>
      <p:graphicFrame>
        <p:nvGraphicFramePr>
          <p:cNvPr id="3" name="Table 2">
            <a:extLst>
              <a:ext uri="{FF2B5EF4-FFF2-40B4-BE49-F238E27FC236}">
                <a16:creationId xmlns:a16="http://schemas.microsoft.com/office/drawing/2014/main" id="{E90CC866-6954-93E3-1705-DDA7D0149D8F}"/>
              </a:ext>
            </a:extLst>
          </p:cNvPr>
          <p:cNvGraphicFramePr>
            <a:graphicFrameLocks noGrp="1"/>
          </p:cNvGraphicFramePr>
          <p:nvPr>
            <p:extLst>
              <p:ext uri="{D42A27DB-BD31-4B8C-83A1-F6EECF244321}">
                <p14:modId xmlns:p14="http://schemas.microsoft.com/office/powerpoint/2010/main" val="1232522279"/>
              </p:ext>
            </p:extLst>
          </p:nvPr>
        </p:nvGraphicFramePr>
        <p:xfrm>
          <a:off x="791615" y="1088932"/>
          <a:ext cx="10340976" cy="3497580"/>
        </p:xfrm>
        <a:graphic>
          <a:graphicData uri="http://schemas.openxmlformats.org/drawingml/2006/table">
            <a:tbl>
              <a:tblPr firstRow="1" bandRow="1">
                <a:tableStyleId>{6E25E649-3F16-4E02-A733-19D2CDBF48F0}</a:tableStyleId>
              </a:tblPr>
              <a:tblGrid>
                <a:gridCol w="1583175">
                  <a:extLst>
                    <a:ext uri="{9D8B030D-6E8A-4147-A177-3AD203B41FA5}">
                      <a16:colId xmlns:a16="http://schemas.microsoft.com/office/drawing/2014/main" val="20000"/>
                    </a:ext>
                  </a:extLst>
                </a:gridCol>
                <a:gridCol w="1683026">
                  <a:extLst>
                    <a:ext uri="{9D8B030D-6E8A-4147-A177-3AD203B41FA5}">
                      <a16:colId xmlns:a16="http://schemas.microsoft.com/office/drawing/2014/main" val="20001"/>
                    </a:ext>
                  </a:extLst>
                </a:gridCol>
                <a:gridCol w="4489531">
                  <a:extLst>
                    <a:ext uri="{9D8B030D-6E8A-4147-A177-3AD203B41FA5}">
                      <a16:colId xmlns:a16="http://schemas.microsoft.com/office/drawing/2014/main" val="20002"/>
                    </a:ext>
                  </a:extLst>
                </a:gridCol>
                <a:gridCol w="2585244">
                  <a:extLst>
                    <a:ext uri="{9D8B030D-6E8A-4147-A177-3AD203B41FA5}">
                      <a16:colId xmlns:a16="http://schemas.microsoft.com/office/drawing/2014/main" val="20003"/>
                    </a:ext>
                  </a:extLst>
                </a:gridCol>
              </a:tblGrid>
              <a:tr h="0">
                <a:tc>
                  <a:txBody>
                    <a:bodyPr/>
                    <a:lstStyle/>
                    <a:p>
                      <a:r>
                        <a:rPr lang="en-US" dirty="0"/>
                        <a:t>Version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Author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r>
                        <a:rPr lang="en-US" sz="1200" dirty="0"/>
                        <a:t>0.1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dirty="0"/>
                        <a:t>Document ready for Architecture approval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dirty="0"/>
                        <a:t>Domingo Megía,</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i="1" dirty="0">
                        <a:solidFill>
                          <a:schemeClr val="bg1">
                            <a:lumMod val="65000"/>
                          </a:schemeClr>
                        </a:solidFill>
                        <a:ea typeface="Calibri" panose="020F050202020403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53255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1929697"/>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881290"/>
                  </a:ext>
                </a:extLst>
              </a:tr>
            </a:tbl>
          </a:graphicData>
        </a:graphic>
      </p:graphicFrame>
      <p:sp>
        <p:nvSpPr>
          <p:cNvPr id="9" name="Título 1">
            <a:extLst>
              <a:ext uri="{FF2B5EF4-FFF2-40B4-BE49-F238E27FC236}">
                <a16:creationId xmlns:a16="http://schemas.microsoft.com/office/drawing/2014/main" id="{FAD38850-5566-B19F-3C5E-5AEE0E47E7A8}"/>
              </a:ext>
            </a:extLst>
          </p:cNvPr>
          <p:cNvSpPr txBox="1">
            <a:spLocks/>
          </p:cNvSpPr>
          <p:nvPr/>
        </p:nvSpPr>
        <p:spPr>
          <a:xfrm>
            <a:off x="239488" y="317824"/>
            <a:ext cx="806905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Version Control</a:t>
            </a:r>
          </a:p>
        </p:txBody>
      </p:sp>
    </p:spTree>
    <p:extLst>
      <p:ext uri="{BB962C8B-B14F-4D97-AF65-F5344CB8AC3E}">
        <p14:creationId xmlns:p14="http://schemas.microsoft.com/office/powerpoint/2010/main" val="343900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a:t>
            </a:fld>
            <a:endParaRPr lang="es-ES" dirty="0"/>
          </a:p>
        </p:txBody>
      </p:sp>
      <p:sp>
        <p:nvSpPr>
          <p:cNvPr id="8" name="Rectangle 7"/>
          <p:cNvSpPr/>
          <p:nvPr/>
        </p:nvSpPr>
        <p:spPr>
          <a:xfrm>
            <a:off x="476835" y="996005"/>
            <a:ext cx="4424349" cy="5213597"/>
          </a:xfrm>
          <a:prstGeom prst="rect">
            <a:avLst/>
          </a:prstGeom>
        </p:spPr>
        <p:txBody>
          <a:bodyPr wrap="square">
            <a:noAutofit/>
          </a:bodyPr>
          <a:lstStyle/>
          <a:p>
            <a:pPr marL="27000" indent="0">
              <a:buNone/>
            </a:pPr>
            <a:r>
              <a:rPr lang="en-US" sz="2800" dirty="0"/>
              <a:t>1.Funcional Design</a:t>
            </a:r>
          </a:p>
          <a:p>
            <a:pPr lvl="1"/>
            <a:r>
              <a:rPr lang="en-US" sz="1200" dirty="0"/>
              <a:t>1.1 Introduction &amp; Goals</a:t>
            </a:r>
          </a:p>
          <a:p>
            <a:pPr lvl="1"/>
            <a:r>
              <a:rPr lang="en-US" sz="1200" dirty="0"/>
              <a:t>1.2 As Is – Macro Architecture</a:t>
            </a:r>
          </a:p>
          <a:p>
            <a:pPr lvl="1"/>
            <a:r>
              <a:rPr lang="en-US" sz="1200" dirty="0"/>
              <a:t>1.3 Principles</a:t>
            </a:r>
          </a:p>
          <a:p>
            <a:pPr lvl="1"/>
            <a:r>
              <a:rPr lang="en-US" sz="1200" dirty="0"/>
              <a:t>1.4 To Be – About the Solution / Solution Strategy </a:t>
            </a:r>
          </a:p>
          <a:p>
            <a:pPr lvl="1"/>
            <a:r>
              <a:rPr lang="en-US" sz="1200" dirty="0"/>
              <a:t>1.5 Application Impact Analysis / Dependencies</a:t>
            </a:r>
          </a:p>
          <a:p>
            <a:pPr lvl="1"/>
            <a:r>
              <a:rPr lang="en-US" sz="1200" dirty="0"/>
              <a:t>1.6 AI Projects</a:t>
            </a:r>
          </a:p>
          <a:p>
            <a:pPr marL="27000" indent="0">
              <a:buNone/>
            </a:pPr>
            <a:endParaRPr lang="en-US" sz="2800" dirty="0"/>
          </a:p>
          <a:p>
            <a:pPr marL="27000" indent="0">
              <a:buNone/>
            </a:pPr>
            <a:r>
              <a:rPr lang="en-US" sz="2800" dirty="0"/>
              <a:t>2.Technical Design</a:t>
            </a:r>
          </a:p>
          <a:p>
            <a:pPr lvl="1"/>
            <a:r>
              <a:rPr lang="en-US" sz="1200" dirty="0"/>
              <a:t>2.1 Architectural Building Blocks</a:t>
            </a:r>
          </a:p>
          <a:p>
            <a:pPr lvl="1"/>
            <a:r>
              <a:rPr lang="en-US" sz="1200" dirty="0"/>
              <a:t>2.2 Technical View</a:t>
            </a:r>
          </a:p>
          <a:p>
            <a:pPr lvl="1"/>
            <a:r>
              <a:rPr lang="en-US" sz="1200" dirty="0"/>
              <a:t>2.3 Deployment View</a:t>
            </a:r>
          </a:p>
          <a:p>
            <a:pPr lvl="1"/>
            <a:r>
              <a:rPr lang="en-US" sz="1200" dirty="0"/>
              <a:t>2.4 Runtime View / Sequence Diagram</a:t>
            </a:r>
          </a:p>
          <a:p>
            <a:pPr lvl="1"/>
            <a:r>
              <a:rPr lang="en-US" sz="1200" dirty="0"/>
              <a:t>2.5 Integration – Message/Traffic Flow</a:t>
            </a:r>
          </a:p>
          <a:p>
            <a:pPr lvl="1"/>
            <a:r>
              <a:rPr lang="en-US" sz="1200" dirty="0"/>
              <a:t>2.6 Third Party Connectivity Information</a:t>
            </a:r>
          </a:p>
          <a:p>
            <a:pPr lvl="1"/>
            <a:r>
              <a:rPr lang="en-US" sz="1200" dirty="0"/>
              <a:t>2.7 Data Flow</a:t>
            </a:r>
          </a:p>
          <a:p>
            <a:pPr lvl="1"/>
            <a:r>
              <a:rPr lang="en-US" sz="1200" dirty="0"/>
              <a:t>2.8 Integration – APIs</a:t>
            </a:r>
          </a:p>
          <a:p>
            <a:pPr lvl="1"/>
            <a:r>
              <a:rPr lang="en-US" sz="1200" dirty="0"/>
              <a:t>2.9 Applications</a:t>
            </a:r>
          </a:p>
          <a:p>
            <a:pPr lvl="1"/>
            <a:r>
              <a:rPr lang="en-US" sz="1200" dirty="0"/>
              <a:t>2.10 User Management</a:t>
            </a:r>
          </a:p>
          <a:p>
            <a:pPr lvl="1"/>
            <a:r>
              <a:rPr lang="en-US" sz="1200" dirty="0"/>
              <a:t>2.11 Security Architecture Diagram - Target</a:t>
            </a:r>
          </a:p>
          <a:p>
            <a:pPr lvl="1"/>
            <a:r>
              <a:rPr lang="en-US" sz="1200" dirty="0"/>
              <a:t>2.12 New Technologies</a:t>
            </a:r>
          </a:p>
          <a:p>
            <a:pPr lvl="1"/>
            <a:r>
              <a:rPr lang="en-US" sz="1200"/>
              <a:t>2.13 </a:t>
            </a:r>
            <a:r>
              <a:rPr lang="en-US" sz="1200" dirty="0"/>
              <a:t>Public Cloud Native Services </a:t>
            </a: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Index</a:t>
            </a:r>
          </a:p>
        </p:txBody>
      </p:sp>
      <p:sp>
        <p:nvSpPr>
          <p:cNvPr id="3" name="Rectangle 2">
            <a:extLst>
              <a:ext uri="{FF2B5EF4-FFF2-40B4-BE49-F238E27FC236}">
                <a16:creationId xmlns:a16="http://schemas.microsoft.com/office/drawing/2014/main" id="{028CA4D7-E555-AC6A-7885-B8828D15D067}"/>
              </a:ext>
            </a:extLst>
          </p:cNvPr>
          <p:cNvSpPr/>
          <p:nvPr/>
        </p:nvSpPr>
        <p:spPr>
          <a:xfrm>
            <a:off x="6096000" y="996004"/>
            <a:ext cx="5306568" cy="5213597"/>
          </a:xfrm>
          <a:prstGeom prst="rect">
            <a:avLst/>
          </a:prstGeom>
        </p:spPr>
        <p:txBody>
          <a:bodyPr wrap="square">
            <a:noAutofit/>
          </a:bodyPr>
          <a:lstStyle/>
          <a:p>
            <a:pPr marL="27000" indent="0">
              <a:buNone/>
            </a:pPr>
            <a:r>
              <a:rPr lang="en-US" sz="2800" dirty="0"/>
              <a:t>3. Process Design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3.1 Process </a:t>
            </a:r>
            <a:r>
              <a:rPr lang="en-US" sz="1400" dirty="0"/>
              <a:t>Objective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3.2 Process Roles / RACI</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3.3 Process Flowchart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27000" indent="0">
              <a:buNone/>
            </a:pPr>
            <a:endParaRPr lang="en-US" sz="2800" dirty="0"/>
          </a:p>
          <a:p>
            <a:pPr marL="27000" indent="0">
              <a:buNone/>
            </a:pPr>
            <a:r>
              <a:rPr lang="en-US" sz="2800" dirty="0"/>
              <a:t>4. Infrastructure Requirements</a:t>
            </a:r>
          </a:p>
          <a:p>
            <a:pPr lvl="1"/>
            <a:r>
              <a:rPr lang="en-US" sz="1400" dirty="0"/>
              <a:t>4.1 Volumes</a:t>
            </a:r>
          </a:p>
          <a:p>
            <a:pPr lvl="1"/>
            <a:r>
              <a:rPr lang="en-US" sz="1400" dirty="0"/>
              <a:t>4.2 Data Sizing Information</a:t>
            </a:r>
          </a:p>
          <a:p>
            <a:pPr lvl="1"/>
            <a:r>
              <a:rPr lang="en-US" sz="1400" dirty="0"/>
              <a:t>4.3 Data Handling Information</a:t>
            </a:r>
          </a:p>
          <a:p>
            <a:pPr lvl="1"/>
            <a:r>
              <a:rPr lang="en-US" sz="1400" dirty="0"/>
              <a:t>4.4 Reporting</a:t>
            </a:r>
          </a:p>
          <a:p>
            <a:pPr lvl="1"/>
            <a:r>
              <a:rPr lang="en-US" sz="1400" dirty="0"/>
              <a:t>4.5 Workstation Requirement</a:t>
            </a:r>
          </a:p>
          <a:p>
            <a:pPr lvl="1"/>
            <a:r>
              <a:rPr lang="en-US" sz="1400" dirty="0"/>
              <a:t>4.6 Application Availability</a:t>
            </a:r>
          </a:p>
          <a:p>
            <a:pPr lvl="1"/>
            <a:r>
              <a:rPr lang="en-US" sz="1400" dirty="0"/>
              <a:t>4.7 Infrastructure Components</a:t>
            </a:r>
          </a:p>
          <a:p>
            <a:pPr lvl="1"/>
            <a:r>
              <a:rPr lang="en-US" sz="1400" dirty="0"/>
              <a:t>4.8 CaaS Infrastructure</a:t>
            </a:r>
          </a:p>
          <a:p>
            <a:pPr lvl="1"/>
            <a:r>
              <a:rPr lang="en-US" sz="1400" dirty="0"/>
              <a:t>4.9 Special Requirements</a:t>
            </a:r>
          </a:p>
          <a:p>
            <a:pPr lvl="1"/>
            <a:r>
              <a:rPr lang="en-US" sz="1400" dirty="0"/>
              <a:t>4.10 Cyber Resiliency -  Application Level</a:t>
            </a:r>
          </a:p>
          <a:p>
            <a:pPr lvl="1"/>
            <a:r>
              <a:rPr lang="en-US" sz="1400" dirty="0"/>
              <a:t>4.11 References</a:t>
            </a:r>
            <a:endParaRPr lang="en-US" sz="28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7617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01</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Functional Design</a:t>
            </a:r>
          </a:p>
        </p:txBody>
      </p:sp>
    </p:spTree>
    <p:extLst>
      <p:ext uri="{BB962C8B-B14F-4D97-AF65-F5344CB8AC3E}">
        <p14:creationId xmlns:p14="http://schemas.microsoft.com/office/powerpoint/2010/main" val="115872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5</a:t>
            </a:fld>
            <a:endParaRPr lang="es-ES" dirty="0"/>
          </a:p>
        </p:txBody>
      </p:sp>
      <p:sp>
        <p:nvSpPr>
          <p:cNvPr id="9" name="Marcador de texto 5">
            <a:extLst>
              <a:ext uri="{FF2B5EF4-FFF2-40B4-BE49-F238E27FC236}">
                <a16:creationId xmlns:a16="http://schemas.microsoft.com/office/drawing/2014/main" id="{89C04F98-3581-014F-2AD7-79F8D61B1B1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10" name="Título 1">
            <a:extLst>
              <a:ext uri="{FF2B5EF4-FFF2-40B4-BE49-F238E27FC236}">
                <a16:creationId xmlns:a16="http://schemas.microsoft.com/office/drawing/2014/main" id="{7377D923-11B5-70C0-7C03-9D687F5D607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graphicFrame>
        <p:nvGraphicFramePr>
          <p:cNvPr id="4" name="Group 60">
            <a:extLst>
              <a:ext uri="{FF2B5EF4-FFF2-40B4-BE49-F238E27FC236}">
                <a16:creationId xmlns:a16="http://schemas.microsoft.com/office/drawing/2014/main" id="{972074BA-0D04-F274-EAB2-75BBA1482C4F}"/>
              </a:ext>
            </a:extLst>
          </p:cNvPr>
          <p:cNvGraphicFramePr>
            <a:graphicFrameLocks noGrp="1"/>
          </p:cNvGraphicFramePr>
          <p:nvPr>
            <p:extLst>
              <p:ext uri="{D42A27DB-BD31-4B8C-83A1-F6EECF244321}">
                <p14:modId xmlns:p14="http://schemas.microsoft.com/office/powerpoint/2010/main" val="2129509470"/>
              </p:ext>
            </p:extLst>
          </p:nvPr>
        </p:nvGraphicFramePr>
        <p:xfrm>
          <a:off x="239488" y="721800"/>
          <a:ext cx="11298088" cy="5765677"/>
        </p:xfrm>
        <a:graphic>
          <a:graphicData uri="http://schemas.openxmlformats.org/drawingml/2006/table">
            <a:tbl>
              <a:tblPr firstRow="1" bandRow="1">
                <a:tableStyleId>{6E25E649-3F16-4E02-A733-19D2CDBF48F0}</a:tableStyleId>
              </a:tblPr>
              <a:tblGrid>
                <a:gridCol w="2659355">
                  <a:extLst>
                    <a:ext uri="{9D8B030D-6E8A-4147-A177-3AD203B41FA5}">
                      <a16:colId xmlns:a16="http://schemas.microsoft.com/office/drawing/2014/main" val="20000"/>
                    </a:ext>
                  </a:extLst>
                </a:gridCol>
                <a:gridCol w="8638733">
                  <a:extLst>
                    <a:ext uri="{9D8B030D-6E8A-4147-A177-3AD203B41FA5}">
                      <a16:colId xmlns:a16="http://schemas.microsoft.com/office/drawing/2014/main" val="20001"/>
                    </a:ext>
                  </a:extLst>
                </a:gridCol>
              </a:tblGrid>
              <a:tr h="314245">
                <a:tc gridSpan="2">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r>
                        <a:rPr kumimoji="0" lang="en-GB" sz="900" u="none" strike="noStrike" kern="1200" cap="none" normalizeH="0" baseline="0" dirty="0">
                          <a:ln>
                            <a:noFill/>
                          </a:ln>
                          <a:solidFill>
                            <a:schemeClr val="bg1"/>
                          </a:solidFill>
                          <a:effectLst/>
                        </a:rPr>
                        <a:t>1.1. Project Information</a:t>
                      </a:r>
                      <a:endParaRPr kumimoji="0" lang="en-GB" sz="900" b="1" i="0" u="none" strike="noStrike" kern="1200" cap="none" normalizeH="0" baseline="0" dirty="0">
                        <a:ln>
                          <a:noFill/>
                        </a:ln>
                        <a:solidFill>
                          <a:schemeClr val="bg1"/>
                        </a:solidFill>
                        <a:effectLst/>
                        <a:latin typeface="Arial" charset="0"/>
                        <a:ea typeface="+mn-ea"/>
                        <a:cs typeface="+mn-cs"/>
                      </a:endParaRPr>
                    </a:p>
                  </a:txBody>
                  <a:tcPr marL="54000" marR="54000" marT="54003" marB="54003" horzOverflow="overflow"/>
                </a:tc>
                <a:tc hMerge="1">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endParaRPr kumimoji="0" lang="en-GB" sz="1200" b="1" i="0" u="none" strike="noStrike" cap="none" normalizeH="0" baseline="0" dirty="0">
                        <a:ln>
                          <a:noFill/>
                        </a:ln>
                        <a:solidFill>
                          <a:schemeClr val="bg1"/>
                        </a:solidFill>
                        <a:effectLst/>
                        <a:latin typeface="Times New Roman" pitchFamily="18" charset="0"/>
                      </a:endParaRPr>
                    </a:p>
                  </a:txBody>
                  <a:tcPr marL="72000" marR="72000" marT="72004" marB="72004" horzOverflow="overflow"/>
                </a:tc>
                <a:extLst>
                  <a:ext uri="{0D108BD9-81ED-4DB2-BD59-A6C34878D82A}">
                    <a16:rowId xmlns:a16="http://schemas.microsoft.com/office/drawing/2014/main" val="10000"/>
                  </a:ext>
                </a:extLst>
              </a:tr>
              <a:tr h="252000">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ID/MEGA ID</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kern="1200" cap="none" normalizeH="0" baseline="0" dirty="0">
                          <a:ln>
                            <a:noFill/>
                          </a:ln>
                          <a:solidFill>
                            <a:schemeClr val="tx1"/>
                          </a:solidFill>
                          <a:effectLst/>
                          <a:latin typeface="Arial" charset="0"/>
                          <a:ea typeface="+mn-ea"/>
                          <a:cs typeface="+mn-cs"/>
                        </a:rPr>
                        <a:t>#Delivery Hub: 3264. MEGA:</a:t>
                      </a:r>
                      <a:r>
                        <a:rPr kumimoji="0" lang="en-US" sz="900" b="0" i="0" u="none" strike="noStrike" kern="1200" cap="none" normalizeH="0" baseline="0" dirty="0">
                          <a:ln>
                            <a:noFill/>
                          </a:ln>
                          <a:solidFill>
                            <a:schemeClr val="tx1"/>
                          </a:solidFill>
                          <a:effectLst/>
                          <a:latin typeface="Arial" charset="0"/>
                          <a:ea typeface="+mn-ea"/>
                          <a:cs typeface="+mn-cs"/>
                        </a:rPr>
                        <a:t>T24 – MEGA ID: 1937  &amp; Murex 3 Latam MEGA ID: 3493</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252000">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Project Name:</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kern="1200" cap="none" normalizeH="0" baseline="0" dirty="0">
                          <a:ln>
                            <a:noFill/>
                          </a:ln>
                          <a:solidFill>
                            <a:schemeClr val="tx1"/>
                          </a:solidFill>
                          <a:effectLst/>
                          <a:latin typeface="Arial" charset="0"/>
                          <a:ea typeface="+mn-ea"/>
                          <a:cs typeface="+mn-cs"/>
                        </a:rPr>
                        <a:t>DH 3264 – Derivatives OTC Customer Phase 1 // NDF</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kern="1200" cap="none" normalizeH="0" baseline="0" dirty="0">
                          <a:ln>
                            <a:noFill/>
                          </a:ln>
                          <a:solidFill>
                            <a:schemeClr val="tx1"/>
                          </a:solidFill>
                          <a:effectLst/>
                          <a:latin typeface="Arial" charset="0"/>
                          <a:ea typeface="+mn-ea"/>
                          <a:cs typeface="+mn-cs"/>
                        </a:rPr>
                        <a:t>Hiperos ID</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R21231</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07281384"/>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Entities in Scope:</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ts val="0"/>
                        </a:spcBef>
                        <a:spcAft>
                          <a:spcPts val="20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Product to be implemented  ONLY for BSI Miami</a:t>
                      </a:r>
                      <a:r>
                        <a:rPr kumimoji="0" lang="en-US" sz="900" b="0" i="0" u="none" strike="noStrike" cap="none" normalizeH="0" baseline="0" dirty="0">
                          <a:ln>
                            <a:noFill/>
                          </a:ln>
                          <a:solidFill>
                            <a:schemeClr val="tx1"/>
                          </a:solidFill>
                          <a:effectLst/>
                          <a:latin typeface="Arial" charset="0"/>
                        </a:rPr>
                        <a:t>. It requires other entities intervention. </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Integration with Santander Global Tech &amp; Operations (Santander Group) required. </a:t>
                      </a:r>
                    </a:p>
                    <a:p>
                      <a:pPr marL="749300" marR="0" lvl="1"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T24-Murex using same connection as FX. </a:t>
                      </a:r>
                    </a:p>
                    <a:p>
                      <a:pPr marL="749300" marR="0" lvl="1"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Asset Control – T24 using same connection as FX. </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BSI User accessing to MOI Reports app required. BSI should be setup as consumer. Existing App in MEGA (consumed already by other US entities in the group).</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BSI user accessing to PIF is required. Existing APP in Global (APM) but it does not exist in MEGA. New setup in MEGA done (</a:t>
                      </a:r>
                      <a:r>
                        <a:rPr lang="es-ES" sz="900" dirty="0"/>
                        <a:t>MEGA ID# 7791</a:t>
                      </a:r>
                      <a:r>
                        <a:rPr kumimoji="0" lang="en-US" sz="900" b="0" i="0" u="none" strike="noStrike" cap="none" normalizeH="0" baseline="0" dirty="0">
                          <a:ln>
                            <a:noFill/>
                          </a:ln>
                          <a:solidFill>
                            <a:schemeClr val="tx1"/>
                          </a:solidFill>
                          <a:effectLst/>
                          <a:latin typeface="Arial" charset="0"/>
                        </a:rPr>
                        <a:t>) by BSI. </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Update of connectivity (ports and server) with DTCC (existing for FX product but obsolete) required. </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Project Objective:</a:t>
                      </a:r>
                    </a:p>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t>
                      </a:r>
                      <a:r>
                        <a:rPr kumimoji="0" lang="en-US" sz="900" b="0" i="0" u="sng" strike="noStrike" cap="none" normalizeH="0" baseline="0" dirty="0">
                          <a:ln>
                            <a:noFill/>
                          </a:ln>
                          <a:solidFill>
                            <a:schemeClr val="tx1"/>
                          </a:solidFill>
                          <a:effectLst/>
                          <a:latin typeface="Arial" charset="0"/>
                        </a:rPr>
                        <a:t>Attach Business Requirements Document</a:t>
                      </a:r>
                      <a:r>
                        <a:rPr kumimoji="0" lang="en-US" sz="900" b="0" i="0" u="none" strike="noStrike" cap="none" normalizeH="0" baseline="0" dirty="0">
                          <a:ln>
                            <a:noFill/>
                          </a:ln>
                          <a:solidFill>
                            <a:schemeClr val="tx1"/>
                          </a:solidFill>
                          <a:effectLst/>
                          <a:latin typeface="Arial" charset="0"/>
                        </a:rPr>
                        <a: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It aims to establish a full e2e process and a control framework to allow BSI Miami to offer Non-Delivery-Forwards (NDF) to their client as part of their product</a:t>
                      </a:r>
                    </a:p>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Catalogue. BRD provided in </a:t>
                      </a:r>
                      <a:r>
                        <a:rPr kumimoji="0" lang="en-US" sz="900" b="0" i="0" u="none" strike="noStrike" kern="1200" cap="none" normalizeH="0" baseline="0" dirty="0" err="1">
                          <a:ln>
                            <a:noFill/>
                          </a:ln>
                          <a:solidFill>
                            <a:schemeClr val="tx1"/>
                          </a:solidFill>
                          <a:effectLst/>
                          <a:latin typeface="Arial" charset="0"/>
                          <a:ea typeface="+mn-ea"/>
                          <a:cs typeface="+mn-cs"/>
                        </a:rPr>
                        <a:t>Delivey</a:t>
                      </a:r>
                      <a:r>
                        <a:rPr kumimoji="0" lang="en-US" sz="900" b="0" i="0" u="none" strike="noStrike" kern="1200" cap="none" normalizeH="0" baseline="0" dirty="0">
                          <a:ln>
                            <a:noFill/>
                          </a:ln>
                          <a:solidFill>
                            <a:schemeClr val="tx1"/>
                          </a:solidFill>
                          <a:effectLst/>
                          <a:latin typeface="Arial" charset="0"/>
                          <a:ea typeface="+mn-ea"/>
                          <a:cs typeface="+mn-cs"/>
                        </a:rPr>
                        <a:t> Hub and cybersecurity tickets. </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lang="en-US" sz="900" dirty="0"/>
                        <a:t>Business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Owner: Ted Fernández</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IT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Jose Luis Martinez Avial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sng" strike="noStrike" cap="none" normalizeH="0" baseline="0" dirty="0">
                          <a:ln>
                            <a:noFill/>
                          </a:ln>
                          <a:effectLst/>
                        </a:rPr>
                        <a:t>ARB Criteria</a:t>
                      </a:r>
                      <a:endParaRPr kumimoji="0" lang="en-US" sz="900" b="1" i="0" u="sng"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&gt; 2 MM</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Cross Functional</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New Technology</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Strategy New Application</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Miscellaneous Request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u="none" strike="noStrike" cap="none" normalizeH="0" baseline="0" dirty="0">
                          <a:ln>
                            <a:noFill/>
                          </a:ln>
                          <a:effectLst/>
                        </a:rPr>
                        <a:t>No</a:t>
                      </a:r>
                      <a:r>
                        <a:rPr kumimoji="0" lang="en-US" sz="850" b="1" i="0" u="none" strike="noStrike" cap="none" normalizeH="0" baseline="0" dirty="0">
                          <a:ln>
                            <a:noFill/>
                          </a:ln>
                          <a:solidFill>
                            <a:schemeClr val="tx1"/>
                          </a:solidFill>
                          <a:effectLst/>
                          <a:latin typeface="Arial" charset="0"/>
                        </a:rPr>
                        <a:t>  </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Cloud Deployment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b="0" u="none" strike="noStrike" cap="none" normalizeH="0" baseline="0" dirty="0">
                          <a:ln>
                            <a:noFill/>
                          </a:ln>
                          <a:effectLst/>
                        </a:rPr>
                        <a:t>No</a:t>
                      </a:r>
                      <a:r>
                        <a:rPr kumimoji="0" lang="en-US" sz="850" b="0" i="0" u="none" strike="noStrike" cap="none" normalizeH="0" baseline="0" dirty="0">
                          <a:ln>
                            <a:noFill/>
                          </a:ln>
                          <a:solidFill>
                            <a:schemeClr val="tx1"/>
                          </a:solidFill>
                          <a:effectLst/>
                          <a:latin typeface="Arial" charset="0"/>
                        </a:rPr>
                        <a:t>  (</a:t>
                      </a:r>
                      <a:r>
                        <a:rPr kumimoji="0" lang="fr-FR" sz="850" b="0" i="0" u="none" strike="noStrike" cap="none" normalizeH="0" baseline="0" dirty="0">
                          <a:ln>
                            <a:noFill/>
                          </a:ln>
                          <a:solidFill>
                            <a:schemeClr val="tx1"/>
                          </a:solidFill>
                          <a:effectLst/>
                          <a:latin typeface="Arial" charset="0"/>
                        </a:rPr>
                        <a:t>SaaS affiliate)</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AI or Quantum Computing</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u="none" strike="noStrike" cap="none" normalizeH="0" baseline="0" dirty="0">
                          <a:ln>
                            <a:noFill/>
                          </a:ln>
                          <a:effectLst/>
                        </a:rPr>
                        <a:t>No</a:t>
                      </a:r>
                      <a:r>
                        <a:rPr kumimoji="0" lang="en-US" sz="850" b="1" i="0" u="none" strike="noStrike" cap="none" normalizeH="0" baseline="0" dirty="0">
                          <a:ln>
                            <a:noFill/>
                          </a:ln>
                          <a:solidFill>
                            <a:schemeClr val="tx1"/>
                          </a:solidFill>
                          <a:effectLst/>
                          <a:latin typeface="Arial" charset="0"/>
                        </a:rPr>
                        <a:t>  </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58409146"/>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Alexandria Project Classification</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b="0" i="0" u="none" strike="noStrike" cap="none" normalizeH="0" baseline="0" dirty="0">
                          <a:ln>
                            <a:noFill/>
                          </a:ln>
                          <a:solidFill>
                            <a:schemeClr val="tx1"/>
                          </a:solidFill>
                          <a:effectLst/>
                          <a:latin typeface="Arial" charset="0"/>
                        </a:rPr>
                        <a:t>Local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50028620"/>
                  </a:ext>
                </a:extLst>
              </a:tr>
              <a:tr h="252000">
                <a:tc>
                  <a:txBody>
                    <a:bodyPr/>
                    <a:lstStyle/>
                    <a:p>
                      <a:pPr marL="26988" marR="0" lvl="0" indent="-26988"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Aligned with Global Tech Stack / Global Platforms  </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b="0" i="0" u="none" strike="noStrike" cap="none" normalizeH="0" baseline="0" dirty="0">
                          <a:ln>
                            <a:noFill/>
                          </a:ln>
                          <a:solidFill>
                            <a:schemeClr val="tx1"/>
                          </a:solidFill>
                          <a:effectLst/>
                          <a:latin typeface="Arial" charset="0"/>
                        </a:rPr>
                        <a:t>Yes</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56521919"/>
                  </a:ext>
                </a:extLst>
              </a:tr>
            </a:tbl>
          </a:graphicData>
        </a:graphic>
      </p:graphicFrame>
    </p:spTree>
    <p:extLst>
      <p:ext uri="{BB962C8B-B14F-4D97-AF65-F5344CB8AC3E}">
        <p14:creationId xmlns:p14="http://schemas.microsoft.com/office/powerpoint/2010/main" val="139252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Introduction / </a:t>
            </a:r>
            <a:r>
              <a:rPr lang="en-US" sz="1400" b="1" dirty="0" err="1">
                <a:ea typeface="Calibri" panose="020F0502020204030204" pitchFamily="34" charset="0"/>
                <a:cs typeface="Times New Roman" panose="02020603050405020304" pitchFamily="18" charset="0"/>
              </a:rPr>
              <a:t>AsIs</a:t>
            </a:r>
            <a:endParaRPr lang="en-US" sz="1400" b="1" dirty="0">
              <a:ea typeface="Calibri" panose="020F0502020204030204" pitchFamily="34" charset="0"/>
              <a:cs typeface="Times New Roman" panose="02020603050405020304" pitchFamily="18" charset="0"/>
            </a:endParaRPr>
          </a:p>
          <a:p>
            <a:pPr>
              <a:lnSpc>
                <a:spcPct val="107000"/>
              </a:lnSpc>
            </a:pPr>
            <a:r>
              <a:rPr lang="en-US" sz="1400" i="1" dirty="0">
                <a:ea typeface="Calibri" panose="020F0502020204030204" pitchFamily="34" charset="0"/>
                <a:cs typeface="Arial" panose="020B0604020202020204" pitchFamily="34" charset="0"/>
              </a:rPr>
              <a:t>N/A. This product does not exist  as of today</a:t>
            </a:r>
          </a:p>
          <a:p>
            <a:pPr>
              <a:lnSpc>
                <a:spcPct val="107000"/>
              </a:lnSpc>
              <a:spcBef>
                <a:spcPts val="900"/>
              </a:spcBef>
            </a:pPr>
            <a:endParaRPr lang="en-US" sz="1400" dirty="0">
              <a:ea typeface="Calibri" panose="020F0502020204030204" pitchFamily="34" charset="0"/>
              <a:cs typeface="Times New Roman" panose="02020603050405020304" pitchFamily="18" charset="0"/>
            </a:endParaRPr>
          </a:p>
          <a:p>
            <a:pPr>
              <a:lnSpc>
                <a:spcPct val="107000"/>
              </a:lnSpc>
              <a:spcBef>
                <a:spcPts val="900"/>
              </a:spcBef>
            </a:pPr>
            <a:r>
              <a:rPr lang="en-US" sz="1400" b="1" dirty="0">
                <a:ea typeface="Calibri" panose="020F0502020204030204" pitchFamily="34" charset="0"/>
                <a:cs typeface="Times New Roman" panose="02020603050405020304" pitchFamily="18" charset="0"/>
              </a:rPr>
              <a:t>Goal/Objective of the project</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The project’s goal is to create a new revenue stream for BSI by offering this new product to clients. </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Provide a list of Stakeholders (optional if captured in Macro Architecture document):</a:t>
            </a:r>
          </a:p>
          <a:p>
            <a:pPr marL="742950" lvl="1" indent="-285750">
              <a:buFont typeface="Arial" panose="020B0604020202020204" pitchFamily="34" charset="0"/>
              <a:buChar char="•"/>
            </a:pPr>
            <a:r>
              <a:rPr lang="en-US" sz="1300" i="1" u="sng" dirty="0"/>
              <a:t>Treasury</a:t>
            </a:r>
            <a:r>
              <a:rPr lang="en-US" sz="1300" i="1" dirty="0"/>
              <a:t>: Ricardo Valdivia, Alexander Falcon, Johny Alexander Prada Gomez, </a:t>
            </a:r>
            <a:endParaRPr lang="es-ES" sz="1300" dirty="0"/>
          </a:p>
          <a:p>
            <a:pPr marL="742950" lvl="1" indent="-285750">
              <a:buFont typeface="Arial" panose="020B0604020202020204" pitchFamily="34" charset="0"/>
              <a:buChar char="•"/>
            </a:pPr>
            <a:r>
              <a:rPr lang="es-ES" sz="1300" i="1" u="sng" dirty="0"/>
              <a:t>Risk: </a:t>
            </a:r>
            <a:r>
              <a:rPr lang="es-ES" sz="1300" i="1" dirty="0"/>
              <a:t>Macarena Porrero, Lorenzo Vaiani</a:t>
            </a:r>
            <a:endParaRPr lang="es-ES" sz="1300" dirty="0"/>
          </a:p>
          <a:p>
            <a:pPr marL="742950" lvl="1" indent="-285750">
              <a:buFont typeface="Arial" panose="020B0604020202020204" pitchFamily="34" charset="0"/>
              <a:buChar char="•"/>
            </a:pPr>
            <a:r>
              <a:rPr lang="en-US" sz="1300" i="1" u="sng" dirty="0"/>
              <a:t>Product Support: </a:t>
            </a:r>
            <a:r>
              <a:rPr lang="en-US" sz="1300" i="1" dirty="0"/>
              <a:t>Judy Morel</a:t>
            </a:r>
            <a:endParaRPr lang="es-ES" sz="1300" dirty="0"/>
          </a:p>
          <a:p>
            <a:pPr marL="742950" lvl="1" indent="-285750">
              <a:buFont typeface="Arial" panose="020B0604020202020204" pitchFamily="34" charset="0"/>
              <a:buChar char="•"/>
            </a:pPr>
            <a:r>
              <a:rPr lang="pt-BR" sz="1300" i="1" u="sng" dirty="0"/>
              <a:t>Compliance</a:t>
            </a:r>
            <a:r>
              <a:rPr lang="pt-BR" sz="1300" i="1" dirty="0"/>
              <a:t>: Fernando Herrera, Jimena Pérez</a:t>
            </a:r>
            <a:endParaRPr lang="es-ES" sz="1300" dirty="0"/>
          </a:p>
          <a:p>
            <a:pPr marL="742950" lvl="1" indent="-285750">
              <a:buFont typeface="Arial" panose="020B0604020202020204" pitchFamily="34" charset="0"/>
              <a:buChar char="•"/>
            </a:pPr>
            <a:r>
              <a:rPr lang="en-US" sz="1300" i="1" u="sng" dirty="0"/>
              <a:t>Legal</a:t>
            </a:r>
            <a:r>
              <a:rPr lang="en-US" sz="1300" i="1" dirty="0"/>
              <a:t>: Hugo Sueiro</a:t>
            </a:r>
            <a:endParaRPr lang="es-ES" sz="1300" dirty="0"/>
          </a:p>
          <a:p>
            <a:pPr marL="742950" lvl="1" indent="-285750">
              <a:buFont typeface="Arial" panose="020B0604020202020204" pitchFamily="34" charset="0"/>
              <a:buChar char="•"/>
            </a:pPr>
            <a:r>
              <a:rPr lang="en-US" sz="1300" i="1" u="sng" dirty="0"/>
              <a:t>Operations: </a:t>
            </a:r>
            <a:r>
              <a:rPr lang="en-US" sz="1300" i="1" dirty="0"/>
              <a:t>Rafael Suarez, Michelle Oropesa, Lourdes Cravello, Aaron Ackerman, </a:t>
            </a:r>
            <a:endParaRPr lang="es-ES" sz="1300" dirty="0"/>
          </a:p>
          <a:p>
            <a:pPr marL="742950" lvl="1" indent="-285750">
              <a:buFont typeface="Arial" panose="020B0604020202020204" pitchFamily="34" charset="0"/>
              <a:buChar char="•"/>
            </a:pPr>
            <a:r>
              <a:rPr lang="en-US" sz="1300" i="1" u="sng" dirty="0"/>
              <a:t>IT: </a:t>
            </a:r>
            <a:r>
              <a:rPr lang="en-US" sz="1300" i="1" dirty="0"/>
              <a:t>Guillermo Sánchez. Jinen Andee, Ahamed Shanavaz. </a:t>
            </a:r>
            <a:endParaRPr lang="es-ES" sz="1300" dirty="0"/>
          </a:p>
          <a:p>
            <a:pPr marL="742950" lvl="1" indent="-285750">
              <a:buFont typeface="Arial" panose="020B0604020202020204" pitchFamily="34" charset="0"/>
              <a:buChar char="•"/>
            </a:pPr>
            <a:r>
              <a:rPr lang="en-US" sz="1300" i="1" u="sng" dirty="0"/>
              <a:t>Finance</a:t>
            </a:r>
            <a:r>
              <a:rPr lang="en-US" sz="1300" i="1" dirty="0"/>
              <a:t>: Sadis </a:t>
            </a:r>
            <a:r>
              <a:rPr lang="en-US" sz="1300" i="1" dirty="0" err="1"/>
              <a:t>Avarenga</a:t>
            </a:r>
            <a:r>
              <a:rPr lang="en-US" sz="1300" i="1" dirty="0"/>
              <a:t>, Robert Nichols, Marleni Vera, Dunia Gonzalez. </a:t>
            </a:r>
          </a:p>
          <a:p>
            <a:pPr lvl="1"/>
            <a:endParaRPr lang="es-ES" sz="1400" dirty="0"/>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List of RELEVANT Functional Requirements and Non-Functional Requirements (ordered by priority). You can use: ISO standard 25010 or Arc42. Maybe add a Use Case Diagram:</a:t>
            </a:r>
          </a:p>
          <a:p>
            <a:pPr>
              <a:lnSpc>
                <a:spcPct val="107000"/>
              </a:lnSpc>
              <a:spcBef>
                <a:spcPts val="900"/>
              </a:spcBef>
            </a:pPr>
            <a:r>
              <a:rPr lang="en-US" sz="1400" i="1" dirty="0">
                <a:ea typeface="Calibri" panose="020F0502020204030204" pitchFamily="34" charset="0"/>
                <a:cs typeface="Arial" panose="020B0604020202020204" pitchFamily="34" charset="0"/>
              </a:rPr>
              <a:t>All requirements were described extensively in deliverables submitted during GATE 3 and GATE 4 of Delivery Hub, </a:t>
            </a:r>
            <a:r>
              <a:rPr lang="en-US" sz="1400" i="1" dirty="0" err="1">
                <a:ea typeface="Calibri" panose="020F0502020204030204" pitchFamily="34" charset="0"/>
                <a:cs typeface="Arial" panose="020B0604020202020204" pitchFamily="34" charset="0"/>
              </a:rPr>
              <a:t>espectiall</a:t>
            </a:r>
            <a:r>
              <a:rPr lang="en-US" sz="1400" i="1" dirty="0">
                <a:ea typeface="Calibri" panose="020F0502020204030204" pitchFamily="34" charset="0"/>
                <a:cs typeface="Arial" panose="020B0604020202020204" pitchFamily="34" charset="0"/>
              </a:rPr>
              <a:t> in the official BRD document for this project signed off by the Business Sponsor</a:t>
            </a: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3" name="Marcador de texto 5">
            <a:extLst>
              <a:ext uri="{FF2B5EF4-FFF2-40B4-BE49-F238E27FC236}">
                <a16:creationId xmlns:a16="http://schemas.microsoft.com/office/drawing/2014/main" id="{3BC1C4F6-2AA5-513C-AE94-92FA6222C08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Título 1">
            <a:extLst>
              <a:ext uri="{FF2B5EF4-FFF2-40B4-BE49-F238E27FC236}">
                <a16:creationId xmlns:a16="http://schemas.microsoft.com/office/drawing/2014/main" id="{CA966C24-9FD5-601F-22AE-0336E108192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spTree>
    <p:extLst>
      <p:ext uri="{BB962C8B-B14F-4D97-AF65-F5344CB8AC3E}">
        <p14:creationId xmlns:p14="http://schemas.microsoft.com/office/powerpoint/2010/main" val="256592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Complete this section with the existing Architecture Diagrams that describes the Current Situation. </a:t>
            </a:r>
          </a:p>
          <a:p>
            <a:r>
              <a:rPr lang="en-US" sz="1400" i="1" dirty="0">
                <a:solidFill>
                  <a:schemeClr val="bg1">
                    <a:lumMod val="65000"/>
                  </a:schemeClr>
                </a:solidFill>
              </a:rPr>
              <a:t>If there is no architecture diagram available, a High Level “Environment Diagram” should be developed following the Target Architecture look and feel (described in this document).</a:t>
            </a:r>
          </a:p>
          <a:p>
            <a:endParaRPr lang="en-US" sz="1400" i="1" dirty="0">
              <a:solidFill>
                <a:schemeClr val="bg1">
                  <a:lumMod val="65000"/>
                </a:schemeClr>
              </a:solidFill>
            </a:endParaRPr>
          </a:p>
          <a:p>
            <a:endParaRPr lang="en-US" sz="1400" i="1" dirty="0">
              <a:solidFill>
                <a:schemeClr val="bg1">
                  <a:lumMod val="65000"/>
                </a:schemeClr>
              </a:solidFill>
            </a:endParaRPr>
          </a:p>
          <a:p>
            <a:r>
              <a:rPr lang="en-US" sz="1400" b="1" i="1" dirty="0"/>
              <a:t>Non-applicable since this is not an existing product in BSI catalogue. New architecture (very similar to FX architecture and leveraging in some </a:t>
            </a:r>
            <a:r>
              <a:rPr lang="en-US" sz="1400" b="1" i="1" dirty="0" err="1"/>
              <a:t>connectivities</a:t>
            </a:r>
            <a:r>
              <a:rPr lang="en-US" sz="1400" b="1" i="1" dirty="0"/>
              <a:t> in place for FX)</a:t>
            </a:r>
            <a:endParaRPr lang="en-US" sz="1400" b="1"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1.2 As Is – Macro Architecture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Tree>
    <p:extLst>
      <p:ext uri="{BB962C8B-B14F-4D97-AF65-F5344CB8AC3E}">
        <p14:creationId xmlns:p14="http://schemas.microsoft.com/office/powerpoint/2010/main" val="133894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8</a:t>
            </a:fld>
            <a:endParaRPr lang="es-ES" dirty="0"/>
          </a:p>
        </p:txBody>
      </p:sp>
      <p:sp>
        <p:nvSpPr>
          <p:cNvPr id="8" name="Rectangle 7"/>
          <p:cNvSpPr/>
          <p:nvPr/>
        </p:nvSpPr>
        <p:spPr>
          <a:xfrm>
            <a:off x="476834" y="935436"/>
            <a:ext cx="11219866" cy="5213597"/>
          </a:xfrm>
          <a:prstGeom prst="rect">
            <a:avLst/>
          </a:prstGeom>
        </p:spPr>
        <p:txBody>
          <a:bodyPr wrap="square">
            <a:noAutofit/>
          </a:bodyPr>
          <a:lstStyle/>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1.3 Principles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graphicFrame>
        <p:nvGraphicFramePr>
          <p:cNvPr id="3" name="3 Tabla">
            <a:extLst>
              <a:ext uri="{FF2B5EF4-FFF2-40B4-BE49-F238E27FC236}">
                <a16:creationId xmlns:a16="http://schemas.microsoft.com/office/drawing/2014/main" id="{5F63D3B4-21AB-BC25-ABF0-18F75ECD9803}"/>
              </a:ext>
            </a:extLst>
          </p:cNvPr>
          <p:cNvGraphicFramePr>
            <a:graphicFrameLocks noGrp="1"/>
          </p:cNvGraphicFramePr>
          <p:nvPr>
            <p:extLst>
              <p:ext uri="{D42A27DB-BD31-4B8C-83A1-F6EECF244321}">
                <p14:modId xmlns:p14="http://schemas.microsoft.com/office/powerpoint/2010/main" val="3785658531"/>
              </p:ext>
            </p:extLst>
          </p:nvPr>
        </p:nvGraphicFramePr>
        <p:xfrm>
          <a:off x="707401" y="1613815"/>
          <a:ext cx="11118839" cy="3934015"/>
        </p:xfrm>
        <a:graphic>
          <a:graphicData uri="http://schemas.openxmlformats.org/drawingml/2006/table">
            <a:tbl>
              <a:tblPr firstRow="1" bandRow="1"/>
              <a:tblGrid>
                <a:gridCol w="3995147">
                  <a:extLst>
                    <a:ext uri="{9D8B030D-6E8A-4147-A177-3AD203B41FA5}">
                      <a16:colId xmlns:a16="http://schemas.microsoft.com/office/drawing/2014/main" val="20000"/>
                    </a:ext>
                  </a:extLst>
                </a:gridCol>
                <a:gridCol w="7123692">
                  <a:extLst>
                    <a:ext uri="{9D8B030D-6E8A-4147-A177-3AD203B41FA5}">
                      <a16:colId xmlns:a16="http://schemas.microsoft.com/office/drawing/2014/main" val="20001"/>
                    </a:ext>
                  </a:extLst>
                </a:gridCol>
              </a:tblGrid>
              <a:tr h="472912">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Principle</a:t>
                      </a:r>
                    </a:p>
                  </a:txBody>
                  <a:tcPr>
                    <a:lnL w="12700" cap="flat" cmpd="sng" algn="ctr">
                      <a:solidFill>
                        <a:schemeClr val="tx1"/>
                      </a:solidFill>
                      <a:prstDash val="solid"/>
                      <a:round/>
                      <a:headEnd type="none" w="med" len="med"/>
                      <a:tailEnd type="none" w="med" len="med"/>
                    </a:lnL>
                    <a:lnR w="12700" cmpd="sng">
                      <a:solidFill>
                        <a:srgbClr val="FFFFFF"/>
                      </a:solidFill>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Description</a:t>
                      </a:r>
                    </a:p>
                  </a:txBody>
                  <a:tcPr>
                    <a:lnL w="12700" cmpd="sng">
                      <a:solidFill>
                        <a:srgbClr val="FFFFFF"/>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Application should be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multi-entity (SHUSA) or Regional (North America)</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BSI Miami.</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92632">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solidFill>
                          <a:effectLst/>
                          <a:latin typeface="Arial" pitchFamily="34" charset="0"/>
                          <a:ea typeface="ＭＳ Ｐゴシック"/>
                          <a:cs typeface="ＭＳ Ｐゴシック"/>
                        </a:rPr>
                        <a:t>It should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Multiple Currency</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NDF product is based on currencies. Currencies pairs in scope: USD/PEN, USD/CLP, USD/BRL, USD ARS, USD/COP</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54687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Business Logic should be designed and implemented </a:t>
                      </a:r>
                      <a:r>
                        <a:rPr kumimoji="0" lang="en-US" sz="1200" b="1" i="0" u="none" strike="noStrike" cap="none" normalizeH="0" baseline="0" noProof="0" dirty="0">
                          <a:ln>
                            <a:noFill/>
                          </a:ln>
                          <a:solidFill>
                            <a:schemeClr val="accent1"/>
                          </a:solidFill>
                          <a:effectLst/>
                          <a:latin typeface="Arial" pitchFamily="34" charset="0"/>
                          <a:ea typeface="ＭＳ Ｐゴシック"/>
                          <a:cs typeface="ＭＳ Ｐゴシック"/>
                        </a:rPr>
                        <a:t>Regardless of the Channels</a:t>
                      </a: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Operations should be able to be consumed by all Channels.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Multi-Language</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English or the application should be able to render in other languages.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r h="62544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run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24 hours x 7 days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endParaRPr lang="en-US" sz="1200" b="0" i="0" u="none" strike="noStrike" kern="1200" noProof="0" dirty="0">
                        <a:solidFill>
                          <a:srgbClr val="000000"/>
                        </a:solidFill>
                        <a:effectLst/>
                        <a:latin typeface="+mn-lt"/>
                        <a:ea typeface="+mn-ea"/>
                        <a:cs typeface="+mn-cs"/>
                      </a:endParaRP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5"/>
                  </a:ext>
                </a:extLst>
              </a:tr>
              <a:tr h="67436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Comply with all regulations.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Storage, administration, provisioning and analysis of the data should comply all the regulations, policies, standards and procedures.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6"/>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Information Security</a:t>
                      </a:r>
                      <a:endParaRPr lang="en-US" sz="1200" noProof="0" dirty="0">
                        <a:solidFill>
                          <a:schemeClr val="tx1">
                            <a:lumMod val="95000"/>
                            <a:lumOff val="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Data at rest and Data at transit should be encrypted.</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6053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9</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b="1" dirty="0">
                <a:ea typeface="Calibri" panose="020F0502020204030204" pitchFamily="34" charset="0"/>
                <a:cs typeface="Times New Roman" panose="02020603050405020304" pitchFamily="18" charset="0"/>
              </a:rPr>
              <a:t>About the Solution: </a:t>
            </a:r>
            <a:r>
              <a:rPr lang="en-US" sz="1400" dirty="0">
                <a:solidFill>
                  <a:prstClr val="black"/>
                </a:solidFill>
              </a:rPr>
              <a:t>All business requirements are described in detail in the project’s BRD.</a:t>
            </a:r>
          </a:p>
          <a:p>
            <a:endParaRPr lang="en-US" sz="1400" i="1" dirty="0">
              <a:solidFill>
                <a:schemeClr val="bg1">
                  <a:lumMod val="65000"/>
                </a:schemeClr>
              </a:solidFill>
            </a:endParaRPr>
          </a:p>
          <a:p>
            <a:r>
              <a:rPr lang="en-US" sz="1400" b="1" dirty="0">
                <a:ea typeface="Calibri" panose="020F0502020204030204" pitchFamily="34" charset="0"/>
                <a:cs typeface="Times New Roman" panose="02020603050405020304" pitchFamily="18" charset="0"/>
              </a:rPr>
              <a:t>Solution Strategy</a:t>
            </a:r>
          </a:p>
          <a:p>
            <a:endParaRPr lang="en-US" sz="1400" dirty="0">
              <a:ea typeface="Calibri" panose="020F0502020204030204" pitchFamily="34" charset="0"/>
              <a:cs typeface="Times New Roman" panose="02020603050405020304" pitchFamily="18" charset="0"/>
            </a:endParaRPr>
          </a:p>
          <a:p>
            <a:r>
              <a:rPr lang="en-US" sz="1400" dirty="0">
                <a:ea typeface="Calibri" panose="020F0502020204030204" pitchFamily="34" charset="0"/>
                <a:cs typeface="Times New Roman" panose="02020603050405020304" pitchFamily="18" charset="0"/>
              </a:rPr>
              <a:t>Implementation of NDF product in BSI Miami require the </a:t>
            </a:r>
            <a:r>
              <a:rPr lang="en-US" sz="1400" u="sng" dirty="0">
                <a:ea typeface="Calibri" panose="020F0502020204030204" pitchFamily="34" charset="0"/>
                <a:cs typeface="Times New Roman" panose="02020603050405020304" pitchFamily="18" charset="0"/>
              </a:rPr>
              <a:t>implementation of a new T24 Module of NDF </a:t>
            </a:r>
            <a:r>
              <a:rPr lang="en-US" sz="1400" dirty="0">
                <a:ea typeface="Calibri" panose="020F0502020204030204" pitchFamily="34" charset="0"/>
                <a:cs typeface="Times New Roman" panose="02020603050405020304" pitchFamily="18" charset="0"/>
              </a:rPr>
              <a:t>that is complemented with </a:t>
            </a:r>
            <a:r>
              <a:rPr lang="en-US" sz="1400" dirty="0"/>
              <a:t>Global infrastructure that take advantage of synergies and ensure meeting requirement by Global teams, especially in relation to meet Market Risk and Credit Risk global requirements. </a:t>
            </a:r>
          </a:p>
          <a:p>
            <a:endParaRPr lang="en-US" sz="1400" dirty="0"/>
          </a:p>
          <a:p>
            <a:r>
              <a:rPr lang="en-US" sz="1400" dirty="0"/>
              <a:t>That said, the following integration are required: 1) Asset Control – T24, 2) T24 – Murex, 3) T24- Medea, 4) T24-DTCC. </a:t>
            </a:r>
          </a:p>
          <a:p>
            <a:endParaRPr lang="en-US" sz="1400" dirty="0"/>
          </a:p>
          <a:p>
            <a:r>
              <a:rPr lang="en-US" sz="1400" dirty="0"/>
              <a:t>Main functional capabilities of solution will be: </a:t>
            </a:r>
          </a:p>
          <a:p>
            <a:endParaRPr lang="en-US" sz="1400" dirty="0"/>
          </a:p>
          <a:p>
            <a:endParaRPr lang="en-US" sz="1400" dirty="0"/>
          </a:p>
          <a:p>
            <a:endParaRPr lang="en-US" sz="1400" dirty="0"/>
          </a:p>
          <a:p>
            <a:endParaRPr lang="en-US" sz="1400" b="1" i="1" dirty="0">
              <a:ea typeface="Calibri" panose="020F0502020204030204" pitchFamily="34" charset="0"/>
              <a:cs typeface="Times New Roman" panose="02020603050405020304" pitchFamily="18" charset="0"/>
            </a:endParaRPr>
          </a:p>
          <a:p>
            <a:endParaRPr lang="en-US" sz="1400" b="1" dirty="0">
              <a:ea typeface="Calibri" panose="020F0502020204030204" pitchFamily="34" charset="0"/>
              <a:cs typeface="Times New Roman" panose="02020603050405020304" pitchFamily="18" charset="0"/>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1.4 To Be – About the Solution / Solution Strategy </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pic>
        <p:nvPicPr>
          <p:cNvPr id="4" name="Imagen 3">
            <a:extLst>
              <a:ext uri="{FF2B5EF4-FFF2-40B4-BE49-F238E27FC236}">
                <a16:creationId xmlns:a16="http://schemas.microsoft.com/office/drawing/2014/main" id="{C8947047-9449-D6A3-62AF-0A8868B20D66}"/>
              </a:ext>
            </a:extLst>
          </p:cNvPr>
          <p:cNvPicPr>
            <a:picLocks noChangeAspect="1"/>
          </p:cNvPicPr>
          <p:nvPr/>
        </p:nvPicPr>
        <p:blipFill>
          <a:blip r:embed="rId2"/>
          <a:stretch>
            <a:fillRect/>
          </a:stretch>
        </p:blipFill>
        <p:spPr>
          <a:xfrm>
            <a:off x="1149398" y="3429000"/>
            <a:ext cx="7872681" cy="3216930"/>
          </a:xfrm>
          <a:prstGeom prst="rect">
            <a:avLst/>
          </a:prstGeom>
        </p:spPr>
      </p:pic>
    </p:spTree>
    <p:extLst>
      <p:ext uri="{BB962C8B-B14F-4D97-AF65-F5344CB8AC3E}">
        <p14:creationId xmlns:p14="http://schemas.microsoft.com/office/powerpoint/2010/main" val="254048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10</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1.5 Application Impact Analysis / Dependencies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Applications/Components impacted (new and existing) by the project </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Schedule dependency due to another application/project</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(Specify other application/project schedules and     </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constraints that affects implementation of this project or include the following sentence  “No Dependencies identified”). </a:t>
            </a:r>
            <a:endParaRPr lang="en-US" sz="1400" b="1" dirty="0">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Other application/projects dependent on this project </a:t>
            </a:r>
          </a:p>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(Specify if there are other projects or business that are dependent on completion of this project or include the following sentence “No application/project dependent on this project”).</a:t>
            </a:r>
          </a:p>
        </p:txBody>
      </p:sp>
      <p:graphicFrame>
        <p:nvGraphicFramePr>
          <p:cNvPr id="8" name="Table 7"/>
          <p:cNvGraphicFramePr>
            <a:graphicFrameLocks noGrp="1"/>
          </p:cNvGraphicFramePr>
          <p:nvPr>
            <p:extLst>
              <p:ext uri="{D42A27DB-BD31-4B8C-83A1-F6EECF244321}">
                <p14:modId xmlns:p14="http://schemas.microsoft.com/office/powerpoint/2010/main" val="2906744317"/>
              </p:ext>
            </p:extLst>
          </p:nvPr>
        </p:nvGraphicFramePr>
        <p:xfrm>
          <a:off x="415339" y="1458659"/>
          <a:ext cx="11304809" cy="4152900"/>
        </p:xfrm>
        <a:graphic>
          <a:graphicData uri="http://schemas.openxmlformats.org/drawingml/2006/table">
            <a:tbl>
              <a:tblPr firstRow="1" bandRow="1">
                <a:tableStyleId>{6E25E649-3F16-4E02-A733-19D2CDBF48F0}</a:tableStyleId>
              </a:tblPr>
              <a:tblGrid>
                <a:gridCol w="796758">
                  <a:extLst>
                    <a:ext uri="{9D8B030D-6E8A-4147-A177-3AD203B41FA5}">
                      <a16:colId xmlns:a16="http://schemas.microsoft.com/office/drawing/2014/main" val="20000"/>
                    </a:ext>
                  </a:extLst>
                </a:gridCol>
                <a:gridCol w="519410">
                  <a:extLst>
                    <a:ext uri="{9D8B030D-6E8A-4147-A177-3AD203B41FA5}">
                      <a16:colId xmlns:a16="http://schemas.microsoft.com/office/drawing/2014/main" val="20001"/>
                    </a:ext>
                  </a:extLst>
                </a:gridCol>
                <a:gridCol w="1023336">
                  <a:extLst>
                    <a:ext uri="{9D8B030D-6E8A-4147-A177-3AD203B41FA5}">
                      <a16:colId xmlns:a16="http://schemas.microsoft.com/office/drawing/2014/main" val="20002"/>
                    </a:ext>
                  </a:extLst>
                </a:gridCol>
                <a:gridCol w="1023336">
                  <a:extLst>
                    <a:ext uri="{9D8B030D-6E8A-4147-A177-3AD203B41FA5}">
                      <a16:colId xmlns:a16="http://schemas.microsoft.com/office/drawing/2014/main" val="20003"/>
                    </a:ext>
                  </a:extLst>
                </a:gridCol>
                <a:gridCol w="1722621">
                  <a:extLst>
                    <a:ext uri="{9D8B030D-6E8A-4147-A177-3AD203B41FA5}">
                      <a16:colId xmlns:a16="http://schemas.microsoft.com/office/drawing/2014/main" val="20004"/>
                    </a:ext>
                  </a:extLst>
                </a:gridCol>
                <a:gridCol w="1219343">
                  <a:extLst>
                    <a:ext uri="{9D8B030D-6E8A-4147-A177-3AD203B41FA5}">
                      <a16:colId xmlns:a16="http://schemas.microsoft.com/office/drawing/2014/main" val="20005"/>
                    </a:ext>
                  </a:extLst>
                </a:gridCol>
                <a:gridCol w="821480">
                  <a:extLst>
                    <a:ext uri="{9D8B030D-6E8A-4147-A177-3AD203B41FA5}">
                      <a16:colId xmlns:a16="http://schemas.microsoft.com/office/drawing/2014/main" val="1810864065"/>
                    </a:ext>
                  </a:extLst>
                </a:gridCol>
                <a:gridCol w="772726">
                  <a:extLst>
                    <a:ext uri="{9D8B030D-6E8A-4147-A177-3AD203B41FA5}">
                      <a16:colId xmlns:a16="http://schemas.microsoft.com/office/drawing/2014/main" val="20006"/>
                    </a:ext>
                  </a:extLst>
                </a:gridCol>
                <a:gridCol w="744437">
                  <a:extLst>
                    <a:ext uri="{9D8B030D-6E8A-4147-A177-3AD203B41FA5}">
                      <a16:colId xmlns:a16="http://schemas.microsoft.com/office/drawing/2014/main" val="2101682365"/>
                    </a:ext>
                  </a:extLst>
                </a:gridCol>
                <a:gridCol w="1302766">
                  <a:extLst>
                    <a:ext uri="{9D8B030D-6E8A-4147-A177-3AD203B41FA5}">
                      <a16:colId xmlns:a16="http://schemas.microsoft.com/office/drawing/2014/main" val="2443755185"/>
                    </a:ext>
                  </a:extLst>
                </a:gridCol>
                <a:gridCol w="1358596">
                  <a:extLst>
                    <a:ext uri="{9D8B030D-6E8A-4147-A177-3AD203B41FA5}">
                      <a16:colId xmlns:a16="http://schemas.microsoft.com/office/drawing/2014/main" val="20007"/>
                    </a:ext>
                  </a:extLst>
                </a:gridCol>
              </a:tblGrid>
              <a:tr h="342900">
                <a:tc>
                  <a:txBody>
                    <a:bodyPr/>
                    <a:lstStyle/>
                    <a:p>
                      <a:pPr algn="ctr"/>
                      <a:r>
                        <a:rPr lang="en-US" sz="1050" baseline="0" dirty="0"/>
                        <a:t>MEGA ID</a:t>
                      </a:r>
                      <a:endParaRPr lang="en-US" sz="1050" dirty="0"/>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050" baseline="0" dirty="0"/>
                        <a:t>A/C</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Entity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Name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Description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baseline="0" dirty="0"/>
                        <a:t>New/Existing/De</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RTO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RPO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SLR/Tier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If</a:t>
                      </a:r>
                      <a:r>
                        <a:rPr lang="en-US" sz="1050" baseline="0" dirty="0"/>
                        <a:t> New, Service Domain (BIAN)</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Impact</a:t>
                      </a:r>
                    </a:p>
                    <a:p>
                      <a:pPr algn="ctr"/>
                      <a:r>
                        <a:rPr lang="en-US" sz="1050" dirty="0"/>
                        <a:t>Description</a:t>
                      </a:r>
                    </a:p>
                  </a:txBody>
                  <a:tcPr marL="45720" marR="4572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63570">
                <a:tc>
                  <a:txBody>
                    <a:bodyPr/>
                    <a:lstStyle/>
                    <a:p>
                      <a:pPr algn="ctr"/>
                      <a:r>
                        <a:rPr lang="en-US" sz="1100" i="0" kern="1200" dirty="0">
                          <a:solidFill>
                            <a:schemeClr val="tx1"/>
                          </a:solidFill>
                          <a:latin typeface="+mn-lt"/>
                          <a:ea typeface="+mn-ea"/>
                          <a:cs typeface="+mn-cs"/>
                        </a:rPr>
                        <a:t>1937</a:t>
                      </a: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i="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i="0" dirty="0">
                          <a:solidFill>
                            <a:schemeClr val="tx1"/>
                          </a:solidFill>
                        </a:rPr>
                        <a:t>BSI Miami </a:t>
                      </a:r>
                      <a:r>
                        <a:rPr lang="en-US" sz="1100" i="0" kern="1200" dirty="0">
                          <a:solidFill>
                            <a:schemeClr val="tx1"/>
                          </a:solidFill>
                          <a:latin typeface="+mn-lt"/>
                          <a:ea typeface="+mn-ea"/>
                          <a:cs typeface="+mn-cs"/>
                        </a:rPr>
                        <a:t>Core banking system</a:t>
                      </a:r>
                    </a:p>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endParaRPr lang="en-US" sz="10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41148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r>
                        <a:rPr lang="en-US" sz="1100" i="0" kern="1200" dirty="0">
                          <a:solidFill>
                            <a:schemeClr val="tx1"/>
                          </a:solidFill>
                          <a:latin typeface="+mn-lt"/>
                          <a:ea typeface="+mn-ea"/>
                          <a:cs typeface="+mn-cs"/>
                        </a:rPr>
                        <a:t>3493</a:t>
                      </a:r>
                    </a:p>
                  </a:txBody>
                  <a:tcPr marL="7144" marR="7144" marT="7144" marB="0">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r>
                        <a:rPr lang="en-US" sz="1000" i="0" kern="1200" dirty="0">
                          <a:solidFill>
                            <a:schemeClr val="dk1"/>
                          </a:solidFill>
                          <a:latin typeface="+mn-lt"/>
                          <a:ea typeface="+mn-ea"/>
                          <a:cs typeface="+mn-cs"/>
                        </a:rPr>
                        <a:t>Murex 3 Latam 3.1</a:t>
                      </a: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Booking system in Global infrastructure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dirty="0">
                          <a:solidFill>
                            <a:schemeClr val="tx1"/>
                          </a:solidFill>
                        </a:rPr>
                        <a:t>Existing</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i="0" kern="1200" dirty="0">
                          <a:solidFill>
                            <a:schemeClr val="tx1"/>
                          </a:solidFill>
                          <a:latin typeface="+mn-lt"/>
                          <a:ea typeface="+mn-ea"/>
                          <a:cs typeface="+mn-cs"/>
                        </a:rPr>
                        <a:t>It </a:t>
                      </a:r>
                      <a:r>
                        <a:rPr lang="en-US" sz="1000" i="0" kern="1200" dirty="0" err="1">
                          <a:solidFill>
                            <a:schemeClr val="tx1"/>
                          </a:solidFill>
                          <a:latin typeface="+mn-lt"/>
                          <a:ea typeface="+mn-ea"/>
                          <a:cs typeface="+mn-cs"/>
                        </a:rPr>
                        <a:t>wil</a:t>
                      </a:r>
                      <a:r>
                        <a:rPr lang="en-US" sz="1000" i="0" kern="1200" dirty="0">
                          <a:solidFill>
                            <a:schemeClr val="tx1"/>
                          </a:solidFill>
                          <a:latin typeface="+mn-lt"/>
                          <a:ea typeface="+mn-ea"/>
                          <a:cs typeface="+mn-cs"/>
                        </a:rPr>
                        <a:t> receive trade info from T24 so it will allow their flow through global infrastructure meeting global requirements. </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11480">
                <a:tc>
                  <a:txBody>
                    <a:bodyPr/>
                    <a:lstStyle/>
                    <a:p>
                      <a:pPr algn="ctr">
                        <a:buNone/>
                      </a:pPr>
                      <a:r>
                        <a:rPr lang="es-ES" sz="1100" i="0" kern="1200" dirty="0">
                          <a:solidFill>
                            <a:schemeClr val="tx1"/>
                          </a:solidFill>
                          <a:latin typeface="+mn-lt"/>
                          <a:ea typeface="+mn-ea"/>
                          <a:cs typeface="+mn-cs"/>
                        </a:rPr>
                        <a:t>  1856</a:t>
                      </a:r>
                    </a:p>
                  </a:txBody>
                  <a:tcPr marL="6985" marR="6985" marT="6985" marB="0">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100" i="0" kern="1200" dirty="0">
                          <a:solidFill>
                            <a:schemeClr val="tx1"/>
                          </a:solidFill>
                          <a:latin typeface="+mn-lt"/>
                          <a:ea typeface="+mn-ea"/>
                          <a:cs typeface="+mn-cs"/>
                        </a:rPr>
                        <a:t>A</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100" i="0" kern="1200" dirty="0">
                          <a:solidFill>
                            <a:schemeClr val="tx1"/>
                          </a:solidFill>
                          <a:latin typeface="+mn-lt"/>
                          <a:ea typeface="+mn-ea"/>
                          <a:cs typeface="+mn-cs"/>
                        </a:rPr>
                        <a:t>BSI</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buNone/>
                      </a:pPr>
                      <a:r>
                        <a:rPr lang="es-ES" sz="1000" i="0" kern="1200" dirty="0">
                          <a:solidFill>
                            <a:schemeClr val="dk1"/>
                          </a:solidFill>
                          <a:latin typeface="+mn-lt"/>
                          <a:ea typeface="+mn-ea"/>
                          <a:cs typeface="+mn-cs"/>
                        </a:rPr>
                        <a:t>  DTCC</a:t>
                      </a:r>
                    </a:p>
                  </a:txBody>
                  <a:tcPr marL="6985" marR="6985"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Certified entity for regulatory reporting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100" i="0" kern="1200" dirty="0" err="1">
                          <a:solidFill>
                            <a:schemeClr val="tx1"/>
                          </a:solidFill>
                          <a:latin typeface="+mn-lt"/>
                          <a:ea typeface="+mn-ea"/>
                          <a:cs typeface="+mn-cs"/>
                        </a:rPr>
                        <a:t>Existing</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i="0" kern="1200" dirty="0">
                          <a:solidFill>
                            <a:schemeClr val="tx1"/>
                          </a:solidFill>
                          <a:latin typeface="+mn-lt"/>
                          <a:ea typeface="+mn-ea"/>
                          <a:cs typeface="+mn-cs"/>
                        </a:rPr>
                        <a:t>It will allow to comply with Dodd Frank Regulation</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43342947"/>
                  </a:ext>
                </a:extLst>
              </a:tr>
              <a:tr h="411480">
                <a:tc>
                  <a:txBody>
                    <a:bodyPr/>
                    <a:lstStyle/>
                    <a:p>
                      <a:pPr algn="ctr">
                        <a:buNone/>
                      </a:pPr>
                      <a:r>
                        <a:rPr lang="es-ES" sz="1100" i="0" kern="1200" dirty="0">
                          <a:solidFill>
                            <a:schemeClr val="tx1"/>
                          </a:solidFill>
                          <a:latin typeface="+mn-lt"/>
                          <a:ea typeface="+mn-ea"/>
                          <a:cs typeface="+mn-cs"/>
                        </a:rPr>
                        <a:t>  130</a:t>
                      </a:r>
                    </a:p>
                  </a:txBody>
                  <a:tcPr marL="6985" marR="6985" marT="6985" marB="0">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A</a:t>
                      </a:r>
                    </a:p>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buNone/>
                      </a:pPr>
                      <a:r>
                        <a:rPr lang="es-ES" sz="1000" i="0" kern="1200" dirty="0">
                          <a:solidFill>
                            <a:schemeClr val="dk1"/>
                          </a:solidFill>
                          <a:latin typeface="+mn-lt"/>
                          <a:ea typeface="+mn-ea"/>
                          <a:cs typeface="+mn-cs"/>
                        </a:rPr>
                        <a:t>  Asset Control</a:t>
                      </a:r>
                    </a:p>
                  </a:txBody>
                  <a:tcPr marL="6985" marR="6985"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Santander Official source of pricing and rates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tx1"/>
                          </a:solidFill>
                          <a:latin typeface="+mn-lt"/>
                          <a:ea typeface="+mn-ea"/>
                          <a:cs typeface="+mn-cs"/>
                        </a:rPr>
                        <a:t>It will provide FWD rates and Fixing rates, both necessary for NDF running. </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411480">
                <a:tc>
                  <a:txBody>
                    <a:bodyPr/>
                    <a:lstStyle/>
                    <a:p>
                      <a:pPr algn="ctr">
                        <a:buNone/>
                      </a:pPr>
                      <a:r>
                        <a:rPr lang="es-ES" sz="1100" i="0" kern="1200" dirty="0">
                          <a:solidFill>
                            <a:schemeClr val="tx1"/>
                          </a:solidFill>
                          <a:latin typeface="+mn-lt"/>
                          <a:ea typeface="+mn-ea"/>
                          <a:cs typeface="+mn-cs"/>
                        </a:rPr>
                        <a:t>  5975</a:t>
                      </a:r>
                    </a:p>
                  </a:txBody>
                  <a:tcPr marL="6985" marR="6985" marT="6985" marB="0">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buNone/>
                      </a:pPr>
                      <a:r>
                        <a:rPr lang="es-ES" sz="1000" i="0" kern="1200" dirty="0">
                          <a:solidFill>
                            <a:schemeClr val="dk1"/>
                          </a:solidFill>
                          <a:latin typeface="+mn-lt"/>
                          <a:ea typeface="+mn-ea"/>
                          <a:cs typeface="+mn-cs"/>
                        </a:rPr>
                        <a:t>  MOI Reports</a:t>
                      </a:r>
                    </a:p>
                  </a:txBody>
                  <a:tcPr marL="6985" marR="6985"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Tool that allow make adjustments in Murex /Data lake calculations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tx1"/>
                          </a:solidFill>
                          <a:latin typeface="+mn-lt"/>
                          <a:ea typeface="+mn-ea"/>
                          <a:cs typeface="+mn-cs"/>
                        </a:rPr>
                        <a:t>It will allow to make adjustment over threshold consumption of BSI for Derivatives. </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7303510"/>
                  </a:ext>
                </a:extLst>
              </a:tr>
            </a:tbl>
          </a:graphicData>
        </a:graphic>
      </p:graphicFrame>
    </p:spTree>
    <p:extLst>
      <p:ext uri="{BB962C8B-B14F-4D97-AF65-F5344CB8AC3E}">
        <p14:creationId xmlns:p14="http://schemas.microsoft.com/office/powerpoint/2010/main" val="1886027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11</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1.6 AI Projects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Identify what type of Archetype, Adoption Model, AI Model, and Cloud Model is being used for the AI.</a:t>
            </a:r>
          </a:p>
          <a:p>
            <a:r>
              <a:rPr lang="en-US" sz="1400" i="1" dirty="0">
                <a:solidFill>
                  <a:schemeClr val="bg1">
                    <a:lumMod val="65000"/>
                  </a:schemeClr>
                </a:solidFill>
              </a:rPr>
              <a:t>Attach the AI diagram as well.</a:t>
            </a:r>
            <a:endParaRPr lang="en-US" sz="1400" dirty="0"/>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pic>
        <p:nvPicPr>
          <p:cNvPr id="4" name="Imagen 2">
            <a:extLst>
              <a:ext uri="{FF2B5EF4-FFF2-40B4-BE49-F238E27FC236}">
                <a16:creationId xmlns:a16="http://schemas.microsoft.com/office/drawing/2014/main" id="{BF3A0F9D-66ED-BEB9-B95A-B4730FFDF173}"/>
              </a:ext>
            </a:extLst>
          </p:cNvPr>
          <p:cNvPicPr>
            <a:picLocks noChangeAspect="1"/>
          </p:cNvPicPr>
          <p:nvPr/>
        </p:nvPicPr>
        <p:blipFill>
          <a:blip r:embed="rId2"/>
          <a:stretch>
            <a:fillRect/>
          </a:stretch>
        </p:blipFill>
        <p:spPr>
          <a:xfrm>
            <a:off x="84953" y="2011108"/>
            <a:ext cx="5984125" cy="3318659"/>
          </a:xfrm>
          <a:prstGeom prst="rect">
            <a:avLst/>
          </a:prstGeom>
        </p:spPr>
      </p:pic>
      <p:graphicFrame>
        <p:nvGraphicFramePr>
          <p:cNvPr id="6" name="Table 5">
            <a:extLst>
              <a:ext uri="{FF2B5EF4-FFF2-40B4-BE49-F238E27FC236}">
                <a16:creationId xmlns:a16="http://schemas.microsoft.com/office/drawing/2014/main" id="{702CE94A-C1CC-67B1-C2DB-E4077246BA28}"/>
              </a:ext>
            </a:extLst>
          </p:cNvPr>
          <p:cNvGraphicFramePr>
            <a:graphicFrameLocks noGrp="1"/>
          </p:cNvGraphicFramePr>
          <p:nvPr>
            <p:extLst>
              <p:ext uri="{D42A27DB-BD31-4B8C-83A1-F6EECF244321}">
                <p14:modId xmlns:p14="http://schemas.microsoft.com/office/powerpoint/2010/main" val="2744393509"/>
              </p:ext>
            </p:extLst>
          </p:nvPr>
        </p:nvGraphicFramePr>
        <p:xfrm>
          <a:off x="6096000" y="1419248"/>
          <a:ext cx="5969133" cy="4865370"/>
        </p:xfrm>
        <a:graphic>
          <a:graphicData uri="http://schemas.openxmlformats.org/drawingml/2006/table">
            <a:tbl>
              <a:tblPr firstRow="1" bandRow="1">
                <a:tableStyleId>{5C22544A-7EE6-4342-B048-85BDC9FD1C3A}</a:tableStyleId>
              </a:tblPr>
              <a:tblGrid>
                <a:gridCol w="1054100">
                  <a:extLst>
                    <a:ext uri="{9D8B030D-6E8A-4147-A177-3AD203B41FA5}">
                      <a16:colId xmlns:a16="http://schemas.microsoft.com/office/drawing/2014/main" val="3441523889"/>
                    </a:ext>
                  </a:extLst>
                </a:gridCol>
                <a:gridCol w="3128433">
                  <a:extLst>
                    <a:ext uri="{9D8B030D-6E8A-4147-A177-3AD203B41FA5}">
                      <a16:colId xmlns:a16="http://schemas.microsoft.com/office/drawing/2014/main" val="2271909911"/>
                    </a:ext>
                  </a:extLst>
                </a:gridCol>
                <a:gridCol w="1786600">
                  <a:extLst>
                    <a:ext uri="{9D8B030D-6E8A-4147-A177-3AD203B41FA5}">
                      <a16:colId xmlns:a16="http://schemas.microsoft.com/office/drawing/2014/main" val="2135973291"/>
                    </a:ext>
                  </a:extLst>
                </a:gridCol>
              </a:tblGrid>
              <a:tr h="370840">
                <a:tc>
                  <a:txBody>
                    <a:bodyPr/>
                    <a:lstStyle/>
                    <a:p>
                      <a:pPr algn="ctr" fontAlgn="b"/>
                      <a:r>
                        <a:rPr lang="en-US" sz="1400" b="1" i="0" u="none" strike="noStrike">
                          <a:solidFill>
                            <a:srgbClr val="FFFFFF"/>
                          </a:solidFill>
                          <a:effectLst/>
                          <a:latin typeface="Calibri" panose="020F0502020204030204" pitchFamily="34" charset="0"/>
                        </a:rPr>
                        <a:t>AI Focus Area</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Risk</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Response</a:t>
                      </a:r>
                    </a:p>
                  </a:txBody>
                  <a:tcPr marL="6350" marR="6350" marT="6350" marB="0" anchor="ctr"/>
                </a:tc>
                <a:extLst>
                  <a:ext uri="{0D108BD9-81ED-4DB2-BD59-A6C34878D82A}">
                    <a16:rowId xmlns:a16="http://schemas.microsoft.com/office/drawing/2014/main" val="3596605729"/>
                  </a:ext>
                </a:extLst>
              </a:tr>
              <a:tr h="370840">
                <a:tc>
                  <a:txBody>
                    <a:bodyPr/>
                    <a:lstStyle/>
                    <a:p>
                      <a:pPr algn="l" fontAlgn="b"/>
                      <a:r>
                        <a:rPr lang="en-US" sz="1100" b="0" i="0" u="none" strike="noStrike" dirty="0">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proof of trustworthiness and Reliability in AI Model that is providing a Regulatory Function or Capability.</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80063640"/>
                  </a:ext>
                </a:extLst>
              </a:tr>
              <a:tr h="370840">
                <a:tc>
                  <a:txBody>
                    <a:bodyPr/>
                    <a:lstStyle/>
                    <a:p>
                      <a:pPr algn="l" fontAlgn="b"/>
                      <a:r>
                        <a:rPr lang="en-US" sz="1100" b="0" i="0" u="none" strike="noStrike">
                          <a:solidFill>
                            <a:srgbClr val="000000"/>
                          </a:solidFill>
                          <a:effectLst/>
                          <a:latin typeface="Calibri" panose="020F0502020204030204" pitchFamily="34" charset="0"/>
                        </a:rPr>
                        <a:t>AI Output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Clear Boundaries and Scope around the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02474781"/>
                  </a:ext>
                </a:extLst>
              </a:tr>
              <a:tr h="370840">
                <a:tc>
                  <a:txBody>
                    <a:bodyPr/>
                    <a:lstStyle/>
                    <a:p>
                      <a:pPr algn="l" fontAlgn="b"/>
                      <a:r>
                        <a:rPr lang="en-US" sz="1100" b="0" i="0" u="none" strike="noStrike">
                          <a:solidFill>
                            <a:srgbClr val="000000"/>
                          </a:solidFill>
                          <a:effectLst/>
                          <a:latin typeface="Calibri" panose="020F0502020204030204" pitchFamily="34" charset="0"/>
                        </a:rPr>
                        <a:t>AI Data and Input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evidence that Training Data is collected from Trusted Sources.</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14180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Human Oversight over any output of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10413518"/>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evidence that the model is unbiased. </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22268269"/>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tracking and monitoring of AI model (for Drift and Biasedness and other risks associated with the AI Model)</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2292714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Business Continuity Plan around the AI model in case of Bias, Drift, or other significant problems.</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4166656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Clear Business Benefits of the AI solution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064515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AI Model documentation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4474028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The AI Solution is not recommended by the Group AI COE</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3047634"/>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Mismatch between the complexity of LLM Model and the Data Classification as per Santander Generative AI Handbook</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82695059"/>
                  </a:ext>
                </a:extLst>
              </a:tr>
            </a:tbl>
          </a:graphicData>
        </a:graphic>
      </p:graphicFrame>
      <p:graphicFrame>
        <p:nvGraphicFramePr>
          <p:cNvPr id="9" name="Object 8">
            <a:extLst>
              <a:ext uri="{FF2B5EF4-FFF2-40B4-BE49-F238E27FC236}">
                <a16:creationId xmlns:a16="http://schemas.microsoft.com/office/drawing/2014/main" id="{E1652220-4BE4-1214-1A4E-4C24000D6194}"/>
              </a:ext>
            </a:extLst>
          </p:cNvPr>
          <p:cNvGraphicFramePr>
            <a:graphicFrameLocks noChangeAspect="1"/>
          </p:cNvGraphicFramePr>
          <p:nvPr>
            <p:extLst>
              <p:ext uri="{D42A27DB-BD31-4B8C-83A1-F6EECF244321}">
                <p14:modId xmlns:p14="http://schemas.microsoft.com/office/powerpoint/2010/main" val="3702260190"/>
              </p:ext>
            </p:extLst>
          </p:nvPr>
        </p:nvGraphicFramePr>
        <p:xfrm>
          <a:off x="2699563" y="5806377"/>
          <a:ext cx="914400" cy="806450"/>
        </p:xfrm>
        <a:graphic>
          <a:graphicData uri="http://schemas.openxmlformats.org/presentationml/2006/ole">
            <mc:AlternateContent xmlns:mc="http://schemas.openxmlformats.org/markup-compatibility/2006">
              <mc:Choice xmlns:v="urn:schemas-microsoft-com:vml" Requires="v">
                <p:oleObj name="Worksheet" showAsIcon="1" r:id="rId3" imgW="914597" imgH="806311" progId="Excel.Sheet.12">
                  <p:embed/>
                </p:oleObj>
              </mc:Choice>
              <mc:Fallback>
                <p:oleObj name="Worksheet" showAsIcon="1" r:id="rId3" imgW="914597" imgH="806311" progId="Excel.Sheet.12">
                  <p:embed/>
                  <p:pic>
                    <p:nvPicPr>
                      <p:cNvPr id="9" name="Object 8">
                        <a:extLst>
                          <a:ext uri="{FF2B5EF4-FFF2-40B4-BE49-F238E27FC236}">
                            <a16:creationId xmlns:a16="http://schemas.microsoft.com/office/drawing/2014/main" id="{E1652220-4BE4-1214-1A4E-4C24000D6194}"/>
                          </a:ext>
                        </a:extLst>
                      </p:cNvPr>
                      <p:cNvPicPr/>
                      <p:nvPr/>
                    </p:nvPicPr>
                    <p:blipFill>
                      <a:blip r:embed="rId4"/>
                      <a:stretch>
                        <a:fillRect/>
                      </a:stretch>
                    </p:blipFill>
                    <p:spPr>
                      <a:xfrm>
                        <a:off x="2699563" y="5806377"/>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3729783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12</a:t>
            </a:fld>
            <a:endParaRPr lang="es-ES" dirty="0"/>
          </a:p>
        </p:txBody>
      </p:sp>
      <p:sp>
        <p:nvSpPr>
          <p:cNvPr id="4" name="Título 1">
            <a:extLst>
              <a:ext uri="{FF2B5EF4-FFF2-40B4-BE49-F238E27FC236}">
                <a16:creationId xmlns:a16="http://schemas.microsoft.com/office/drawing/2014/main" id="{06CF78D8-1740-778F-DA42-CC5ADF5AB68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1.7 Control Model</a:t>
            </a:r>
          </a:p>
        </p:txBody>
      </p:sp>
      <p:sp>
        <p:nvSpPr>
          <p:cNvPr id="5" name="Marcador de texto 5">
            <a:extLst>
              <a:ext uri="{FF2B5EF4-FFF2-40B4-BE49-F238E27FC236}">
                <a16:creationId xmlns:a16="http://schemas.microsoft.com/office/drawing/2014/main" id="{0829085A-3664-9C1B-5679-0C3F9B6661E0}"/>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6" name="Rectangle 5">
            <a:extLst>
              <a:ext uri="{FF2B5EF4-FFF2-40B4-BE49-F238E27FC236}">
                <a16:creationId xmlns:a16="http://schemas.microsoft.com/office/drawing/2014/main" id="{3C1AD958-27D0-4DB8-F4F9-782C5AB4ED16}"/>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Attach Data Risk Assessment here</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dirty="0">
                <a:ea typeface="Calibri" panose="020F0502020204030204" pitchFamily="34" charset="0"/>
                <a:cs typeface="Arial" panose="020B0604020202020204" pitchFamily="34" charset="0"/>
              </a:rPr>
              <a:t>Risk assessment has been fully completed as part of deliverables delivered in Delivery Hub tool as part of IT Governance methodology. </a:t>
            </a:r>
          </a:p>
        </p:txBody>
      </p:sp>
    </p:spTree>
    <p:extLst>
      <p:ext uri="{BB962C8B-B14F-4D97-AF65-F5344CB8AC3E}">
        <p14:creationId xmlns:p14="http://schemas.microsoft.com/office/powerpoint/2010/main" val="368058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02</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Technical Design</a:t>
            </a:r>
          </a:p>
        </p:txBody>
      </p:sp>
    </p:spTree>
    <p:extLst>
      <p:ext uri="{BB962C8B-B14F-4D97-AF65-F5344CB8AC3E}">
        <p14:creationId xmlns:p14="http://schemas.microsoft.com/office/powerpoint/2010/main" val="17498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14</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building block view shows the static decomposition of the system into building blocks (modules, components, subsystems, classes, interfaces, packages, libraries, frameworks, layers, partitions, tiers, functions, macros, operations, data structures, …) as well as their dependencies (relationships, associations, …)</a:t>
            </a:r>
          </a:p>
          <a:p>
            <a:r>
              <a:rPr lang="en-US" sz="1400" i="1" dirty="0">
                <a:solidFill>
                  <a:schemeClr val="bg1">
                    <a:lumMod val="65000"/>
                  </a:schemeClr>
                </a:solidFill>
              </a:rPr>
              <a:t>Based on new Santander Global Platform* model: </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2.1 Architectural Building Blocks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2078" name="Picture 2077">
            <a:extLst>
              <a:ext uri="{FF2B5EF4-FFF2-40B4-BE49-F238E27FC236}">
                <a16:creationId xmlns:a16="http://schemas.microsoft.com/office/drawing/2014/main" id="{E1A49B66-E981-E39C-BB84-3A13847EECE9}"/>
              </a:ext>
            </a:extLst>
          </p:cNvPr>
          <p:cNvPicPr>
            <a:picLocks noChangeAspect="1"/>
          </p:cNvPicPr>
          <p:nvPr/>
        </p:nvPicPr>
        <p:blipFill rotWithShape="1">
          <a:blip r:embed="rId2"/>
          <a:srcRect t="1649" b="1"/>
          <a:stretch/>
        </p:blipFill>
        <p:spPr>
          <a:xfrm>
            <a:off x="239488" y="2058767"/>
            <a:ext cx="7682123" cy="3428966"/>
          </a:xfrm>
          <a:prstGeom prst="rect">
            <a:avLst/>
          </a:prstGeom>
          <a:ln>
            <a:solidFill>
              <a:schemeClr val="tx1"/>
            </a:solidFill>
          </a:ln>
        </p:spPr>
      </p:pic>
      <p:pic>
        <p:nvPicPr>
          <p:cNvPr id="4" name="Picture 3">
            <a:extLst>
              <a:ext uri="{FF2B5EF4-FFF2-40B4-BE49-F238E27FC236}">
                <a16:creationId xmlns:a16="http://schemas.microsoft.com/office/drawing/2014/main" id="{FAF87CDD-6CDB-8681-4B67-2CB3BCEE77FF}"/>
              </a:ext>
            </a:extLst>
          </p:cNvPr>
          <p:cNvPicPr>
            <a:picLocks noChangeAspect="1"/>
          </p:cNvPicPr>
          <p:nvPr/>
        </p:nvPicPr>
        <p:blipFill>
          <a:blip r:embed="rId3"/>
          <a:stretch>
            <a:fillRect/>
          </a:stretch>
        </p:blipFill>
        <p:spPr>
          <a:xfrm>
            <a:off x="8101584" y="4101863"/>
            <a:ext cx="4032630" cy="1760131"/>
          </a:xfrm>
          <a:prstGeom prst="rect">
            <a:avLst/>
          </a:prstGeom>
          <a:ln>
            <a:solidFill>
              <a:schemeClr val="tx1"/>
            </a:solidFill>
          </a:ln>
        </p:spPr>
      </p:pic>
      <p:sp>
        <p:nvSpPr>
          <p:cNvPr id="3" name="TextBox 2">
            <a:extLst>
              <a:ext uri="{FF2B5EF4-FFF2-40B4-BE49-F238E27FC236}">
                <a16:creationId xmlns:a16="http://schemas.microsoft.com/office/drawing/2014/main" id="{5C02E486-46E9-CB85-F579-5F349B2FAE3D}"/>
              </a:ext>
            </a:extLst>
          </p:cNvPr>
          <p:cNvSpPr txBox="1"/>
          <p:nvPr/>
        </p:nvSpPr>
        <p:spPr>
          <a:xfrm>
            <a:off x="476835" y="6510107"/>
            <a:ext cx="3754316" cy="230832"/>
          </a:xfrm>
          <a:prstGeom prst="rect">
            <a:avLst/>
          </a:prstGeom>
          <a:noFill/>
        </p:spPr>
        <p:txBody>
          <a:bodyPr wrap="square" rtlCol="0">
            <a:spAutoFit/>
          </a:bodyPr>
          <a:lstStyle/>
          <a:p>
            <a:r>
              <a:rPr lang="en-US" sz="900" dirty="0"/>
              <a:t>*</a:t>
            </a:r>
            <a:r>
              <a:rPr lang="en-US" sz="900" dirty="0">
                <a:effectLst/>
                <a:latin typeface="Calibri" panose="020F0502020204030204" pitchFamily="34" charset="0"/>
                <a:hlinkClick r:id="rId4"/>
              </a:rPr>
              <a:t> https://santandernet.sharepoint.com/sites/SantanderPlatforms</a:t>
            </a:r>
            <a:endParaRPr lang="en-US" sz="900" dirty="0"/>
          </a:p>
        </p:txBody>
      </p:sp>
    </p:spTree>
    <p:extLst>
      <p:ext uri="{BB962C8B-B14F-4D97-AF65-F5344CB8AC3E}">
        <p14:creationId xmlns:p14="http://schemas.microsoft.com/office/powerpoint/2010/main" val="396916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15</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It’s a technical view where show Software components and their relationship. If needed, show the relevant physical infrastructure components. It contains:</a:t>
            </a:r>
          </a:p>
          <a:p>
            <a:pPr marL="285750" indent="-285750">
              <a:buFont typeface="Arial" panose="020B0604020202020204" pitchFamily="34" charset="0"/>
              <a:buChar char="•"/>
            </a:pPr>
            <a:r>
              <a:rPr lang="en-US" sz="1400" i="1" dirty="0">
                <a:solidFill>
                  <a:schemeClr val="bg1">
                    <a:lumMod val="65000"/>
                  </a:schemeClr>
                </a:solidFill>
              </a:rPr>
              <a:t>Technological Components ( Technical domain (</a:t>
            </a:r>
            <a:r>
              <a:rPr lang="en-US" sz="1400" i="1" dirty="0" err="1">
                <a:solidFill>
                  <a:schemeClr val="bg1">
                    <a:lumMod val="65000"/>
                  </a:schemeClr>
                </a:solidFill>
              </a:rPr>
              <a:t>apis</a:t>
            </a:r>
            <a:r>
              <a:rPr lang="en-US" sz="1400" i="1" dirty="0">
                <a:solidFill>
                  <a:schemeClr val="bg1">
                    <a:lumMod val="65000"/>
                  </a:schemeClr>
                </a:solidFill>
              </a:rPr>
              <a:t>, Microservices, data, events...) ) and third-party dependencies, Users</a:t>
            </a:r>
          </a:p>
          <a:p>
            <a:pPr marL="285750" indent="-285750">
              <a:buFont typeface="Arial" panose="020B0604020202020204" pitchFamily="34" charset="0"/>
              <a:buChar char="•"/>
            </a:pPr>
            <a:r>
              <a:rPr lang="en-US" sz="1400" i="1" dirty="0">
                <a:solidFill>
                  <a:schemeClr val="bg1">
                    <a:lumMod val="65000"/>
                  </a:schemeClr>
                </a:solidFill>
              </a:rPr>
              <a:t>Integrations between them (asynchronous/synchronous, communication protocols, communication security).</a:t>
            </a:r>
          </a:p>
          <a:p>
            <a:pPr marL="285750" indent="-285750">
              <a:buFont typeface="Arial" panose="020B0604020202020204" pitchFamily="34" charset="0"/>
              <a:buChar char="•"/>
            </a:pPr>
            <a:r>
              <a:rPr lang="en-US" sz="1400" i="1" dirty="0">
                <a:solidFill>
                  <a:schemeClr val="bg1">
                    <a:lumMod val="65000"/>
                  </a:schemeClr>
                </a:solidFill>
              </a:rPr>
              <a:t>Observability (technical solution with focus on logs, traces and metrics), </a:t>
            </a:r>
          </a:p>
          <a:p>
            <a:pPr marL="285750" indent="-285750">
              <a:buFont typeface="Arial" panose="020B0604020202020204" pitchFamily="34" charset="0"/>
              <a:buChar char="•"/>
            </a:pPr>
            <a:r>
              <a:rPr lang="en-US" sz="1400" i="1" dirty="0">
                <a:solidFill>
                  <a:schemeClr val="bg1">
                    <a:lumMod val="65000"/>
                  </a:schemeClr>
                </a:solidFill>
              </a:rPr>
              <a:t>Deployment platform (private Cloud, public Cloud, on premise)</a:t>
            </a:r>
          </a:p>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2.2 Technical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2247" name="Group 2246">
            <a:extLst>
              <a:ext uri="{FF2B5EF4-FFF2-40B4-BE49-F238E27FC236}">
                <a16:creationId xmlns:a16="http://schemas.microsoft.com/office/drawing/2014/main" id="{B89D6E3A-8535-0B2E-F7E2-966CEBE06630}"/>
              </a:ext>
            </a:extLst>
          </p:cNvPr>
          <p:cNvGrpSpPr>
            <a:grpSpLocks noChangeAspect="1"/>
          </p:cNvGrpSpPr>
          <p:nvPr/>
        </p:nvGrpSpPr>
        <p:grpSpPr>
          <a:xfrm>
            <a:off x="495299" y="2775032"/>
            <a:ext cx="5522579" cy="2147110"/>
            <a:chOff x="265720" y="1738648"/>
            <a:chExt cx="11389659" cy="4470952"/>
          </a:xfrm>
        </p:grpSpPr>
        <p:sp>
          <p:nvSpPr>
            <p:cNvPr id="2161" name="Rectángulo redondeado 101">
              <a:extLst>
                <a:ext uri="{FF2B5EF4-FFF2-40B4-BE49-F238E27FC236}">
                  <a16:creationId xmlns:a16="http://schemas.microsoft.com/office/drawing/2014/main" id="{7CEE0311-9A87-8360-1094-BEE28A03FEDA}"/>
                </a:ext>
              </a:extLst>
            </p:cNvPr>
            <p:cNvSpPr/>
            <p:nvPr/>
          </p:nvSpPr>
          <p:spPr>
            <a:xfrm>
              <a:off x="265720" y="1738648"/>
              <a:ext cx="11389659" cy="4470952"/>
            </a:xfrm>
            <a:prstGeom prst="roundRect">
              <a:avLst/>
            </a:prstGeom>
            <a:noFill/>
            <a:ln w="9525">
              <a:solidFill>
                <a:srgbClr val="FF0000"/>
              </a:solidFill>
              <a:miter lim="800000"/>
              <a:headEnd/>
              <a:tailEnd/>
            </a:ln>
            <a:effectLst/>
          </p:spPr>
          <p:txBody>
            <a:bodyPr/>
            <a:lstStyle/>
            <a:p>
              <a:pPr eaLnBrk="0" hangingPunct="0">
                <a:spcBef>
                  <a:spcPct val="0"/>
                </a:spcBef>
                <a:buClrTx/>
              </a:pPr>
              <a:r>
                <a:rPr lang="es-MX" sz="1050" b="1" dirty="0"/>
                <a:t>Red interna BSM</a:t>
              </a:r>
            </a:p>
            <a:p>
              <a:pPr eaLnBrk="0" hangingPunct="0">
                <a:spcBef>
                  <a:spcPct val="0"/>
                </a:spcBef>
                <a:buClrTx/>
                <a:buFontTx/>
                <a:buNone/>
              </a:pPr>
              <a:endParaRPr lang="es-MX" sz="1200" b="1" dirty="0">
                <a:solidFill>
                  <a:schemeClr val="tx1"/>
                </a:solidFill>
                <a:latin typeface="Arial" charset="0"/>
              </a:endParaRPr>
            </a:p>
          </p:txBody>
        </p:sp>
        <p:sp>
          <p:nvSpPr>
            <p:cNvPr id="2162" name="45 Rectángulo">
              <a:extLst>
                <a:ext uri="{FF2B5EF4-FFF2-40B4-BE49-F238E27FC236}">
                  <a16:creationId xmlns:a16="http://schemas.microsoft.com/office/drawing/2014/main" id="{9E87700A-05FD-B4D5-C03F-BD9A9E986088}"/>
                </a:ext>
              </a:extLst>
            </p:cNvPr>
            <p:cNvSpPr/>
            <p:nvPr/>
          </p:nvSpPr>
          <p:spPr bwMode="auto">
            <a:xfrm>
              <a:off x="7862783" y="46583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3" name="45 Rectángulo">
              <a:extLst>
                <a:ext uri="{FF2B5EF4-FFF2-40B4-BE49-F238E27FC236}">
                  <a16:creationId xmlns:a16="http://schemas.microsoft.com/office/drawing/2014/main" id="{B680DF17-DC19-65A0-6AE0-86741C8A6BFF}"/>
                </a:ext>
              </a:extLst>
            </p:cNvPr>
            <p:cNvSpPr/>
            <p:nvPr/>
          </p:nvSpPr>
          <p:spPr bwMode="auto">
            <a:xfrm>
              <a:off x="7710383" y="45059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4" name="Rectangle 135">
              <a:extLst>
                <a:ext uri="{FF2B5EF4-FFF2-40B4-BE49-F238E27FC236}">
                  <a16:creationId xmlns:a16="http://schemas.microsoft.com/office/drawing/2014/main" id="{BF56E3EF-3BF8-17F4-654D-1ADD1915B528}"/>
                </a:ext>
              </a:extLst>
            </p:cNvPr>
            <p:cNvSpPr/>
            <p:nvPr/>
          </p:nvSpPr>
          <p:spPr>
            <a:xfrm>
              <a:off x="3237168" y="2252065"/>
              <a:ext cx="4131372" cy="3757804"/>
            </a:xfrm>
            <a:prstGeom prst="rect">
              <a:avLst/>
            </a:prstGeom>
            <a:solidFill>
              <a:srgbClr val="FF8F8F"/>
            </a:solidFill>
            <a:ln>
              <a:solidFill>
                <a:srgbClr val="FFFFFF">
                  <a:lumMod val="50000"/>
                </a:srgbClr>
              </a:solidFill>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s-ES" sz="300" b="1" i="0" u="none" strike="noStrike" kern="0" cap="none" spc="0" normalizeH="0" baseline="0" noProof="0">
                <a:ln>
                  <a:noFill/>
                </a:ln>
                <a:solidFill>
                  <a:srgbClr val="FFFFFF"/>
                </a:solidFill>
                <a:effectLst/>
                <a:uLnTx/>
                <a:uFillTx/>
              </a:endParaRPr>
            </a:p>
          </p:txBody>
        </p:sp>
        <p:sp>
          <p:nvSpPr>
            <p:cNvPr id="2165" name="Rectángulo redondeado 101">
              <a:extLst>
                <a:ext uri="{FF2B5EF4-FFF2-40B4-BE49-F238E27FC236}">
                  <a16:creationId xmlns:a16="http://schemas.microsoft.com/office/drawing/2014/main" id="{38E94BA9-55F3-1971-BCB9-61C026C8076C}"/>
                </a:ext>
              </a:extLst>
            </p:cNvPr>
            <p:cNvSpPr/>
            <p:nvPr/>
          </p:nvSpPr>
          <p:spPr>
            <a:xfrm>
              <a:off x="488100" y="2476183"/>
              <a:ext cx="1926567" cy="2053139"/>
            </a:xfrm>
            <a:prstGeom prst="roundRect">
              <a:avLst/>
            </a:prstGeom>
            <a:noFill/>
            <a:ln w="9525">
              <a:solidFill>
                <a:schemeClr val="tx1">
                  <a:lumMod val="85000"/>
                  <a:lumOff val="15000"/>
                </a:schemeClr>
              </a:solidFill>
              <a:prstDash val="dash"/>
              <a:miter lim="800000"/>
              <a:headEnd/>
              <a:tailEnd/>
            </a:ln>
            <a:effectLst/>
          </p:spPr>
          <p:txBody>
            <a:bodyPr anchor="t"/>
            <a:lstStyle/>
            <a:p>
              <a:pPr eaLnBrk="0" fontAlgn="base" hangingPunct="0">
                <a:spcBef>
                  <a:spcPct val="0"/>
                </a:spcBef>
                <a:spcAft>
                  <a:spcPct val="0"/>
                </a:spcAft>
              </a:pPr>
              <a:r>
                <a:rPr lang="es-MX" sz="500" b="1" kern="0">
                  <a:solidFill>
                    <a:schemeClr val="tx1">
                      <a:lumMod val="85000"/>
                      <a:lumOff val="15000"/>
                    </a:schemeClr>
                  </a:solidFill>
                </a:rPr>
                <a:t>Ejecutivos en Sucursales</a:t>
              </a:r>
            </a:p>
          </p:txBody>
        </p:sp>
        <p:pic>
          <p:nvPicPr>
            <p:cNvPr id="2166" name="Picture 12" descr="Resultado de imagen para banco icono">
              <a:extLst>
                <a:ext uri="{FF2B5EF4-FFF2-40B4-BE49-F238E27FC236}">
                  <a16:creationId xmlns:a16="http://schemas.microsoft.com/office/drawing/2014/main" id="{F179AE35-5F8D-0CC8-5B60-0B9986D7CF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934" y="2781389"/>
              <a:ext cx="406937" cy="406937"/>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67" name="Rectángulo redondeado 101">
              <a:extLst>
                <a:ext uri="{FF2B5EF4-FFF2-40B4-BE49-F238E27FC236}">
                  <a16:creationId xmlns:a16="http://schemas.microsoft.com/office/drawing/2014/main" id="{9879D878-16C7-9B37-03ED-191AB1B165B4}"/>
                </a:ext>
              </a:extLst>
            </p:cNvPr>
            <p:cNvSpPr/>
            <p:nvPr/>
          </p:nvSpPr>
          <p:spPr>
            <a:xfrm>
              <a:off x="7593234" y="2406556"/>
              <a:ext cx="1631210" cy="1111013"/>
            </a:xfrm>
            <a:prstGeom prst="roundRect">
              <a:avLst/>
            </a:prstGeom>
            <a:solidFill>
              <a:srgbClr val="5F5F5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s-MX" sz="500" b="1" kern="0">
                  <a:solidFill>
                    <a:srgbClr val="FFFFFF"/>
                  </a:solidFill>
                </a:rPr>
                <a:t>Herramienta de Contratos</a:t>
              </a:r>
            </a:p>
            <a:p>
              <a:pPr eaLnBrk="0" fontAlgn="base" hangingPunct="0">
                <a:spcBef>
                  <a:spcPct val="0"/>
                </a:spcBef>
                <a:spcAft>
                  <a:spcPct val="0"/>
                </a:spcAft>
              </a:pPr>
              <a:endParaRPr lang="es-MX" sz="500" b="1" kern="0">
                <a:solidFill>
                  <a:srgbClr val="FFFFFF"/>
                </a:solidFill>
              </a:endParaRPr>
            </a:p>
          </p:txBody>
        </p:sp>
        <p:sp>
          <p:nvSpPr>
            <p:cNvPr id="2168" name="Rectangle 13">
              <a:extLst>
                <a:ext uri="{FF2B5EF4-FFF2-40B4-BE49-F238E27FC236}">
                  <a16:creationId xmlns:a16="http://schemas.microsoft.com/office/drawing/2014/main" id="{4083505B-E036-8098-9455-5FB18E31F5B3}"/>
                </a:ext>
              </a:extLst>
            </p:cNvPr>
            <p:cNvSpPr>
              <a:spLocks noChangeArrowheads="1"/>
            </p:cNvSpPr>
            <p:nvPr/>
          </p:nvSpPr>
          <p:spPr bwMode="auto">
            <a:xfrm>
              <a:off x="9945264" y="1991465"/>
              <a:ext cx="1415591" cy="936849"/>
            </a:xfrm>
            <a:prstGeom prst="rect">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n-GB" sz="500" b="1" kern="0" err="1">
                  <a:solidFill>
                    <a:srgbClr val="000000"/>
                  </a:solidFill>
                </a:rPr>
                <a:t>Ondemand</a:t>
              </a:r>
              <a:endParaRPr lang="en-GB" sz="500" b="1" kern="0">
                <a:solidFill>
                  <a:srgbClr val="000000"/>
                </a:solidFill>
              </a:endParaRPr>
            </a:p>
          </p:txBody>
        </p:sp>
        <p:sp>
          <p:nvSpPr>
            <p:cNvPr id="2169" name="155 Elipse">
              <a:extLst>
                <a:ext uri="{FF2B5EF4-FFF2-40B4-BE49-F238E27FC236}">
                  <a16:creationId xmlns:a16="http://schemas.microsoft.com/office/drawing/2014/main" id="{FF211566-9DB2-27CC-0D75-6C29AD089B92}"/>
                </a:ext>
              </a:extLst>
            </p:cNvPr>
            <p:cNvSpPr/>
            <p:nvPr/>
          </p:nvSpPr>
          <p:spPr>
            <a:xfrm>
              <a:off x="8918353" y="3001734"/>
              <a:ext cx="276225" cy="284163"/>
            </a:xfrm>
            <a:prstGeom prst="ellipse">
              <a:avLst/>
            </a:prstGeom>
            <a:noFill/>
            <a:ln w="25400" cap="flat" cmpd="sng" algn="ctr">
              <a:noFill/>
              <a:prstDash val="solid"/>
            </a:ln>
            <a:effectLst/>
          </p:spPr>
          <p:txBody>
            <a:bodyPr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ES" sz="200" b="0" i="0" u="none" strike="noStrike" kern="0" cap="none" spc="0" normalizeH="0" baseline="0" noProof="0">
                <a:ln>
                  <a:noFill/>
                </a:ln>
                <a:solidFill>
                  <a:srgbClr val="FFFFFF"/>
                </a:solidFill>
                <a:effectLst/>
                <a:uLnTx/>
                <a:uFillTx/>
                <a:latin typeface="Arial"/>
                <a:ea typeface="+mn-ea"/>
                <a:cs typeface="+mn-cs"/>
              </a:endParaRPr>
            </a:p>
          </p:txBody>
        </p:sp>
        <p:sp>
          <p:nvSpPr>
            <p:cNvPr id="2170" name="10263 Cilindro">
              <a:extLst>
                <a:ext uri="{FF2B5EF4-FFF2-40B4-BE49-F238E27FC236}">
                  <a16:creationId xmlns:a16="http://schemas.microsoft.com/office/drawing/2014/main" id="{FD5718C3-1E11-C1D7-A87C-4CCDE92F3544}"/>
                </a:ext>
              </a:extLst>
            </p:cNvPr>
            <p:cNvSpPr>
              <a:spLocks noChangeArrowheads="1"/>
            </p:cNvSpPr>
            <p:nvPr/>
          </p:nvSpPr>
          <p:spPr bwMode="auto">
            <a:xfrm>
              <a:off x="8260911" y="2856594"/>
              <a:ext cx="862236" cy="498627"/>
            </a:xfrm>
            <a:prstGeom prst="can">
              <a:avLst>
                <a:gd name="adj" fmla="val 25000"/>
              </a:avLst>
            </a:prstGeom>
            <a:solidFill>
              <a:srgbClr val="5F5F5F"/>
            </a:solid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eaLnBrk="0" fontAlgn="base" hangingPunct="0">
                <a:spcBef>
                  <a:spcPct val="0"/>
                </a:spcBef>
                <a:spcAft>
                  <a:spcPct val="0"/>
                </a:spcAft>
              </a:pPr>
              <a:r>
                <a:rPr lang="es-MX" sz="400" b="1" kern="0">
                  <a:solidFill>
                    <a:srgbClr val="FFFFFF"/>
                  </a:solidFill>
                </a:rPr>
                <a:t>Repositorio de Plantillas</a:t>
              </a:r>
            </a:p>
          </p:txBody>
        </p:sp>
        <p:sp>
          <p:nvSpPr>
            <p:cNvPr id="2171" name="10263 Cilindro">
              <a:extLst>
                <a:ext uri="{FF2B5EF4-FFF2-40B4-BE49-F238E27FC236}">
                  <a16:creationId xmlns:a16="http://schemas.microsoft.com/office/drawing/2014/main" id="{FF7450F3-4009-5B62-9059-391781B6FC23}"/>
                </a:ext>
              </a:extLst>
            </p:cNvPr>
            <p:cNvSpPr>
              <a:spLocks noChangeArrowheads="1"/>
            </p:cNvSpPr>
            <p:nvPr/>
          </p:nvSpPr>
          <p:spPr bwMode="auto">
            <a:xfrm>
              <a:off x="10090571" y="2308545"/>
              <a:ext cx="1118850" cy="496124"/>
            </a:xfrm>
            <a:prstGeom prst="can">
              <a:avLst>
                <a:gd name="adj" fmla="val 25000"/>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ctr" eaLnBrk="0" fontAlgn="base" hangingPunct="0">
                <a:spcBef>
                  <a:spcPct val="0"/>
                </a:spcBef>
                <a:spcAft>
                  <a:spcPct val="0"/>
                </a:spcAft>
              </a:pPr>
              <a:r>
                <a:rPr lang="es-MX" sz="400" b="1" kern="0">
                  <a:solidFill>
                    <a:srgbClr val="000000"/>
                  </a:solidFill>
                </a:rPr>
                <a:t>Almacenamiento</a:t>
              </a:r>
            </a:p>
            <a:p>
              <a:pPr algn="ctr" eaLnBrk="0" fontAlgn="base" hangingPunct="0">
                <a:spcBef>
                  <a:spcPct val="0"/>
                </a:spcBef>
                <a:spcAft>
                  <a:spcPct val="0"/>
                </a:spcAft>
              </a:pPr>
              <a:r>
                <a:rPr lang="es-MX" sz="400" b="1" kern="0">
                  <a:solidFill>
                    <a:srgbClr val="000000"/>
                  </a:solidFill>
                </a:rPr>
                <a:t>(Expediente)</a:t>
              </a:r>
            </a:p>
          </p:txBody>
        </p:sp>
        <p:cxnSp>
          <p:nvCxnSpPr>
            <p:cNvPr id="2172" name="Conector recto de flecha 53">
              <a:extLst>
                <a:ext uri="{FF2B5EF4-FFF2-40B4-BE49-F238E27FC236}">
                  <a16:creationId xmlns:a16="http://schemas.microsoft.com/office/drawing/2014/main" id="{01764A8E-7701-3836-7964-ECE97CEAF10B}"/>
                </a:ext>
              </a:extLst>
            </p:cNvPr>
            <p:cNvCxnSpPr>
              <a:stCxn id="2167" idx="3"/>
              <a:endCxn id="2171" idx="2"/>
            </p:cNvCxnSpPr>
            <p:nvPr/>
          </p:nvCxnSpPr>
          <p:spPr>
            <a:xfrm flipV="1">
              <a:off x="9224444" y="2556607"/>
              <a:ext cx="866127" cy="405456"/>
            </a:xfrm>
            <a:prstGeom prst="bentConnector3">
              <a:avLst>
                <a:gd name="adj1" fmla="val 50000"/>
              </a:avLst>
            </a:prstGeom>
            <a:noFill/>
            <a:ln w="25400" cap="flat" cmpd="sng" algn="ctr">
              <a:solidFill>
                <a:srgbClr val="000000"/>
              </a:solidFill>
              <a:prstDash val="solid"/>
              <a:tailEnd type="triangle"/>
            </a:ln>
            <a:effectLst/>
          </p:spPr>
        </p:cxnSp>
        <p:grpSp>
          <p:nvGrpSpPr>
            <p:cNvPr id="2173" name="Grupo 192">
              <a:extLst>
                <a:ext uri="{FF2B5EF4-FFF2-40B4-BE49-F238E27FC236}">
                  <a16:creationId xmlns:a16="http://schemas.microsoft.com/office/drawing/2014/main" id="{DB9A9814-01D9-D0DE-1449-3E0D4100CDB9}"/>
                </a:ext>
              </a:extLst>
            </p:cNvPr>
            <p:cNvGrpSpPr/>
            <p:nvPr/>
          </p:nvGrpSpPr>
          <p:grpSpPr>
            <a:xfrm>
              <a:off x="543388" y="2900413"/>
              <a:ext cx="1713935" cy="1187847"/>
              <a:chOff x="-1414505" y="1627544"/>
              <a:chExt cx="1713935" cy="1187847"/>
            </a:xfrm>
          </p:grpSpPr>
          <p:sp>
            <p:nvSpPr>
              <p:cNvPr id="2174" name="Rectángulo 193">
                <a:extLst>
                  <a:ext uri="{FF2B5EF4-FFF2-40B4-BE49-F238E27FC236}">
                    <a16:creationId xmlns:a16="http://schemas.microsoft.com/office/drawing/2014/main" id="{EEBAE22B-CD6C-BF30-2789-1A2F3D6786E5}"/>
                  </a:ext>
                </a:extLst>
              </p:cNvPr>
              <p:cNvSpPr/>
              <p:nvPr/>
            </p:nvSpPr>
            <p:spPr>
              <a:xfrm>
                <a:off x="-417731" y="2426382"/>
                <a:ext cx="164000" cy="230755"/>
              </a:xfrm>
              <a:prstGeom prst="rect">
                <a:avLst/>
              </a:prstGeom>
              <a:solidFill>
                <a:srgbClr val="E75353">
                  <a:lumMod val="40000"/>
                  <a:lumOff val="60000"/>
                </a:srgbClr>
              </a:solidFill>
              <a:ln w="9525" cap="flat" cmpd="sng" algn="ctr">
                <a:solidFill>
                  <a:srgbClr val="FFFFFF"/>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026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1" i="0" u="none" strike="noStrike" kern="0" cap="none" spc="0" normalizeH="0" baseline="0" noProof="0">
                  <a:ln>
                    <a:noFill/>
                  </a:ln>
                  <a:solidFill>
                    <a:srgbClr val="000000">
                      <a:lumMod val="75000"/>
                      <a:lumOff val="25000"/>
                    </a:srgbClr>
                  </a:solidFill>
                  <a:effectLst/>
                  <a:uLnTx/>
                  <a:uFillTx/>
                </a:endParaRPr>
              </a:p>
            </p:txBody>
          </p:sp>
          <p:sp>
            <p:nvSpPr>
              <p:cNvPr id="2175" name="Triángulo rectángulo 194">
                <a:extLst>
                  <a:ext uri="{FF2B5EF4-FFF2-40B4-BE49-F238E27FC236}">
                    <a16:creationId xmlns:a16="http://schemas.microsoft.com/office/drawing/2014/main" id="{C9060E17-F73F-9559-83DD-5AB9E3D62FB7}"/>
                  </a:ext>
                </a:extLst>
              </p:cNvPr>
              <p:cNvSpPr/>
              <p:nvPr/>
            </p:nvSpPr>
            <p:spPr>
              <a:xfrm rot="16200000">
                <a:off x="-1114516" y="1948554"/>
                <a:ext cx="948694" cy="457257"/>
              </a:xfrm>
              <a:prstGeom prst="rtTriangle">
                <a:avLst/>
              </a:prstGeom>
              <a:solidFill>
                <a:srgbClr val="E75353">
                  <a:lumMod val="40000"/>
                  <a:lumOff val="60000"/>
                </a:srgbClr>
              </a:solidFill>
              <a:ln w="25400" cap="flat" cmpd="sng" algn="ctr">
                <a:solidFill>
                  <a:srgbClr val="E75353">
                    <a:lumMod val="20000"/>
                    <a:lumOff val="80000"/>
                  </a:srgbClr>
                </a:solidFill>
                <a:prstDash val="solid"/>
              </a:ln>
              <a:effectLst/>
            </p:spPr>
            <p:txBody>
              <a:bodyPr rtlCol="0"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FFFFFF"/>
                  </a:solidFill>
                  <a:effectLst/>
                  <a:uLnTx/>
                  <a:uFillTx/>
                  <a:latin typeface="Arial"/>
                  <a:ea typeface="+mn-ea"/>
                  <a:cs typeface="+mn-cs"/>
                </a:endParaRPr>
              </a:p>
            </p:txBody>
          </p:sp>
          <p:sp>
            <p:nvSpPr>
              <p:cNvPr id="2176" name="47 Rectángulo redondeado">
                <a:extLst>
                  <a:ext uri="{FF2B5EF4-FFF2-40B4-BE49-F238E27FC236}">
                    <a16:creationId xmlns:a16="http://schemas.microsoft.com/office/drawing/2014/main" id="{71B2FF66-8652-E027-4984-59170FDCAF56}"/>
                  </a:ext>
                </a:extLst>
              </p:cNvPr>
              <p:cNvSpPr/>
              <p:nvPr/>
            </p:nvSpPr>
            <p:spPr bwMode="auto">
              <a:xfrm>
                <a:off x="-567099" y="1675185"/>
                <a:ext cx="866529" cy="1056242"/>
              </a:xfrm>
              <a:prstGeom prst="roundRect">
                <a:avLst/>
              </a:prstGeom>
              <a:solidFill>
                <a:srgbClr val="000000">
                  <a:lumMod val="65000"/>
                  <a:lumOff val="35000"/>
                </a:srgbClr>
              </a:solidFill>
              <a:ln w="9525" cap="flat" cmpd="sng" algn="ctr">
                <a:noFill/>
                <a:prstDash val="solid"/>
                <a:round/>
                <a:headEnd type="none" w="med" len="med"/>
                <a:tailEnd type="none" w="med" len="med"/>
              </a:ln>
              <a:effectLst/>
              <a:scene3d>
                <a:camera prst="perspectiveContrastingRightFacing" fov="3600000">
                  <a:rot lat="55420" lon="2435145" rev="21586241"/>
                </a:camera>
                <a:lightRig rig="threePt" dir="t"/>
              </a:scene3d>
              <a:sp3d extrusionH="171450"/>
            </p:spPr>
            <p:txBody>
              <a:bodyPr vert="horz" wrap="square" lIns="97749" tIns="48875" rIns="97749" bIns="48875" numCol="1" rtlCol="0" anchor="t" anchorCtr="0" compatLnSpc="1">
                <a:prstTxWarp prst="textNoShape">
                  <a:avLst/>
                </a:prstTxWarp>
                <a:noAutofit/>
              </a:bodyPr>
              <a:lstStyle/>
              <a:p>
                <a:pPr marL="0" marR="0" lvl="0" indent="0" defTabSz="9778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000000"/>
                  </a:solidFill>
                  <a:effectLst/>
                  <a:uLnTx/>
                  <a:uFillTx/>
                </a:endParaRPr>
              </a:p>
            </p:txBody>
          </p:sp>
          <p:pic>
            <p:nvPicPr>
              <p:cNvPr id="2177" name="Picture 3">
                <a:extLst>
                  <a:ext uri="{FF2B5EF4-FFF2-40B4-BE49-F238E27FC236}">
                    <a16:creationId xmlns:a16="http://schemas.microsoft.com/office/drawing/2014/main" id="{75195037-11D8-61D5-2991-BF81A9608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362" y="1799212"/>
                <a:ext cx="810423" cy="859018"/>
              </a:xfrm>
              <a:prstGeom prst="rect">
                <a:avLst/>
              </a:prstGeom>
              <a:noFill/>
              <a:ln>
                <a:noFill/>
              </a:ln>
              <a:effectLst/>
              <a:scene3d>
                <a:camera prst="perspectiveContrastingRightFacing" fov="3600000">
                  <a:rot lat="55420" lon="2435145" rev="21586241"/>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78" name="143 CuadroTexto">
                <a:extLst>
                  <a:ext uri="{FF2B5EF4-FFF2-40B4-BE49-F238E27FC236}">
                    <a16:creationId xmlns:a16="http://schemas.microsoft.com/office/drawing/2014/main" id="{46826CDF-B86F-8A21-FAB6-3C76B7E66E48}"/>
                  </a:ext>
                </a:extLst>
              </p:cNvPr>
              <p:cNvSpPr txBox="1"/>
              <p:nvPr/>
            </p:nvSpPr>
            <p:spPr>
              <a:xfrm>
                <a:off x="-497440" y="1627544"/>
                <a:ext cx="783128" cy="256633"/>
              </a:xfrm>
              <a:prstGeom prst="rect">
                <a:avLst/>
              </a:prstGeom>
              <a:noFill/>
            </p:spPr>
            <p:txBody>
              <a:bodyPr wrap="none" rtlCol="0">
                <a:spAutoFit/>
              </a:bodyPr>
              <a:lstStyle>
                <a:defPPr>
                  <a:defRPr lang="es-MX"/>
                </a:defPPr>
                <a:lvl1pPr algn="ctr">
                  <a:defRPr sz="1110"/>
                </a:lvl1p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300" b="1" i="0" u="none" strike="noStrike" kern="0" cap="none" spc="0" normalizeH="0" baseline="0" noProof="0">
                    <a:ln>
                      <a:noFill/>
                    </a:ln>
                    <a:solidFill>
                      <a:srgbClr val="FFFFFF"/>
                    </a:solidFill>
                    <a:effectLst/>
                    <a:uLnTx/>
                    <a:uFillTx/>
                  </a:rPr>
                  <a:t>&lt;&lt;Browser&gt;&gt;</a:t>
                </a:r>
              </a:p>
            </p:txBody>
          </p:sp>
          <p:pic>
            <p:nvPicPr>
              <p:cNvPr id="2179" name="Picture 3">
                <a:extLst>
                  <a:ext uri="{FF2B5EF4-FFF2-40B4-BE49-F238E27FC236}">
                    <a16:creationId xmlns:a16="http://schemas.microsoft.com/office/drawing/2014/main" id="{AD2C7929-6A18-1DFE-0AF4-F019078D7E9E}"/>
                  </a:ext>
                </a:extLst>
              </p:cNvPr>
              <p:cNvPicPr>
                <a:picLocks noChangeAspect="1" noChangeArrowheads="1"/>
              </p:cNvPicPr>
              <p:nvPr/>
            </p:nvPicPr>
            <p:blipFill>
              <a:blip r:embed="rId4" cstate="print"/>
              <a:srcRect l="12494" t="10727" r="14328" b="7527"/>
              <a:stretch>
                <a:fillRect/>
              </a:stretch>
            </p:blipFill>
            <p:spPr bwMode="auto">
              <a:xfrm>
                <a:off x="-429287" y="1803430"/>
                <a:ext cx="612445" cy="807609"/>
              </a:xfrm>
              <a:prstGeom prst="rect">
                <a:avLst/>
              </a:prstGeom>
              <a:noFill/>
              <a:ln w="9525">
                <a:noFill/>
                <a:miter lim="800000"/>
                <a:headEnd/>
                <a:tailEnd/>
              </a:ln>
              <a:effectLst/>
            </p:spPr>
          </p:pic>
          <p:pic>
            <p:nvPicPr>
              <p:cNvPr id="2180" name="Picture 205" descr="j0433942">
                <a:extLst>
                  <a:ext uri="{FF2B5EF4-FFF2-40B4-BE49-F238E27FC236}">
                    <a16:creationId xmlns:a16="http://schemas.microsoft.com/office/drawing/2014/main" id="{99E49292-0616-F09F-0D8F-9A5ECFADD3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37834" y="1704228"/>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 name="Picture 205" descr="j0433942">
                <a:extLst>
                  <a:ext uri="{FF2B5EF4-FFF2-40B4-BE49-F238E27FC236}">
                    <a16:creationId xmlns:a16="http://schemas.microsoft.com/office/drawing/2014/main" id="{27E159EF-7C95-9852-3661-EA6B97CBA5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414505" y="1950835"/>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2" name="Picture 205" descr="j0433942">
                <a:extLst>
                  <a:ext uri="{FF2B5EF4-FFF2-40B4-BE49-F238E27FC236}">
                    <a16:creationId xmlns:a16="http://schemas.microsoft.com/office/drawing/2014/main" id="{9854395F-0765-0905-B639-DC0C1B8C2F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22473" y="2131471"/>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83" name="Rectangle 128">
              <a:extLst>
                <a:ext uri="{FF2B5EF4-FFF2-40B4-BE49-F238E27FC236}">
                  <a16:creationId xmlns:a16="http://schemas.microsoft.com/office/drawing/2014/main" id="{9CCE0CDF-D27A-D007-B202-69B3979C6C94}"/>
                </a:ext>
              </a:extLst>
            </p:cNvPr>
            <p:cNvSpPr/>
            <p:nvPr/>
          </p:nvSpPr>
          <p:spPr bwMode="auto">
            <a:xfrm>
              <a:off x="3354807" y="2401702"/>
              <a:ext cx="3876497" cy="3484267"/>
            </a:xfrm>
            <a:prstGeom prst="rect">
              <a:avLst/>
            </a:prstGeom>
            <a:solidFill>
              <a:schemeClr val="bg1"/>
            </a:solidFill>
            <a:ln w="25400" cap="flat" cmpd="sng" algn="ctr">
              <a:solidFill>
                <a:srgbClr val="000000"/>
              </a:solidFill>
              <a:prstDash val="solid"/>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1000" b="1" i="0" u="none" strike="noStrike" kern="0" cap="none" spc="0" normalizeH="0" baseline="0" noProof="0">
                  <a:ln>
                    <a:noFill/>
                  </a:ln>
                  <a:solidFill>
                    <a:srgbClr val="FF5D5D">
                      <a:lumMod val="75000"/>
                    </a:srgbClr>
                  </a:solidFill>
                  <a:effectLst/>
                  <a:uLnTx/>
                  <a:uFillTx/>
                  <a:latin typeface="Arial"/>
                  <a:ea typeface="+mn-ea"/>
                  <a:cs typeface="+mn-cs"/>
                </a:rPr>
                <a:t>PaaS</a:t>
              </a:r>
            </a:p>
          </p:txBody>
        </p:sp>
        <p:sp>
          <p:nvSpPr>
            <p:cNvPr id="2184" name="Rectangle 142">
              <a:extLst>
                <a:ext uri="{FF2B5EF4-FFF2-40B4-BE49-F238E27FC236}">
                  <a16:creationId xmlns:a16="http://schemas.microsoft.com/office/drawing/2014/main" id="{4160094D-9B8C-4870-DE62-2C91817AA84D}"/>
                </a:ext>
              </a:extLst>
            </p:cNvPr>
            <p:cNvSpPr/>
            <p:nvPr/>
          </p:nvSpPr>
          <p:spPr bwMode="auto">
            <a:xfrm>
              <a:off x="4659937" y="2682271"/>
              <a:ext cx="1338745" cy="1174561"/>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700" b="1" i="0" u="none" strike="noStrike" kern="0" cap="none" spc="0" normalizeH="0" baseline="0" noProof="0">
                  <a:ln>
                    <a:noFill/>
                  </a:ln>
                  <a:solidFill>
                    <a:srgbClr val="E75353">
                      <a:lumMod val="75000"/>
                    </a:srgbClr>
                  </a:solidFill>
                  <a:effectLst/>
                  <a:uLnTx/>
                  <a:uFillTx/>
                  <a:latin typeface="Arial"/>
                  <a:ea typeface="+mn-ea"/>
                  <a:cs typeface="+mn-cs"/>
                </a:rPr>
                <a:t>Servicios</a:t>
              </a: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cxnSp>
          <p:nvCxnSpPr>
            <p:cNvPr id="2185" name="3 Conector angular">
              <a:extLst>
                <a:ext uri="{FF2B5EF4-FFF2-40B4-BE49-F238E27FC236}">
                  <a16:creationId xmlns:a16="http://schemas.microsoft.com/office/drawing/2014/main" id="{A3A4D388-BB58-211B-8BF1-79214BAD278A}"/>
                </a:ext>
              </a:extLst>
            </p:cNvPr>
            <p:cNvCxnSpPr>
              <a:stCxn id="2235" idx="1"/>
              <a:endCxn id="2176" idx="3"/>
            </p:cNvCxnSpPr>
            <p:nvPr/>
          </p:nvCxnSpPr>
          <p:spPr bwMode="auto">
            <a:xfrm rot="10800000" flipV="1">
              <a:off x="2257323" y="2939545"/>
              <a:ext cx="1220402" cy="536630"/>
            </a:xfrm>
            <a:prstGeom prst="bentConnector3">
              <a:avLst>
                <a:gd name="adj1" fmla="val 50000"/>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sp>
          <p:nvSpPr>
            <p:cNvPr id="2186" name="Rectangle 174">
              <a:extLst>
                <a:ext uri="{FF2B5EF4-FFF2-40B4-BE49-F238E27FC236}">
                  <a16:creationId xmlns:a16="http://schemas.microsoft.com/office/drawing/2014/main" id="{C23585B3-78E0-8F57-8185-47B053DC41DD}"/>
                </a:ext>
              </a:extLst>
            </p:cNvPr>
            <p:cNvSpPr/>
            <p:nvPr/>
          </p:nvSpPr>
          <p:spPr bwMode="auto">
            <a:xfrm>
              <a:off x="5433333" y="3924305"/>
              <a:ext cx="4117016" cy="1833297"/>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rPr>
                <a:t>Patrón Bimodal</a:t>
              </a:r>
            </a:p>
          </p:txBody>
        </p:sp>
        <p:sp>
          <p:nvSpPr>
            <p:cNvPr id="2187" name="CuadroTexto 234">
              <a:extLst>
                <a:ext uri="{FF2B5EF4-FFF2-40B4-BE49-F238E27FC236}">
                  <a16:creationId xmlns:a16="http://schemas.microsoft.com/office/drawing/2014/main" id="{20A12DDE-A6B6-72AB-80AE-8569BA8D237B}"/>
                </a:ext>
              </a:extLst>
            </p:cNvPr>
            <p:cNvSpPr txBox="1"/>
            <p:nvPr/>
          </p:nvSpPr>
          <p:spPr>
            <a:xfrm>
              <a:off x="3295667" y="2353483"/>
              <a:ext cx="2633566" cy="427723"/>
            </a:xfrm>
            <a:prstGeom prst="rect">
              <a:avLst/>
            </a:prstGeom>
            <a:noFill/>
          </p:spPr>
          <p:txBody>
            <a:bodyPr wrap="none" rtlCol="0">
              <a:spAutoFit/>
            </a:bodyPr>
            <a:lstStyle/>
            <a:p>
              <a:pPr marL="0" marR="0" lvl="0" indent="0"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1" i="0" u="none" strike="noStrike" kern="0" cap="none" spc="0" normalizeH="0" baseline="0" noProof="0">
                  <a:ln>
                    <a:noFill/>
                  </a:ln>
                  <a:solidFill>
                    <a:srgbClr val="000000"/>
                  </a:solidFill>
                  <a:effectLst/>
                  <a:uLnTx/>
                  <a:uFillTx/>
                </a:rPr>
                <a:t>Formatos Electrónicos</a:t>
              </a:r>
            </a:p>
          </p:txBody>
        </p:sp>
        <p:cxnSp>
          <p:nvCxnSpPr>
            <p:cNvPr id="2188" name="3 Conector angular">
              <a:extLst>
                <a:ext uri="{FF2B5EF4-FFF2-40B4-BE49-F238E27FC236}">
                  <a16:creationId xmlns:a16="http://schemas.microsoft.com/office/drawing/2014/main" id="{789B091C-B222-C0A4-41C1-0B02B2DB3F55}"/>
                </a:ext>
              </a:extLst>
            </p:cNvPr>
            <p:cNvCxnSpPr>
              <a:stCxn id="2238" idx="0"/>
              <a:endCxn id="2184" idx="3"/>
            </p:cNvCxnSpPr>
            <p:nvPr/>
          </p:nvCxnSpPr>
          <p:spPr bwMode="auto">
            <a:xfrm rot="16200000" flipV="1">
              <a:off x="5697167" y="3571068"/>
              <a:ext cx="821581" cy="21855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189" name="Rectangle 130">
              <a:extLst>
                <a:ext uri="{FF2B5EF4-FFF2-40B4-BE49-F238E27FC236}">
                  <a16:creationId xmlns:a16="http://schemas.microsoft.com/office/drawing/2014/main" id="{DBAEBF1D-F242-CEF4-14D8-73B8D18DA2BD}"/>
                </a:ext>
              </a:extLst>
            </p:cNvPr>
            <p:cNvSpPr/>
            <p:nvPr/>
          </p:nvSpPr>
          <p:spPr bwMode="auto">
            <a:xfrm>
              <a:off x="3426896" y="3550674"/>
              <a:ext cx="1162737" cy="1494403"/>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defTabSz="977900" fontAlgn="base">
                <a:spcBef>
                  <a:spcPct val="20000"/>
                </a:spcBef>
                <a:spcAft>
                  <a:spcPct val="0"/>
                </a:spcAft>
                <a:buClr>
                  <a:srgbClr val="FF5D5D"/>
                </a:buClr>
                <a:buFont typeface="Wingdings" pitchFamily="2" charset="2"/>
                <a:buNone/>
              </a:pPr>
              <a:r>
                <a:rPr lang="es-MX" sz="600" b="1" kern="0">
                  <a:solidFill>
                    <a:srgbClr val="E75353">
                      <a:lumMod val="75000"/>
                    </a:srgbClr>
                  </a:solidFill>
                  <a:latin typeface="Arial"/>
                </a:rPr>
                <a:t>Lógica Web</a:t>
              </a:r>
            </a:p>
          </p:txBody>
        </p:sp>
        <p:pic>
          <p:nvPicPr>
            <p:cNvPr id="2190" name="Picture 3">
              <a:extLst>
                <a:ext uri="{FF2B5EF4-FFF2-40B4-BE49-F238E27FC236}">
                  <a16:creationId xmlns:a16="http://schemas.microsoft.com/office/drawing/2014/main" id="{432C0A5F-BD59-5352-B224-4995A38647E9}"/>
                </a:ext>
              </a:extLst>
            </p:cNvPr>
            <p:cNvPicPr>
              <a:picLocks noChangeAspect="1" noChangeArrowheads="1"/>
            </p:cNvPicPr>
            <p:nvPr/>
          </p:nvPicPr>
          <p:blipFill>
            <a:blip r:embed="rId6" cstate="print"/>
            <a:srcRect/>
            <a:stretch>
              <a:fillRect/>
            </a:stretch>
          </p:blipFill>
          <p:spPr bwMode="auto">
            <a:xfrm>
              <a:off x="3542359" y="4609071"/>
              <a:ext cx="608109" cy="243717"/>
            </a:xfrm>
            <a:prstGeom prst="rect">
              <a:avLst/>
            </a:prstGeom>
            <a:noFill/>
            <a:ln>
              <a:noFill/>
            </a:ln>
            <a:effectLst>
              <a:prstShdw prst="shdw17" dist="17961" dir="2700000">
                <a:srgbClr val="FFC7C7">
                  <a:gamma/>
                  <a:shade val="60000"/>
                  <a:invGamma/>
                </a:srgbClr>
              </a:prstShdw>
            </a:effectLst>
          </p:spPr>
        </p:pic>
        <p:sp>
          <p:nvSpPr>
            <p:cNvPr id="2191" name="Rectangle 138">
              <a:extLst>
                <a:ext uri="{FF2B5EF4-FFF2-40B4-BE49-F238E27FC236}">
                  <a16:creationId xmlns:a16="http://schemas.microsoft.com/office/drawing/2014/main" id="{AA0B28DF-67A3-5349-0A4F-C19892BA040E}"/>
                </a:ext>
              </a:extLst>
            </p:cNvPr>
            <p:cNvSpPr/>
            <p:nvPr/>
          </p:nvSpPr>
          <p:spPr bwMode="auto">
            <a:xfrm>
              <a:off x="3493572" y="3780634"/>
              <a:ext cx="1005796" cy="1151330"/>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squar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p:txBody>
        </p:sp>
        <p:pic>
          <p:nvPicPr>
            <p:cNvPr id="2192" name="Picture 2">
              <a:extLst>
                <a:ext uri="{FF2B5EF4-FFF2-40B4-BE49-F238E27FC236}">
                  <a16:creationId xmlns:a16="http://schemas.microsoft.com/office/drawing/2014/main" id="{648E0DF8-4CEE-DEB6-9567-A342871283EF}"/>
                </a:ext>
              </a:extLst>
            </p:cNvPr>
            <p:cNvPicPr>
              <a:picLocks noChangeAspect="1" noChangeArrowheads="1"/>
            </p:cNvPicPr>
            <p:nvPr/>
          </p:nvPicPr>
          <p:blipFill>
            <a:blip r:embed="rId7" cstate="print"/>
            <a:srcRect/>
            <a:stretch>
              <a:fillRect/>
            </a:stretch>
          </p:blipFill>
          <p:spPr bwMode="auto">
            <a:xfrm>
              <a:off x="3542359" y="4070139"/>
              <a:ext cx="775867" cy="499611"/>
            </a:xfrm>
            <a:prstGeom prst="rect">
              <a:avLst/>
            </a:prstGeom>
            <a:noFill/>
            <a:ln w="9525">
              <a:noFill/>
              <a:miter lim="800000"/>
              <a:headEnd/>
              <a:tailEnd/>
            </a:ln>
          </p:spPr>
        </p:pic>
        <p:pic>
          <p:nvPicPr>
            <p:cNvPr id="2193" name="Imagen 249">
              <a:extLst>
                <a:ext uri="{FF2B5EF4-FFF2-40B4-BE49-F238E27FC236}">
                  <a16:creationId xmlns:a16="http://schemas.microsoft.com/office/drawing/2014/main" id="{F52E4D2B-1F4E-E579-34D1-286065B06C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2359" y="3808414"/>
              <a:ext cx="904436" cy="251115"/>
            </a:xfrm>
            <a:prstGeom prst="rect">
              <a:avLst/>
            </a:prstGeom>
            <a:ln>
              <a:noFill/>
            </a:ln>
          </p:spPr>
        </p:pic>
        <p:pic>
          <p:nvPicPr>
            <p:cNvPr id="2194" name="Imagen 250">
              <a:extLst>
                <a:ext uri="{FF2B5EF4-FFF2-40B4-BE49-F238E27FC236}">
                  <a16:creationId xmlns:a16="http://schemas.microsoft.com/office/drawing/2014/main" id="{04E9AF18-381D-4D84-D762-0BEBE1AEBAE3}"/>
                </a:ext>
              </a:extLst>
            </p:cNvPr>
            <p:cNvPicPr>
              <a:picLocks noChangeAspect="1"/>
            </p:cNvPicPr>
            <p:nvPr/>
          </p:nvPicPr>
          <p:blipFill>
            <a:blip r:embed="rId9"/>
            <a:stretch>
              <a:fillRect/>
            </a:stretch>
          </p:blipFill>
          <p:spPr>
            <a:xfrm>
              <a:off x="6007596" y="2414403"/>
              <a:ext cx="1211008" cy="325112"/>
            </a:xfrm>
            <a:prstGeom prst="rect">
              <a:avLst/>
            </a:prstGeom>
          </p:spPr>
        </p:pic>
        <p:grpSp>
          <p:nvGrpSpPr>
            <p:cNvPr id="2195" name="Grupo 255">
              <a:extLst>
                <a:ext uri="{FF2B5EF4-FFF2-40B4-BE49-F238E27FC236}">
                  <a16:creationId xmlns:a16="http://schemas.microsoft.com/office/drawing/2014/main" id="{F53E97BF-BB12-F704-D1D4-DA7D4CB5C555}"/>
                </a:ext>
              </a:extLst>
            </p:cNvPr>
            <p:cNvGrpSpPr/>
            <p:nvPr/>
          </p:nvGrpSpPr>
          <p:grpSpPr>
            <a:xfrm>
              <a:off x="4864903" y="2911302"/>
              <a:ext cx="1007405" cy="876725"/>
              <a:chOff x="8083506" y="4414486"/>
              <a:chExt cx="1007405" cy="876725"/>
            </a:xfrm>
          </p:grpSpPr>
          <p:graphicFrame>
            <p:nvGraphicFramePr>
              <p:cNvPr id="2196" name="Diagrama 252">
                <a:extLst>
                  <a:ext uri="{FF2B5EF4-FFF2-40B4-BE49-F238E27FC236}">
                    <a16:creationId xmlns:a16="http://schemas.microsoft.com/office/drawing/2014/main" id="{E24DA83A-965D-2F04-D427-6CE1F47C2EFC}"/>
                  </a:ext>
                </a:extLst>
              </p:cNvPr>
              <p:cNvGraphicFramePr/>
              <p:nvPr/>
            </p:nvGraphicFramePr>
            <p:xfrm>
              <a:off x="8084996" y="4414486"/>
              <a:ext cx="720634" cy="86568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2197" name="Imagen 2">
                <a:extLst>
                  <a:ext uri="{FF2B5EF4-FFF2-40B4-BE49-F238E27FC236}">
                    <a16:creationId xmlns:a16="http://schemas.microsoft.com/office/drawing/2014/main" id="{456B37B6-6789-A61C-9CC8-50E505CD81E6}"/>
                  </a:ext>
                </a:extLst>
              </p:cNvPr>
              <p:cNvPicPr>
                <a:picLocks noChangeAspect="1"/>
              </p:cNvPicPr>
              <p:nvPr/>
            </p:nvPicPr>
            <p:blipFill>
              <a:blip r:embed="rId15" cstate="print"/>
              <a:srcRect/>
              <a:stretch>
                <a:fillRect/>
              </a:stretch>
            </p:blipFill>
            <p:spPr bwMode="auto">
              <a:xfrm>
                <a:off x="8083506" y="4978333"/>
                <a:ext cx="1007405" cy="312878"/>
              </a:xfrm>
              <a:prstGeom prst="rect">
                <a:avLst/>
              </a:prstGeom>
              <a:noFill/>
              <a:ln w="9525">
                <a:noFill/>
                <a:miter lim="800000"/>
                <a:headEnd/>
                <a:tailEnd/>
              </a:ln>
            </p:spPr>
          </p:pic>
        </p:grpSp>
        <p:grpSp>
          <p:nvGrpSpPr>
            <p:cNvPr id="2198" name="Grupo 269">
              <a:extLst>
                <a:ext uri="{FF2B5EF4-FFF2-40B4-BE49-F238E27FC236}">
                  <a16:creationId xmlns:a16="http://schemas.microsoft.com/office/drawing/2014/main" id="{204C0D12-D26C-B371-A9F4-F62C747F3ACC}"/>
                </a:ext>
              </a:extLst>
            </p:cNvPr>
            <p:cNvGrpSpPr/>
            <p:nvPr/>
          </p:nvGrpSpPr>
          <p:grpSpPr>
            <a:xfrm>
              <a:off x="9736382" y="4494078"/>
              <a:ext cx="1783634" cy="1338939"/>
              <a:chOff x="8070495" y="1714571"/>
              <a:chExt cx="1617620" cy="1338939"/>
            </a:xfrm>
          </p:grpSpPr>
          <p:sp>
            <p:nvSpPr>
              <p:cNvPr id="2199" name="Rectángulo 270">
                <a:extLst>
                  <a:ext uri="{FF2B5EF4-FFF2-40B4-BE49-F238E27FC236}">
                    <a16:creationId xmlns:a16="http://schemas.microsoft.com/office/drawing/2014/main" id="{D080B106-E1A2-7401-8BFA-F7EF76E93F7B}"/>
                  </a:ext>
                </a:extLst>
              </p:cNvPr>
              <p:cNvSpPr/>
              <p:nvPr/>
            </p:nvSpPr>
            <p:spPr>
              <a:xfrm>
                <a:off x="8070495" y="1714571"/>
                <a:ext cx="1608159" cy="1338939"/>
              </a:xfrm>
              <a:prstGeom prst="rect">
                <a:avLst/>
              </a:prstGeom>
              <a:solidFill>
                <a:sysClr val="window" lastClr="FFFFFF">
                  <a:lumMod val="50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sp>
            <p:nvSpPr>
              <p:cNvPr id="2200" name="Rectángulo redondeado 271">
                <a:extLst>
                  <a:ext uri="{FF2B5EF4-FFF2-40B4-BE49-F238E27FC236}">
                    <a16:creationId xmlns:a16="http://schemas.microsoft.com/office/drawing/2014/main" id="{7F209493-4B87-67C0-B6CC-F4D5638093B5}"/>
                  </a:ext>
                </a:extLst>
              </p:cNvPr>
              <p:cNvSpPr/>
              <p:nvPr/>
            </p:nvSpPr>
            <p:spPr>
              <a:xfrm>
                <a:off x="8128234" y="1985615"/>
                <a:ext cx="253155" cy="934985"/>
              </a:xfrm>
              <a:prstGeom prst="roundRect">
                <a:avLst/>
              </a:prstGeom>
              <a:solidFill>
                <a:srgbClr val="FF0000"/>
              </a:solidFill>
              <a:ln w="12700" cap="flat" cmpd="sng" algn="ctr">
                <a:solidFill>
                  <a:srgbClr val="C00000"/>
                </a:solidFill>
                <a:prstDash val="solid"/>
                <a:miter lim="800000"/>
              </a:ln>
              <a:effectLst/>
            </p:spPr>
            <p:txBody>
              <a:bodyPr rtlCol="0" anchor="ctr"/>
              <a:lstStyle/>
              <a:p>
                <a:pPr algn="ctr">
                  <a:defRPr/>
                </a:pPr>
                <a:r>
                  <a:rPr lang="es-MX" sz="600" b="1" kern="0">
                    <a:solidFill>
                      <a:schemeClr val="bg1"/>
                    </a:solidFill>
                    <a:latin typeface="Calibri" panose="020F0502020204030204"/>
                  </a:rPr>
                  <a:t>CICS</a:t>
                </a:r>
              </a:p>
            </p:txBody>
          </p:sp>
          <p:sp>
            <p:nvSpPr>
              <p:cNvPr id="2201" name="Cilindro 272">
                <a:extLst>
                  <a:ext uri="{FF2B5EF4-FFF2-40B4-BE49-F238E27FC236}">
                    <a16:creationId xmlns:a16="http://schemas.microsoft.com/office/drawing/2014/main" id="{3EEDC89C-6D75-3167-24DB-64931BFFA5BD}"/>
                  </a:ext>
                </a:extLst>
              </p:cNvPr>
              <p:cNvSpPr/>
              <p:nvPr/>
            </p:nvSpPr>
            <p:spPr>
              <a:xfrm>
                <a:off x="9166681" y="2178408"/>
                <a:ext cx="435386" cy="622737"/>
              </a:xfrm>
              <a:prstGeom prst="can">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pic>
            <p:nvPicPr>
              <p:cNvPr id="2202" name="Imagen 273">
                <a:extLst>
                  <a:ext uri="{FF2B5EF4-FFF2-40B4-BE49-F238E27FC236}">
                    <a16:creationId xmlns:a16="http://schemas.microsoft.com/office/drawing/2014/main" id="{B4D5EFB5-8F22-ED97-50D5-C6DA2B7FC646}"/>
                  </a:ext>
                </a:extLst>
              </p:cNvPr>
              <p:cNvPicPr>
                <a:picLocks noChangeAspect="1"/>
              </p:cNvPicPr>
              <p:nvPr/>
            </p:nvPicPr>
            <p:blipFill>
              <a:blip r:embed="rId16"/>
              <a:stretch>
                <a:fillRect/>
              </a:stretch>
            </p:blipFill>
            <p:spPr>
              <a:xfrm>
                <a:off x="9195882" y="2358253"/>
                <a:ext cx="376982" cy="375404"/>
              </a:xfrm>
              <a:prstGeom prst="rect">
                <a:avLst/>
              </a:prstGeom>
            </p:spPr>
          </p:pic>
          <p:sp>
            <p:nvSpPr>
              <p:cNvPr id="2203" name="Rectángulo redondeado 274">
                <a:extLst>
                  <a:ext uri="{FF2B5EF4-FFF2-40B4-BE49-F238E27FC236}">
                    <a16:creationId xmlns:a16="http://schemas.microsoft.com/office/drawing/2014/main" id="{911869B6-9F8C-28F2-A472-B7C2A1A9CFAD}"/>
                  </a:ext>
                </a:extLst>
              </p:cNvPr>
              <p:cNvSpPr/>
              <p:nvPr/>
            </p:nvSpPr>
            <p:spPr>
              <a:xfrm>
                <a:off x="8391718" y="1985615"/>
                <a:ext cx="761793" cy="934985"/>
              </a:xfrm>
              <a:prstGeom prst="roundRect">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lvl="0"/>
                <a:r>
                  <a:rPr lang="es-MX" sz="500" b="1">
                    <a:solidFill>
                      <a:prstClr val="black"/>
                    </a:solidFill>
                    <a:latin typeface="Calibri" panose="020F0502020204030204"/>
                  </a:rPr>
                  <a:t>Core Altair</a:t>
                </a:r>
              </a:p>
            </p:txBody>
          </p:sp>
          <p:sp>
            <p:nvSpPr>
              <p:cNvPr id="2204" name="CuadroTexto 277">
                <a:extLst>
                  <a:ext uri="{FF2B5EF4-FFF2-40B4-BE49-F238E27FC236}">
                    <a16:creationId xmlns:a16="http://schemas.microsoft.com/office/drawing/2014/main" id="{9AB2A70F-90C5-1648-53AD-2200F715BDAC}"/>
                  </a:ext>
                </a:extLst>
              </p:cNvPr>
              <p:cNvSpPr txBox="1"/>
              <p:nvPr/>
            </p:nvSpPr>
            <p:spPr>
              <a:xfrm>
                <a:off x="8753761" y="1718064"/>
                <a:ext cx="934354" cy="342179"/>
              </a:xfrm>
              <a:prstGeom prst="rect">
                <a:avLst/>
              </a:prstGeom>
              <a:noFill/>
            </p:spPr>
            <p:txBody>
              <a:bodyPr wrap="none" rtlCol="0">
                <a:spAutoFit/>
              </a:bodyPr>
              <a:lstStyle/>
              <a:p>
                <a:r>
                  <a:rPr lang="es-MX" sz="600">
                    <a:solidFill>
                      <a:prstClr val="white"/>
                    </a:solidFill>
                    <a:latin typeface="Calibri" panose="020F0502020204030204"/>
                  </a:rPr>
                  <a:t>IBM OS/390</a:t>
                </a:r>
              </a:p>
            </p:txBody>
          </p:sp>
        </p:grpSp>
        <p:sp>
          <p:nvSpPr>
            <p:cNvPr id="2205" name="45 Rectángulo">
              <a:extLst>
                <a:ext uri="{FF2B5EF4-FFF2-40B4-BE49-F238E27FC236}">
                  <a16:creationId xmlns:a16="http://schemas.microsoft.com/office/drawing/2014/main" id="{E5D117A0-17C6-4D0C-802F-1B6A1B7FEF43}"/>
                </a:ext>
              </a:extLst>
            </p:cNvPr>
            <p:cNvSpPr/>
            <p:nvPr/>
          </p:nvSpPr>
          <p:spPr bwMode="auto">
            <a:xfrm>
              <a:off x="7557983" y="43535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r>
                <a:rPr lang="es-MX" sz="800" b="1"/>
                <a:t>Servicios Core</a:t>
              </a:r>
            </a:p>
          </p:txBody>
        </p:sp>
        <p:pic>
          <p:nvPicPr>
            <p:cNvPr id="2206" name="Imagen 282">
              <a:extLst>
                <a:ext uri="{FF2B5EF4-FFF2-40B4-BE49-F238E27FC236}">
                  <a16:creationId xmlns:a16="http://schemas.microsoft.com/office/drawing/2014/main" id="{9733B2F7-30A2-019C-29DB-511E00D78C71}"/>
                </a:ext>
              </a:extLst>
            </p:cNvPr>
            <p:cNvPicPr>
              <a:picLocks noChangeAspect="1"/>
            </p:cNvPicPr>
            <p:nvPr/>
          </p:nvPicPr>
          <p:blipFill>
            <a:blip r:embed="rId17"/>
            <a:stretch>
              <a:fillRect/>
            </a:stretch>
          </p:blipFill>
          <p:spPr>
            <a:xfrm>
              <a:off x="7591613" y="4736822"/>
              <a:ext cx="247590" cy="568575"/>
            </a:xfrm>
            <a:prstGeom prst="rect">
              <a:avLst/>
            </a:prstGeom>
          </p:spPr>
        </p:pic>
        <p:pic>
          <p:nvPicPr>
            <p:cNvPr id="2207" name="Imagen 284">
              <a:extLst>
                <a:ext uri="{FF2B5EF4-FFF2-40B4-BE49-F238E27FC236}">
                  <a16:creationId xmlns:a16="http://schemas.microsoft.com/office/drawing/2014/main" id="{720A920C-975B-6DD1-2BC4-72D5D6E30F0F}"/>
                </a:ext>
              </a:extLst>
            </p:cNvPr>
            <p:cNvPicPr>
              <a:picLocks noChangeAspect="1"/>
            </p:cNvPicPr>
            <p:nvPr/>
          </p:nvPicPr>
          <p:blipFill>
            <a:blip r:embed="rId18"/>
            <a:stretch>
              <a:fillRect/>
            </a:stretch>
          </p:blipFill>
          <p:spPr>
            <a:xfrm>
              <a:off x="7850966" y="4630923"/>
              <a:ext cx="972228" cy="464555"/>
            </a:xfrm>
            <a:prstGeom prst="rect">
              <a:avLst/>
            </a:prstGeom>
          </p:spPr>
        </p:pic>
        <p:sp>
          <p:nvSpPr>
            <p:cNvPr id="2208" name="Rectángulo 286">
              <a:extLst>
                <a:ext uri="{FF2B5EF4-FFF2-40B4-BE49-F238E27FC236}">
                  <a16:creationId xmlns:a16="http://schemas.microsoft.com/office/drawing/2014/main" id="{82DB88C5-4255-8384-AC11-8206A620A458}"/>
                </a:ext>
              </a:extLst>
            </p:cNvPr>
            <p:cNvSpPr/>
            <p:nvPr/>
          </p:nvSpPr>
          <p:spPr>
            <a:xfrm>
              <a:off x="7771733" y="5077741"/>
              <a:ext cx="943131" cy="313664"/>
            </a:xfrm>
            <a:prstGeom prst="rect">
              <a:avLst/>
            </a:prstGeom>
          </p:spPr>
          <p:txBody>
            <a:bodyPr wrap="square">
              <a:spAutoFit/>
            </a:body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500" b="0" i="0" u="none" strike="noStrike" kern="0" cap="none" spc="0" normalizeH="0" baseline="0" noProof="0">
                  <a:ln>
                    <a:noFill/>
                  </a:ln>
                  <a:solidFill>
                    <a:srgbClr val="5F5F5F">
                      <a:lumMod val="50000"/>
                    </a:srgbClr>
                  </a:solidFill>
                  <a:effectLst/>
                  <a:uLnTx/>
                  <a:uFillTx/>
                </a:rPr>
                <a:t>Servicios</a:t>
              </a:r>
            </a:p>
          </p:txBody>
        </p:sp>
        <p:cxnSp>
          <p:nvCxnSpPr>
            <p:cNvPr id="2209" name="3 Conector angular">
              <a:extLst>
                <a:ext uri="{FF2B5EF4-FFF2-40B4-BE49-F238E27FC236}">
                  <a16:creationId xmlns:a16="http://schemas.microsoft.com/office/drawing/2014/main" id="{84500F81-7369-964E-475E-72921AD6FAD4}"/>
                </a:ext>
              </a:extLst>
            </p:cNvPr>
            <p:cNvCxnSpPr>
              <a:stCxn id="2205" idx="1"/>
              <a:endCxn id="2238" idx="3"/>
            </p:cNvCxnSpPr>
            <p:nvPr/>
          </p:nvCxnSpPr>
          <p:spPr bwMode="auto">
            <a:xfrm rot="10800000">
              <a:off x="6741969" y="4411756"/>
              <a:ext cx="816014" cy="426999"/>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10" name="Imagen 287">
              <a:extLst>
                <a:ext uri="{FF2B5EF4-FFF2-40B4-BE49-F238E27FC236}">
                  <a16:creationId xmlns:a16="http://schemas.microsoft.com/office/drawing/2014/main" id="{6B11B054-6AD4-BE06-5650-E0ED55DBFA07}"/>
                </a:ext>
              </a:extLst>
            </p:cNvPr>
            <p:cNvPicPr>
              <a:picLocks noChangeAspect="1"/>
            </p:cNvPicPr>
            <p:nvPr/>
          </p:nvPicPr>
          <p:blipFill>
            <a:blip r:embed="rId19"/>
            <a:stretch>
              <a:fillRect/>
            </a:stretch>
          </p:blipFill>
          <p:spPr>
            <a:xfrm>
              <a:off x="6965263" y="4570967"/>
              <a:ext cx="468000" cy="205333"/>
            </a:xfrm>
            <a:prstGeom prst="rect">
              <a:avLst/>
            </a:prstGeom>
          </p:spPr>
        </p:pic>
        <p:cxnSp>
          <p:nvCxnSpPr>
            <p:cNvPr id="2211" name="3 Conector angular">
              <a:extLst>
                <a:ext uri="{FF2B5EF4-FFF2-40B4-BE49-F238E27FC236}">
                  <a16:creationId xmlns:a16="http://schemas.microsoft.com/office/drawing/2014/main" id="{EB80DE86-5C82-E216-3608-393DC946304B}"/>
                </a:ext>
              </a:extLst>
            </p:cNvPr>
            <p:cNvCxnSpPr>
              <a:stCxn id="2237" idx="3"/>
              <a:endCxn id="2206" idx="1"/>
            </p:cNvCxnSpPr>
            <p:nvPr/>
          </p:nvCxnSpPr>
          <p:spPr bwMode="auto">
            <a:xfrm flipV="1">
              <a:off x="6777472" y="5021110"/>
              <a:ext cx="814141" cy="10323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2" name="3 Conector angular">
              <a:extLst>
                <a:ext uri="{FF2B5EF4-FFF2-40B4-BE49-F238E27FC236}">
                  <a16:creationId xmlns:a16="http://schemas.microsoft.com/office/drawing/2014/main" id="{D4E155EB-F7D1-AB2D-0CEB-18B115BF5CCE}"/>
                </a:ext>
              </a:extLst>
            </p:cNvPr>
            <p:cNvCxnSpPr>
              <a:stCxn id="2200" idx="1"/>
              <a:endCxn id="2162" idx="3"/>
            </p:cNvCxnSpPr>
            <p:nvPr/>
          </p:nvCxnSpPr>
          <p:spPr bwMode="auto">
            <a:xfrm rot="10800000">
              <a:off x="9375032" y="5143555"/>
              <a:ext cx="425015" cy="8906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3" name="3 Conector angular">
              <a:extLst>
                <a:ext uri="{FF2B5EF4-FFF2-40B4-BE49-F238E27FC236}">
                  <a16:creationId xmlns:a16="http://schemas.microsoft.com/office/drawing/2014/main" id="{FB858F1F-9D70-2A42-EBD9-16D49577FB32}"/>
                </a:ext>
              </a:extLst>
            </p:cNvPr>
            <p:cNvCxnSpPr>
              <a:stCxn id="2167" idx="2"/>
              <a:endCxn id="2205" idx="0"/>
            </p:cNvCxnSpPr>
            <p:nvPr/>
          </p:nvCxnSpPr>
          <p:spPr bwMode="auto">
            <a:xfrm rot="5400000">
              <a:off x="7943485" y="3888191"/>
              <a:ext cx="835977" cy="94732"/>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14" name="Rectangle 142">
              <a:extLst>
                <a:ext uri="{FF2B5EF4-FFF2-40B4-BE49-F238E27FC236}">
                  <a16:creationId xmlns:a16="http://schemas.microsoft.com/office/drawing/2014/main" id="{C949AF60-E783-37AB-4E72-E3E9DE032FA2}"/>
                </a:ext>
              </a:extLst>
            </p:cNvPr>
            <p:cNvSpPr/>
            <p:nvPr/>
          </p:nvSpPr>
          <p:spPr bwMode="auto">
            <a:xfrm>
              <a:off x="7448842" y="4076168"/>
              <a:ext cx="1998224" cy="1611977"/>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sp>
          <p:nvSpPr>
            <p:cNvPr id="2215" name="Rectangle 135">
              <a:extLst>
                <a:ext uri="{FF2B5EF4-FFF2-40B4-BE49-F238E27FC236}">
                  <a16:creationId xmlns:a16="http://schemas.microsoft.com/office/drawing/2014/main" id="{90FF5F65-81A9-A891-8B90-3F5B3D875CDD}"/>
                </a:ext>
              </a:extLst>
            </p:cNvPr>
            <p:cNvSpPr/>
            <p:nvPr/>
          </p:nvSpPr>
          <p:spPr>
            <a:xfrm>
              <a:off x="8570233" y="4632327"/>
              <a:ext cx="445859" cy="212443"/>
            </a:xfrm>
            <a:prstGeom prst="rect">
              <a:avLst/>
            </a:prstGeom>
            <a:solidFill>
              <a:srgbClr val="5F5F5F"/>
            </a:solidFill>
            <a:ln w="9525">
              <a:solidFill>
                <a:srgbClr val="000000"/>
              </a:solidFill>
              <a:miter lim="800000"/>
              <a:headEnd/>
              <a:tailEnd/>
            </a:ln>
            <a:effectLst>
              <a:outerShdw dist="35921" dir="2700000" algn="ctr" rotWithShape="0">
                <a:srgbClr val="808080"/>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s-ES" sz="400" b="1" kern="0">
                  <a:solidFill>
                    <a:srgbClr val="FFFFFF"/>
                  </a:solidFill>
                </a:rPr>
                <a:t>IDA</a:t>
              </a:r>
              <a:endParaRPr kumimoji="0" lang="es-ES" sz="400" b="1" i="0" u="none" strike="noStrike" kern="0" cap="none" spc="0" normalizeH="0" baseline="0" noProof="0">
                <a:ln>
                  <a:noFill/>
                </a:ln>
                <a:solidFill>
                  <a:srgbClr val="FFFFFF"/>
                </a:solidFill>
                <a:effectLst/>
                <a:uLnTx/>
                <a:uFillTx/>
              </a:endParaRPr>
            </a:p>
          </p:txBody>
        </p:sp>
        <p:pic>
          <p:nvPicPr>
            <p:cNvPr id="2216" name="Imagen 323">
              <a:extLst>
                <a:ext uri="{FF2B5EF4-FFF2-40B4-BE49-F238E27FC236}">
                  <a16:creationId xmlns:a16="http://schemas.microsoft.com/office/drawing/2014/main" id="{C6C5B0C2-6F73-D5A5-D679-E4455A2A6342}"/>
                </a:ext>
              </a:extLst>
            </p:cNvPr>
            <p:cNvPicPr>
              <a:picLocks noChangeAspect="1"/>
            </p:cNvPicPr>
            <p:nvPr/>
          </p:nvPicPr>
          <p:blipFill>
            <a:blip r:embed="rId20"/>
            <a:stretch>
              <a:fillRect/>
            </a:stretch>
          </p:blipFill>
          <p:spPr>
            <a:xfrm>
              <a:off x="8356444" y="4100133"/>
              <a:ext cx="1073717" cy="177329"/>
            </a:xfrm>
            <a:prstGeom prst="rect">
              <a:avLst/>
            </a:prstGeom>
          </p:spPr>
        </p:pic>
        <p:sp>
          <p:nvSpPr>
            <p:cNvPr id="2217" name="155 Elipse">
              <a:extLst>
                <a:ext uri="{FF2B5EF4-FFF2-40B4-BE49-F238E27FC236}">
                  <a16:creationId xmlns:a16="http://schemas.microsoft.com/office/drawing/2014/main" id="{37422BFC-9A9B-490F-DB5F-9C947921F114}"/>
                </a:ext>
              </a:extLst>
            </p:cNvPr>
            <p:cNvSpPr/>
            <p:nvPr/>
          </p:nvSpPr>
          <p:spPr bwMode="auto">
            <a:xfrm>
              <a:off x="1195692" y="278791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1</a:t>
              </a:r>
            </a:p>
          </p:txBody>
        </p:sp>
        <p:sp>
          <p:nvSpPr>
            <p:cNvPr id="2218" name="155 Elipse">
              <a:extLst>
                <a:ext uri="{FF2B5EF4-FFF2-40B4-BE49-F238E27FC236}">
                  <a16:creationId xmlns:a16="http://schemas.microsoft.com/office/drawing/2014/main" id="{6E2BB300-349C-86ED-594E-7B93587BCE9C}"/>
                </a:ext>
              </a:extLst>
            </p:cNvPr>
            <p:cNvSpPr/>
            <p:nvPr/>
          </p:nvSpPr>
          <p:spPr bwMode="auto">
            <a:xfrm>
              <a:off x="7607839" y="4087170"/>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3</a:t>
              </a:r>
            </a:p>
          </p:txBody>
        </p:sp>
        <p:sp>
          <p:nvSpPr>
            <p:cNvPr id="2219" name="155 Elipse">
              <a:extLst>
                <a:ext uri="{FF2B5EF4-FFF2-40B4-BE49-F238E27FC236}">
                  <a16:creationId xmlns:a16="http://schemas.microsoft.com/office/drawing/2014/main" id="{AFAD2088-7546-DB80-D4BB-DB4565F63B77}"/>
                </a:ext>
              </a:extLst>
            </p:cNvPr>
            <p:cNvSpPr/>
            <p:nvPr/>
          </p:nvSpPr>
          <p:spPr bwMode="auto">
            <a:xfrm>
              <a:off x="7737556" y="210382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5</a:t>
              </a:r>
            </a:p>
          </p:txBody>
        </p:sp>
        <p:sp>
          <p:nvSpPr>
            <p:cNvPr id="2220" name="155 Elipse">
              <a:extLst>
                <a:ext uri="{FF2B5EF4-FFF2-40B4-BE49-F238E27FC236}">
                  <a16:creationId xmlns:a16="http://schemas.microsoft.com/office/drawing/2014/main" id="{6808F1D1-166C-EE89-6339-9F00805DF8BB}"/>
                </a:ext>
              </a:extLst>
            </p:cNvPr>
            <p:cNvSpPr/>
            <p:nvPr/>
          </p:nvSpPr>
          <p:spPr bwMode="auto">
            <a:xfrm>
              <a:off x="9926038" y="4485082"/>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4</a:t>
              </a:r>
            </a:p>
          </p:txBody>
        </p:sp>
        <p:pic>
          <p:nvPicPr>
            <p:cNvPr id="2235" name="Imagen 3">
              <a:extLst>
                <a:ext uri="{FF2B5EF4-FFF2-40B4-BE49-F238E27FC236}">
                  <a16:creationId xmlns:a16="http://schemas.microsoft.com/office/drawing/2014/main" id="{F57B3CD1-566D-4ADB-5150-1DBC2AFEEDD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b="3568"/>
            <a:stretch>
              <a:fillRect/>
            </a:stretch>
          </p:blipFill>
          <p:spPr bwMode="auto">
            <a:xfrm>
              <a:off x="3477725" y="2632198"/>
              <a:ext cx="1006824" cy="614693"/>
            </a:xfrm>
            <a:prstGeom prst="rect">
              <a:avLst/>
            </a:prstGeom>
            <a:noFill/>
            <a:extLst>
              <a:ext uri="{909E8E84-426E-40DD-AFC4-6F175D3DCCD1}">
                <a14:hiddenFill xmlns:a14="http://schemas.microsoft.com/office/drawing/2010/main">
                  <a:solidFill>
                    <a:srgbClr val="FFFFFF"/>
                  </a:solidFill>
                </a14:hiddenFill>
              </a:ext>
            </a:extLst>
          </p:spPr>
        </p:pic>
        <p:cxnSp>
          <p:nvCxnSpPr>
            <p:cNvPr id="2236" name="3 Conector angular">
              <a:extLst>
                <a:ext uri="{FF2B5EF4-FFF2-40B4-BE49-F238E27FC236}">
                  <a16:creationId xmlns:a16="http://schemas.microsoft.com/office/drawing/2014/main" id="{0217EDB1-31B6-1767-5D06-EE30C8B923CC}"/>
                </a:ext>
              </a:extLst>
            </p:cNvPr>
            <p:cNvCxnSpPr>
              <a:endCxn id="2235" idx="2"/>
            </p:cNvCxnSpPr>
            <p:nvPr/>
          </p:nvCxnSpPr>
          <p:spPr bwMode="auto">
            <a:xfrm rot="10800000">
              <a:off x="3981138" y="3246891"/>
              <a:ext cx="667637" cy="190608"/>
            </a:xfrm>
            <a:prstGeom prst="bentConnector2">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pic>
          <p:nvPicPr>
            <p:cNvPr id="2237" name="Imagen 339">
              <a:extLst>
                <a:ext uri="{FF2B5EF4-FFF2-40B4-BE49-F238E27FC236}">
                  <a16:creationId xmlns:a16="http://schemas.microsoft.com/office/drawing/2014/main" id="{5D1ADB81-ACC6-10F4-B2C9-F0F01450CF76}"/>
                </a:ext>
              </a:extLst>
            </p:cNvPr>
            <p:cNvPicPr>
              <a:picLocks noChangeAspect="1"/>
            </p:cNvPicPr>
            <p:nvPr/>
          </p:nvPicPr>
          <p:blipFill>
            <a:blip r:embed="rId22"/>
            <a:stretch>
              <a:fillRect/>
            </a:stretch>
          </p:blipFill>
          <p:spPr>
            <a:xfrm>
              <a:off x="5697472" y="4798886"/>
              <a:ext cx="1080000" cy="650909"/>
            </a:xfrm>
            <a:prstGeom prst="rect">
              <a:avLst/>
            </a:prstGeom>
          </p:spPr>
        </p:pic>
        <p:pic>
          <p:nvPicPr>
            <p:cNvPr id="2238" name="Imagen 2">
              <a:extLst>
                <a:ext uri="{FF2B5EF4-FFF2-40B4-BE49-F238E27FC236}">
                  <a16:creationId xmlns:a16="http://schemas.microsoft.com/office/drawing/2014/main" id="{F1E50ACD-D759-5DD6-800E-110E3C6D98AF}"/>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b="3130"/>
            <a:stretch>
              <a:fillRect/>
            </a:stretch>
          </p:blipFill>
          <p:spPr bwMode="auto">
            <a:xfrm>
              <a:off x="5692494" y="4091133"/>
              <a:ext cx="1049475" cy="641244"/>
            </a:xfrm>
            <a:prstGeom prst="rect">
              <a:avLst/>
            </a:prstGeom>
            <a:noFill/>
            <a:extLst>
              <a:ext uri="{909E8E84-426E-40DD-AFC4-6F175D3DCCD1}">
                <a14:hiddenFill xmlns:a14="http://schemas.microsoft.com/office/drawing/2010/main">
                  <a:solidFill>
                    <a:srgbClr val="FFFFFF"/>
                  </a:solidFill>
                </a14:hiddenFill>
              </a:ext>
            </a:extLst>
          </p:spPr>
        </p:pic>
        <p:sp>
          <p:nvSpPr>
            <p:cNvPr id="2239" name="155 Elipse">
              <a:extLst>
                <a:ext uri="{FF2B5EF4-FFF2-40B4-BE49-F238E27FC236}">
                  <a16:creationId xmlns:a16="http://schemas.microsoft.com/office/drawing/2014/main" id="{793374FD-56EE-EEBC-3B29-90D70AD654F8}"/>
                </a:ext>
              </a:extLst>
            </p:cNvPr>
            <p:cNvSpPr/>
            <p:nvPr/>
          </p:nvSpPr>
          <p:spPr bwMode="auto">
            <a:xfrm>
              <a:off x="3571902" y="2077656"/>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2</a:t>
              </a:r>
            </a:p>
          </p:txBody>
        </p:sp>
        <p:sp>
          <p:nvSpPr>
            <p:cNvPr id="2240" name="10263 Cilindro">
              <a:extLst>
                <a:ext uri="{FF2B5EF4-FFF2-40B4-BE49-F238E27FC236}">
                  <a16:creationId xmlns:a16="http://schemas.microsoft.com/office/drawing/2014/main" id="{F24E75DE-5125-D2B8-A19E-582B639F4359}"/>
                </a:ext>
              </a:extLst>
            </p:cNvPr>
            <p:cNvSpPr>
              <a:spLocks noChangeArrowheads="1"/>
            </p:cNvSpPr>
            <p:nvPr/>
          </p:nvSpPr>
          <p:spPr bwMode="auto">
            <a:xfrm>
              <a:off x="5588482"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BD Formatos Electrónicos</a:t>
              </a:r>
            </a:p>
          </p:txBody>
        </p:sp>
        <p:cxnSp>
          <p:nvCxnSpPr>
            <p:cNvPr id="2241" name="3 Conector angular">
              <a:extLst>
                <a:ext uri="{FF2B5EF4-FFF2-40B4-BE49-F238E27FC236}">
                  <a16:creationId xmlns:a16="http://schemas.microsoft.com/office/drawing/2014/main" id="{9CD13BFF-2A59-1D1E-00DA-FD9149341529}"/>
                </a:ext>
              </a:extLst>
            </p:cNvPr>
            <p:cNvCxnSpPr>
              <a:stCxn id="2240" idx="2"/>
              <a:endCxn id="2184" idx="0"/>
            </p:cNvCxnSpPr>
            <p:nvPr/>
          </p:nvCxnSpPr>
          <p:spPr bwMode="auto">
            <a:xfrm rot="10800000" flipV="1">
              <a:off x="5329310" y="2084085"/>
              <a:ext cx="259172"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2" name="10263 Cilindro">
              <a:extLst>
                <a:ext uri="{FF2B5EF4-FFF2-40B4-BE49-F238E27FC236}">
                  <a16:creationId xmlns:a16="http://schemas.microsoft.com/office/drawing/2014/main" id="{8E1CE439-B154-AEF7-0943-887F7490CA0F}"/>
                </a:ext>
              </a:extLst>
            </p:cNvPr>
            <p:cNvSpPr>
              <a:spLocks noChangeArrowheads="1"/>
            </p:cNvSpPr>
            <p:nvPr/>
          </p:nvSpPr>
          <p:spPr bwMode="auto">
            <a:xfrm>
              <a:off x="7433559" y="5699938"/>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3" name="3 Conector angular">
              <a:extLst>
                <a:ext uri="{FF2B5EF4-FFF2-40B4-BE49-F238E27FC236}">
                  <a16:creationId xmlns:a16="http://schemas.microsoft.com/office/drawing/2014/main" id="{C84520D2-5D82-3D3F-5C28-313486DB300C}"/>
                </a:ext>
              </a:extLst>
            </p:cNvPr>
            <p:cNvCxnSpPr>
              <a:stCxn id="2242" idx="4"/>
              <a:endCxn id="2162" idx="2"/>
            </p:cNvCxnSpPr>
            <p:nvPr/>
          </p:nvCxnSpPr>
          <p:spPr bwMode="auto">
            <a:xfrm flipV="1">
              <a:off x="8418074" y="5628762"/>
              <a:ext cx="200833" cy="32049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4" name="10263 Cilindro">
              <a:extLst>
                <a:ext uri="{FF2B5EF4-FFF2-40B4-BE49-F238E27FC236}">
                  <a16:creationId xmlns:a16="http://schemas.microsoft.com/office/drawing/2014/main" id="{C0E627E3-39CC-F3B8-528D-2DE0A33296AE}"/>
                </a:ext>
              </a:extLst>
            </p:cNvPr>
            <p:cNvSpPr>
              <a:spLocks noChangeArrowheads="1"/>
            </p:cNvSpPr>
            <p:nvPr/>
          </p:nvSpPr>
          <p:spPr bwMode="auto">
            <a:xfrm>
              <a:off x="4097375"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5" name="3 Conector angular">
              <a:extLst>
                <a:ext uri="{FF2B5EF4-FFF2-40B4-BE49-F238E27FC236}">
                  <a16:creationId xmlns:a16="http://schemas.microsoft.com/office/drawing/2014/main" id="{767D38D8-1B73-F024-A718-18541F668B09}"/>
                </a:ext>
              </a:extLst>
            </p:cNvPr>
            <p:cNvCxnSpPr>
              <a:stCxn id="2244" idx="4"/>
              <a:endCxn id="2184" idx="0"/>
            </p:cNvCxnSpPr>
            <p:nvPr/>
          </p:nvCxnSpPr>
          <p:spPr bwMode="auto">
            <a:xfrm>
              <a:off x="5081890" y="2084086"/>
              <a:ext cx="247420"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46" name="Imagen 103">
              <a:extLst>
                <a:ext uri="{FF2B5EF4-FFF2-40B4-BE49-F238E27FC236}">
                  <a16:creationId xmlns:a16="http://schemas.microsoft.com/office/drawing/2014/main" id="{C4DE46AF-7758-947C-1C1A-663CA5E214BE}"/>
                </a:ext>
              </a:extLst>
            </p:cNvPr>
            <p:cNvPicPr>
              <a:picLocks noChangeAspect="1"/>
            </p:cNvPicPr>
            <p:nvPr/>
          </p:nvPicPr>
          <p:blipFill rotWithShape="1">
            <a:blip r:embed="rId24"/>
            <a:srcRect b="14408"/>
            <a:stretch/>
          </p:blipFill>
          <p:spPr>
            <a:xfrm>
              <a:off x="4647171" y="4023129"/>
              <a:ext cx="725775" cy="439237"/>
            </a:xfrm>
            <a:prstGeom prst="rect">
              <a:avLst/>
            </a:prstGeom>
          </p:spPr>
        </p:pic>
      </p:grpSp>
      <p:grpSp>
        <p:nvGrpSpPr>
          <p:cNvPr id="2248" name="Grupo 46">
            <a:extLst>
              <a:ext uri="{FF2B5EF4-FFF2-40B4-BE49-F238E27FC236}">
                <a16:creationId xmlns:a16="http://schemas.microsoft.com/office/drawing/2014/main" id="{86DADA62-7B0C-EC5B-8723-97555B6FE5DD}"/>
              </a:ext>
            </a:extLst>
          </p:cNvPr>
          <p:cNvGrpSpPr/>
          <p:nvPr/>
        </p:nvGrpSpPr>
        <p:grpSpPr>
          <a:xfrm>
            <a:off x="108252" y="5926587"/>
            <a:ext cx="1949375" cy="876555"/>
            <a:chOff x="28167" y="6214269"/>
            <a:chExt cx="2479617" cy="1145168"/>
          </a:xfrm>
        </p:grpSpPr>
        <p:sp>
          <p:nvSpPr>
            <p:cNvPr id="2249" name="Rectángulo 47">
              <a:extLst>
                <a:ext uri="{FF2B5EF4-FFF2-40B4-BE49-F238E27FC236}">
                  <a16:creationId xmlns:a16="http://schemas.microsoft.com/office/drawing/2014/main" id="{88430F33-1B52-E074-1A65-927A841D9785}"/>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2250" name="Grupo 48">
              <a:extLst>
                <a:ext uri="{FF2B5EF4-FFF2-40B4-BE49-F238E27FC236}">
                  <a16:creationId xmlns:a16="http://schemas.microsoft.com/office/drawing/2014/main" id="{EAACD637-C5E4-C5EF-CE3B-DB5A65B71964}"/>
                </a:ext>
              </a:extLst>
            </p:cNvPr>
            <p:cNvGrpSpPr/>
            <p:nvPr/>
          </p:nvGrpSpPr>
          <p:grpSpPr>
            <a:xfrm>
              <a:off x="173764" y="6529579"/>
              <a:ext cx="2112236" cy="230832"/>
              <a:chOff x="4758249" y="6351968"/>
              <a:chExt cx="2378296" cy="230832"/>
            </a:xfrm>
          </p:grpSpPr>
          <p:sp>
            <p:nvSpPr>
              <p:cNvPr id="2260" name="94 Rectángulo redondeado">
                <a:extLst>
                  <a:ext uri="{FF2B5EF4-FFF2-40B4-BE49-F238E27FC236}">
                    <a16:creationId xmlns:a16="http://schemas.microsoft.com/office/drawing/2014/main" id="{8712E9D3-C9B8-7838-139E-7914B08FAAFE}"/>
                  </a:ext>
                </a:extLst>
              </p:cNvPr>
              <p:cNvSpPr/>
              <p:nvPr/>
            </p:nvSpPr>
            <p:spPr bwMode="auto">
              <a:xfrm>
                <a:off x="4758249" y="6396737"/>
                <a:ext cx="166155" cy="166155"/>
              </a:xfrm>
              <a:prstGeom prst="roundRect">
                <a:avLst/>
              </a:prstGeom>
              <a:solidFill>
                <a:srgbClr val="DFDAFC"/>
              </a:solidFill>
              <a:ln w="9525" cap="flat" cmpd="sng" algn="ctr">
                <a:solidFill>
                  <a:schemeClr val="bg1"/>
                </a:solidFill>
                <a:prstDash val="solid"/>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61" name="95 Rectángulo">
                <a:extLst>
                  <a:ext uri="{FF2B5EF4-FFF2-40B4-BE49-F238E27FC236}">
                    <a16:creationId xmlns:a16="http://schemas.microsoft.com/office/drawing/2014/main" id="{0D1B93C1-FE78-8809-BACF-8055FC1DD9F2}"/>
                  </a:ext>
                </a:extLst>
              </p:cNvPr>
              <p:cNvSpPr/>
              <p:nvPr/>
            </p:nvSpPr>
            <p:spPr>
              <a:xfrm>
                <a:off x="4863246" y="6351968"/>
                <a:ext cx="2273299"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2251" name="Grupo 49">
              <a:extLst>
                <a:ext uri="{FF2B5EF4-FFF2-40B4-BE49-F238E27FC236}">
                  <a16:creationId xmlns:a16="http://schemas.microsoft.com/office/drawing/2014/main" id="{126B7169-F2C6-8EEC-7542-6075097453B6}"/>
                </a:ext>
              </a:extLst>
            </p:cNvPr>
            <p:cNvGrpSpPr/>
            <p:nvPr/>
          </p:nvGrpSpPr>
          <p:grpSpPr>
            <a:xfrm>
              <a:off x="173764" y="6781817"/>
              <a:ext cx="2112236" cy="230832"/>
              <a:chOff x="4758249" y="6586786"/>
              <a:chExt cx="2378296" cy="230832"/>
            </a:xfrm>
          </p:grpSpPr>
          <p:sp>
            <p:nvSpPr>
              <p:cNvPr id="2258" name="96 Rectángulo redondeado">
                <a:extLst>
                  <a:ext uri="{FF2B5EF4-FFF2-40B4-BE49-F238E27FC236}">
                    <a16:creationId xmlns:a16="http://schemas.microsoft.com/office/drawing/2014/main" id="{E6A27FF6-BE9E-793E-8F30-70B92F6BB274}"/>
                  </a:ext>
                </a:extLst>
              </p:cNvPr>
              <p:cNvSpPr/>
              <p:nvPr/>
            </p:nvSpPr>
            <p:spPr bwMode="auto">
              <a:xfrm>
                <a:off x="4758249" y="6631554"/>
                <a:ext cx="166155" cy="166155"/>
              </a:xfrm>
              <a:prstGeom prst="round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59" name="97 Rectángulo">
                <a:extLst>
                  <a:ext uri="{FF2B5EF4-FFF2-40B4-BE49-F238E27FC236}">
                    <a16:creationId xmlns:a16="http://schemas.microsoft.com/office/drawing/2014/main" id="{39DE8FF5-18E1-3643-1EF3-9893C143A45E}"/>
                  </a:ext>
                </a:extLst>
              </p:cNvPr>
              <p:cNvSpPr/>
              <p:nvPr/>
            </p:nvSpPr>
            <p:spPr>
              <a:xfrm>
                <a:off x="4863246" y="6586786"/>
                <a:ext cx="2273299"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2252" name="Grupo 50">
              <a:extLst>
                <a:ext uri="{FF2B5EF4-FFF2-40B4-BE49-F238E27FC236}">
                  <a16:creationId xmlns:a16="http://schemas.microsoft.com/office/drawing/2014/main" id="{32358593-5EAC-C7B4-23A1-09ED12941A9B}"/>
                </a:ext>
              </a:extLst>
            </p:cNvPr>
            <p:cNvGrpSpPr/>
            <p:nvPr/>
          </p:nvGrpSpPr>
          <p:grpSpPr>
            <a:xfrm>
              <a:off x="173763" y="7034055"/>
              <a:ext cx="2112237" cy="230832"/>
              <a:chOff x="326270" y="6917111"/>
              <a:chExt cx="2378297" cy="230832"/>
            </a:xfrm>
          </p:grpSpPr>
          <p:sp>
            <p:nvSpPr>
              <p:cNvPr id="2256" name="91 Rectángulo redondeado">
                <a:extLst>
                  <a:ext uri="{FF2B5EF4-FFF2-40B4-BE49-F238E27FC236}">
                    <a16:creationId xmlns:a16="http://schemas.microsoft.com/office/drawing/2014/main" id="{8BF81F40-CE8F-AB3C-7F8A-E25E9CBF8E8F}"/>
                  </a:ext>
                </a:extLst>
              </p:cNvPr>
              <p:cNvSpPr/>
              <p:nvPr/>
            </p:nvSpPr>
            <p:spPr bwMode="auto">
              <a:xfrm>
                <a:off x="326270" y="6961877"/>
                <a:ext cx="166155" cy="166155"/>
              </a:xfrm>
              <a:prstGeom prst="roundRect">
                <a:avLst/>
              </a:prstGeom>
              <a:solidFill>
                <a:srgbClr val="5F5F5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57" name="92 Rectángulo">
                <a:extLst>
                  <a:ext uri="{FF2B5EF4-FFF2-40B4-BE49-F238E27FC236}">
                    <a16:creationId xmlns:a16="http://schemas.microsoft.com/office/drawing/2014/main" id="{7E4A62D1-8873-9E7A-E256-E691BD759B1E}"/>
                  </a:ext>
                </a:extLst>
              </p:cNvPr>
              <p:cNvSpPr/>
              <p:nvPr/>
            </p:nvSpPr>
            <p:spPr>
              <a:xfrm>
                <a:off x="431267"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2253" name="Grupo 51">
              <a:extLst>
                <a:ext uri="{FF2B5EF4-FFF2-40B4-BE49-F238E27FC236}">
                  <a16:creationId xmlns:a16="http://schemas.microsoft.com/office/drawing/2014/main" id="{01B6BEEE-A106-0BD7-5A24-8F1932990024}"/>
                </a:ext>
              </a:extLst>
            </p:cNvPr>
            <p:cNvGrpSpPr/>
            <p:nvPr/>
          </p:nvGrpSpPr>
          <p:grpSpPr>
            <a:xfrm>
              <a:off x="90831" y="6250258"/>
              <a:ext cx="2214218" cy="261537"/>
              <a:chOff x="71781" y="6250258"/>
              <a:chExt cx="2214218" cy="261537"/>
            </a:xfrm>
          </p:grpSpPr>
          <p:sp>
            <p:nvSpPr>
              <p:cNvPr id="2254" name="Estrella de 5 puntas 52">
                <a:extLst>
                  <a:ext uri="{FF2B5EF4-FFF2-40B4-BE49-F238E27FC236}">
                    <a16:creationId xmlns:a16="http://schemas.microsoft.com/office/drawing/2014/main" id="{45D1A9E1-B626-2AD5-20EB-AA1DB71EA5EB}"/>
                  </a:ext>
                </a:extLst>
              </p:cNvPr>
              <p:cNvSpPr/>
              <p:nvPr/>
            </p:nvSpPr>
            <p:spPr bwMode="auto">
              <a:xfrm>
                <a:off x="71781"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255" name="95 Rectángulo">
                <a:extLst>
                  <a:ext uri="{FF2B5EF4-FFF2-40B4-BE49-F238E27FC236}">
                    <a16:creationId xmlns:a16="http://schemas.microsoft.com/office/drawing/2014/main" id="{5EA7E982-3C0B-F4B6-CC06-281B5EB022DF}"/>
                  </a:ext>
                </a:extLst>
              </p:cNvPr>
              <p:cNvSpPr/>
              <p:nvPr/>
            </p:nvSpPr>
            <p:spPr>
              <a:xfrm>
                <a:off x="267012" y="6261001"/>
                <a:ext cx="2018987"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263" name="Imagen 7" descr="Diagrama&#10;&#10;Descripción generada automáticamente">
            <a:extLst>
              <a:ext uri="{FF2B5EF4-FFF2-40B4-BE49-F238E27FC236}">
                <a16:creationId xmlns:a16="http://schemas.microsoft.com/office/drawing/2014/main" id="{650EEAF8-51D7-3F12-C575-51354439F7D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551202" y="1944261"/>
            <a:ext cx="4455601" cy="2109203"/>
          </a:xfrm>
          <a:prstGeom prst="rect">
            <a:avLst/>
          </a:prstGeom>
          <a:ln>
            <a:solidFill>
              <a:schemeClr val="tx1"/>
            </a:solidFill>
          </a:ln>
        </p:spPr>
      </p:pic>
      <p:pic>
        <p:nvPicPr>
          <p:cNvPr id="3" name="Picture 2" descr="&#10;                Systems Manager capabilities perform actions on your resources.&#10;            ">
            <a:extLst>
              <a:ext uri="{FF2B5EF4-FFF2-40B4-BE49-F238E27FC236}">
                <a16:creationId xmlns:a16="http://schemas.microsoft.com/office/drawing/2014/main" id="{31344515-ECA9-7C70-6F3E-8184E0E7A8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35570" y="4133475"/>
            <a:ext cx="4862194" cy="25184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799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deployment view describes:</a:t>
            </a:r>
          </a:p>
          <a:p>
            <a:pPr marL="285750" indent="-285750">
              <a:buFont typeface="Arial" panose="020B0604020202020204" pitchFamily="34" charset="0"/>
              <a:buChar char="•"/>
            </a:pPr>
            <a:r>
              <a:rPr lang="en-US" sz="1400" i="1" dirty="0">
                <a:solidFill>
                  <a:schemeClr val="bg1">
                    <a:lumMod val="65000"/>
                  </a:schemeClr>
                </a:solidFill>
              </a:rPr>
              <a:t>the technical infrastructure used to execute your system, with infrastructure elements like geographical locations, environments, computers, processors, channels and net topologies as well as other infrastructure elements and</a:t>
            </a:r>
          </a:p>
          <a:p>
            <a:pPr marL="285750" indent="-285750">
              <a:buFont typeface="Arial" panose="020B0604020202020204" pitchFamily="34" charset="0"/>
              <a:buChar char="•"/>
            </a:pPr>
            <a:r>
              <a:rPr lang="en-US" sz="1400" i="1" dirty="0">
                <a:solidFill>
                  <a:schemeClr val="bg1">
                    <a:lumMod val="65000"/>
                  </a:schemeClr>
                </a:solidFill>
              </a:rPr>
              <a:t>the mapping of (software) building blocks to that infrastructure elements.</a:t>
            </a:r>
          </a:p>
          <a:p>
            <a:r>
              <a:rPr lang="en-US" sz="1400" i="1" dirty="0">
                <a:solidFill>
                  <a:schemeClr val="bg1">
                    <a:lumMod val="65000"/>
                  </a:schemeClr>
                </a:solidFill>
              </a:rPr>
              <a:t>Especially document the deployment view when your software is executed as distributed system with more then one computer, processor, server or container or when you design and construct your own hardware processors and chips.</a:t>
            </a:r>
          </a:p>
          <a:p>
            <a:r>
              <a:rPr lang="en-US" sz="1400" i="1" dirty="0">
                <a:solidFill>
                  <a:schemeClr val="bg1">
                    <a:lumMod val="65000"/>
                  </a:schemeClr>
                </a:solidFill>
              </a:rPr>
              <a:t>Highlight the changes and new components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2.3 Deployment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10" name="Picture 9">
            <a:extLst>
              <a:ext uri="{FF2B5EF4-FFF2-40B4-BE49-F238E27FC236}">
                <a16:creationId xmlns:a16="http://schemas.microsoft.com/office/drawing/2014/main" id="{6E0C38EE-FB6A-259C-12F6-D674A7BEBD5D}"/>
              </a:ext>
            </a:extLst>
          </p:cNvPr>
          <p:cNvPicPr>
            <a:picLocks noChangeAspect="1"/>
          </p:cNvPicPr>
          <p:nvPr/>
        </p:nvPicPr>
        <p:blipFill>
          <a:blip r:embed="rId2"/>
          <a:stretch>
            <a:fillRect/>
          </a:stretch>
        </p:blipFill>
        <p:spPr>
          <a:xfrm>
            <a:off x="169381" y="2627012"/>
            <a:ext cx="6555269" cy="2835910"/>
          </a:xfrm>
          <a:prstGeom prst="rect">
            <a:avLst/>
          </a:prstGeom>
        </p:spPr>
      </p:pic>
      <p:grpSp>
        <p:nvGrpSpPr>
          <p:cNvPr id="13" name="Grupo 46">
            <a:extLst>
              <a:ext uri="{FF2B5EF4-FFF2-40B4-BE49-F238E27FC236}">
                <a16:creationId xmlns:a16="http://schemas.microsoft.com/office/drawing/2014/main" id="{0CD56146-223F-E467-7CD3-D1256F52C52A}"/>
              </a:ext>
            </a:extLst>
          </p:cNvPr>
          <p:cNvGrpSpPr/>
          <p:nvPr/>
        </p:nvGrpSpPr>
        <p:grpSpPr>
          <a:xfrm>
            <a:off x="5070321" y="5828047"/>
            <a:ext cx="2032893" cy="876555"/>
            <a:chOff x="28167" y="6214269"/>
            <a:chExt cx="2585852" cy="1145168"/>
          </a:xfrm>
        </p:grpSpPr>
        <p:sp>
          <p:nvSpPr>
            <p:cNvPr id="14" name="Rectángulo 47">
              <a:extLst>
                <a:ext uri="{FF2B5EF4-FFF2-40B4-BE49-F238E27FC236}">
                  <a16:creationId xmlns:a16="http://schemas.microsoft.com/office/drawing/2014/main" id="{2A75605C-A5C1-4CEE-C542-5ED0D4418EFB}"/>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15" name="Grupo 48">
              <a:extLst>
                <a:ext uri="{FF2B5EF4-FFF2-40B4-BE49-F238E27FC236}">
                  <a16:creationId xmlns:a16="http://schemas.microsoft.com/office/drawing/2014/main" id="{6A62C72B-13C8-9CC9-A3CA-B624874B0CCE}"/>
                </a:ext>
              </a:extLst>
            </p:cNvPr>
            <p:cNvGrpSpPr/>
            <p:nvPr/>
          </p:nvGrpSpPr>
          <p:grpSpPr>
            <a:xfrm>
              <a:off x="90830" y="6529579"/>
              <a:ext cx="2504146" cy="230832"/>
              <a:chOff x="4664866" y="6351968"/>
              <a:chExt cx="2819566" cy="230832"/>
            </a:xfrm>
          </p:grpSpPr>
          <p:sp>
            <p:nvSpPr>
              <p:cNvPr id="25" name="94 Rectángulo redondeado">
                <a:extLst>
                  <a:ext uri="{FF2B5EF4-FFF2-40B4-BE49-F238E27FC236}">
                    <a16:creationId xmlns:a16="http://schemas.microsoft.com/office/drawing/2014/main" id="{10A94EC6-3EFA-3C5B-8CA6-18BE84ABBE61}"/>
                  </a:ext>
                </a:extLst>
              </p:cNvPr>
              <p:cNvSpPr/>
              <p:nvPr/>
            </p:nvSpPr>
            <p:spPr bwMode="auto">
              <a:xfrm>
                <a:off x="4664866" y="6396737"/>
                <a:ext cx="627786" cy="166155"/>
              </a:xfrm>
              <a:prstGeom prst="roundRect">
                <a:avLst/>
              </a:prstGeom>
              <a:solidFill>
                <a:schemeClr val="bg1"/>
              </a:solidFill>
              <a:ln w="28575" cap="flat" cmpd="sng" algn="ctr">
                <a:solidFill>
                  <a:srgbClr val="5252D2"/>
                </a:solidFill>
                <a:prstDash val="sysDash"/>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6" name="95 Rectángulo">
                <a:extLst>
                  <a:ext uri="{FF2B5EF4-FFF2-40B4-BE49-F238E27FC236}">
                    <a16:creationId xmlns:a16="http://schemas.microsoft.com/office/drawing/2014/main" id="{5813E312-A78A-C6E4-A1EA-6E071B4C8C68}"/>
                  </a:ext>
                </a:extLst>
              </p:cNvPr>
              <p:cNvSpPr/>
              <p:nvPr/>
            </p:nvSpPr>
            <p:spPr>
              <a:xfrm>
                <a:off x="5211132" y="6351968"/>
                <a:ext cx="2273300"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16" name="Grupo 49">
              <a:extLst>
                <a:ext uri="{FF2B5EF4-FFF2-40B4-BE49-F238E27FC236}">
                  <a16:creationId xmlns:a16="http://schemas.microsoft.com/office/drawing/2014/main" id="{EED57220-82F2-0039-E1D3-A0D370C732AB}"/>
                </a:ext>
              </a:extLst>
            </p:cNvPr>
            <p:cNvGrpSpPr/>
            <p:nvPr/>
          </p:nvGrpSpPr>
          <p:grpSpPr>
            <a:xfrm>
              <a:off x="90832" y="6781817"/>
              <a:ext cx="2504146" cy="230832"/>
              <a:chOff x="4664867" y="6586786"/>
              <a:chExt cx="2819565" cy="230832"/>
            </a:xfrm>
          </p:grpSpPr>
          <p:sp>
            <p:nvSpPr>
              <p:cNvPr id="23" name="96 Rectángulo redondeado">
                <a:extLst>
                  <a:ext uri="{FF2B5EF4-FFF2-40B4-BE49-F238E27FC236}">
                    <a16:creationId xmlns:a16="http://schemas.microsoft.com/office/drawing/2014/main" id="{F15553CF-BBDD-6E1E-8254-1395ACDFD966}"/>
                  </a:ext>
                </a:extLst>
              </p:cNvPr>
              <p:cNvSpPr/>
              <p:nvPr/>
            </p:nvSpPr>
            <p:spPr bwMode="auto">
              <a:xfrm>
                <a:off x="4664867" y="6631554"/>
                <a:ext cx="627785" cy="166155"/>
              </a:xfrm>
              <a:prstGeom prst="roundRect">
                <a:avLst/>
              </a:prstGeom>
              <a:solidFill>
                <a:schemeClr val="bg1"/>
              </a:solidFill>
              <a:ln w="28575" cap="flat" cmpd="sng" algn="ctr">
                <a:solidFill>
                  <a:srgbClr val="EB0000"/>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4" name="97 Rectángulo">
                <a:extLst>
                  <a:ext uri="{FF2B5EF4-FFF2-40B4-BE49-F238E27FC236}">
                    <a16:creationId xmlns:a16="http://schemas.microsoft.com/office/drawing/2014/main" id="{1407B693-5B73-7F75-C800-45C315056C5B}"/>
                  </a:ext>
                </a:extLst>
              </p:cNvPr>
              <p:cNvSpPr/>
              <p:nvPr/>
            </p:nvSpPr>
            <p:spPr>
              <a:xfrm>
                <a:off x="5211132" y="6586786"/>
                <a:ext cx="2273300"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17" name="Grupo 50">
              <a:extLst>
                <a:ext uri="{FF2B5EF4-FFF2-40B4-BE49-F238E27FC236}">
                  <a16:creationId xmlns:a16="http://schemas.microsoft.com/office/drawing/2014/main" id="{3C48B555-40FE-FA9F-5BB5-6C635894C7FA}"/>
                </a:ext>
              </a:extLst>
            </p:cNvPr>
            <p:cNvGrpSpPr/>
            <p:nvPr/>
          </p:nvGrpSpPr>
          <p:grpSpPr>
            <a:xfrm>
              <a:off x="90829" y="7034055"/>
              <a:ext cx="2504144" cy="230832"/>
              <a:chOff x="232890" y="6917111"/>
              <a:chExt cx="2819563" cy="230832"/>
            </a:xfrm>
          </p:grpSpPr>
          <p:sp>
            <p:nvSpPr>
              <p:cNvPr id="21" name="91 Rectángulo redondeado">
                <a:extLst>
                  <a:ext uri="{FF2B5EF4-FFF2-40B4-BE49-F238E27FC236}">
                    <a16:creationId xmlns:a16="http://schemas.microsoft.com/office/drawing/2014/main" id="{C9ECB74C-BFBF-7738-2674-1EE44C88CECF}"/>
                  </a:ext>
                </a:extLst>
              </p:cNvPr>
              <p:cNvSpPr/>
              <p:nvPr/>
            </p:nvSpPr>
            <p:spPr bwMode="auto">
              <a:xfrm>
                <a:off x="232890" y="6961877"/>
                <a:ext cx="627786" cy="166155"/>
              </a:xfrm>
              <a:prstGeom prst="roundRect">
                <a:avLst/>
              </a:prstGeom>
              <a:solidFill>
                <a:schemeClr val="bg1"/>
              </a:solidFill>
              <a:ln w="28575" cap="flat" cmpd="sng" algn="ctr">
                <a:solidFill>
                  <a:schemeClr val="tx1"/>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 name="92 Rectángulo">
                <a:extLst>
                  <a:ext uri="{FF2B5EF4-FFF2-40B4-BE49-F238E27FC236}">
                    <a16:creationId xmlns:a16="http://schemas.microsoft.com/office/drawing/2014/main" id="{4A75912A-FF64-31C8-17B1-CBE904F671B4}"/>
                  </a:ext>
                </a:extLst>
              </p:cNvPr>
              <p:cNvSpPr/>
              <p:nvPr/>
            </p:nvSpPr>
            <p:spPr>
              <a:xfrm>
                <a:off x="779153"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18" name="Grupo 51">
              <a:extLst>
                <a:ext uri="{FF2B5EF4-FFF2-40B4-BE49-F238E27FC236}">
                  <a16:creationId xmlns:a16="http://schemas.microsoft.com/office/drawing/2014/main" id="{7A29C007-F691-3BD1-158E-2BCA86614F47}"/>
                </a:ext>
              </a:extLst>
            </p:cNvPr>
            <p:cNvGrpSpPr/>
            <p:nvPr/>
          </p:nvGrpSpPr>
          <p:grpSpPr>
            <a:xfrm>
              <a:off x="230169" y="6250258"/>
              <a:ext cx="2383850" cy="261537"/>
              <a:chOff x="211119" y="6250258"/>
              <a:chExt cx="2383850" cy="261537"/>
            </a:xfrm>
          </p:grpSpPr>
          <p:sp>
            <p:nvSpPr>
              <p:cNvPr id="19" name="Estrella de 5 puntas 52">
                <a:extLst>
                  <a:ext uri="{FF2B5EF4-FFF2-40B4-BE49-F238E27FC236}">
                    <a16:creationId xmlns:a16="http://schemas.microsoft.com/office/drawing/2014/main" id="{782E667D-3BFD-491F-BF97-A09FFAC0345C}"/>
                  </a:ext>
                </a:extLst>
              </p:cNvPr>
              <p:cNvSpPr/>
              <p:nvPr/>
            </p:nvSpPr>
            <p:spPr bwMode="auto">
              <a:xfrm>
                <a:off x="211119"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0" name="95 Rectángulo">
                <a:extLst>
                  <a:ext uri="{FF2B5EF4-FFF2-40B4-BE49-F238E27FC236}">
                    <a16:creationId xmlns:a16="http://schemas.microsoft.com/office/drawing/2014/main" id="{2CAA5139-2A36-10AF-2CC4-12C8317319F4}"/>
                  </a:ext>
                </a:extLst>
              </p:cNvPr>
              <p:cNvSpPr/>
              <p:nvPr/>
            </p:nvSpPr>
            <p:spPr>
              <a:xfrm>
                <a:off x="575981" y="6261001"/>
                <a:ext cx="2018988"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7" name="Imagen 7" descr="Diagrama, Esquemático&#10;&#10;Descripción generada automáticamente">
            <a:extLst>
              <a:ext uri="{FF2B5EF4-FFF2-40B4-BE49-F238E27FC236}">
                <a16:creationId xmlns:a16="http://schemas.microsoft.com/office/drawing/2014/main" id="{0B6EFEB6-1BF0-F579-821C-4FBFE113D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2919" y="2542420"/>
            <a:ext cx="5219700" cy="2956272"/>
          </a:xfrm>
          <a:prstGeom prst="rect">
            <a:avLst/>
          </a:prstGeom>
        </p:spPr>
      </p:pic>
      <p:sp>
        <p:nvSpPr>
          <p:cNvPr id="3" name="TextBox 2">
            <a:extLst>
              <a:ext uri="{FF2B5EF4-FFF2-40B4-BE49-F238E27FC236}">
                <a16:creationId xmlns:a16="http://schemas.microsoft.com/office/drawing/2014/main" id="{B54D030E-1E4B-B335-DDCA-EB23DE191B45}"/>
              </a:ext>
            </a:extLst>
          </p:cNvPr>
          <p:cNvSpPr txBox="1"/>
          <p:nvPr/>
        </p:nvSpPr>
        <p:spPr>
          <a:xfrm>
            <a:off x="7541039" y="184006"/>
            <a:ext cx="3933006" cy="830997"/>
          </a:xfrm>
          <a:prstGeom prst="rect">
            <a:avLst/>
          </a:prstGeom>
          <a:solidFill>
            <a:srgbClr val="FFFF00"/>
          </a:solidFill>
          <a:ln>
            <a:solidFill>
              <a:schemeClr val="tx1"/>
            </a:solidFill>
          </a:ln>
        </p:spPr>
        <p:txBody>
          <a:bodyPr wrap="square" rtlCol="0">
            <a:spAutoFit/>
          </a:bodyPr>
          <a:lstStyle/>
          <a:p>
            <a:pPr algn="ctr"/>
            <a:r>
              <a:rPr lang="en-US" sz="2400" b="1" dirty="0"/>
              <a:t>Not Mandatory in the first phase</a:t>
            </a:r>
          </a:p>
        </p:txBody>
      </p:sp>
    </p:spTree>
    <p:extLst>
      <p:ext uri="{BB962C8B-B14F-4D97-AF65-F5344CB8AC3E}">
        <p14:creationId xmlns:p14="http://schemas.microsoft.com/office/powerpoint/2010/main" val="376835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runtime view describes concrete behavior and interactions of the system’s building blocks in form of scenarios from the following areas:</a:t>
            </a:r>
          </a:p>
          <a:p>
            <a:pPr marL="285750" indent="-285750">
              <a:buFont typeface="Arial" panose="020B0604020202020204" pitchFamily="34" charset="0"/>
              <a:buChar char="•"/>
            </a:pPr>
            <a:r>
              <a:rPr lang="en-US" sz="1400" i="1" dirty="0">
                <a:solidFill>
                  <a:schemeClr val="bg1">
                    <a:lumMod val="65000"/>
                  </a:schemeClr>
                </a:solidFill>
              </a:rPr>
              <a:t>important use cases or features: how do building blocks execute them?</a:t>
            </a:r>
          </a:p>
          <a:p>
            <a:pPr marL="285750" indent="-285750">
              <a:buFont typeface="Arial" panose="020B0604020202020204" pitchFamily="34" charset="0"/>
              <a:buChar char="•"/>
            </a:pPr>
            <a:r>
              <a:rPr lang="en-US" sz="1400" i="1" dirty="0">
                <a:solidFill>
                  <a:schemeClr val="bg1">
                    <a:lumMod val="65000"/>
                  </a:schemeClr>
                </a:solidFill>
              </a:rPr>
              <a:t>interactions at critical external interfaces: how do building blocks cooperate with users and </a:t>
            </a:r>
            <a:r>
              <a:rPr lang="en-US" sz="1400" i="1" dirty="0" err="1">
                <a:solidFill>
                  <a:schemeClr val="bg1">
                    <a:lumMod val="65000"/>
                  </a:schemeClr>
                </a:solidFill>
              </a:rPr>
              <a:t>neighbouring</a:t>
            </a:r>
            <a:r>
              <a:rPr lang="en-US" sz="1400" i="1" dirty="0">
                <a:solidFill>
                  <a:schemeClr val="bg1">
                    <a:lumMod val="65000"/>
                  </a:schemeClr>
                </a:solidFill>
              </a:rPr>
              <a:t> systems?</a:t>
            </a:r>
          </a:p>
          <a:p>
            <a:pPr marL="285750" indent="-285750">
              <a:buFont typeface="Arial" panose="020B0604020202020204" pitchFamily="34" charset="0"/>
              <a:buChar char="•"/>
            </a:pPr>
            <a:r>
              <a:rPr lang="en-US" sz="1400" i="1" dirty="0">
                <a:solidFill>
                  <a:schemeClr val="bg1">
                    <a:lumMod val="65000"/>
                  </a:schemeClr>
                </a:solidFill>
              </a:rPr>
              <a:t>operation and administration: launch, start-up, stop</a:t>
            </a:r>
          </a:p>
          <a:p>
            <a:pPr marL="285750" indent="-285750">
              <a:buFont typeface="Arial" panose="020B0604020202020204" pitchFamily="34" charset="0"/>
              <a:buChar char="•"/>
            </a:pPr>
            <a:r>
              <a:rPr lang="en-US" sz="1400" i="1" dirty="0">
                <a:solidFill>
                  <a:schemeClr val="bg1">
                    <a:lumMod val="65000"/>
                  </a:schemeClr>
                </a:solidFill>
              </a:rPr>
              <a:t>error and exception scenarios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2.4 Runtime View / Sequence Diagram</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4098" name="Picture 2" descr="Main Loop">
            <a:extLst>
              <a:ext uri="{FF2B5EF4-FFF2-40B4-BE49-F238E27FC236}">
                <a16:creationId xmlns:a16="http://schemas.microsoft.com/office/drawing/2014/main" id="{6EED871F-6D8E-ADA2-235E-6AF361C45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04" y="2514600"/>
            <a:ext cx="4138139" cy="310075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9D3447E-BE58-BA56-3458-42CABE815FCD}"/>
              </a:ext>
            </a:extLst>
          </p:cNvPr>
          <p:cNvPicPr>
            <a:picLocks noChangeAspect="1"/>
          </p:cNvPicPr>
          <p:nvPr/>
        </p:nvPicPr>
        <p:blipFill>
          <a:blip r:embed="rId3"/>
          <a:stretch>
            <a:fillRect/>
          </a:stretch>
        </p:blipFill>
        <p:spPr>
          <a:xfrm>
            <a:off x="6124371" y="2549025"/>
            <a:ext cx="5358935" cy="2908621"/>
          </a:xfrm>
          <a:prstGeom prst="rect">
            <a:avLst/>
          </a:prstGeom>
        </p:spPr>
      </p:pic>
    </p:spTree>
    <p:extLst>
      <p:ext uri="{BB962C8B-B14F-4D97-AF65-F5344CB8AC3E}">
        <p14:creationId xmlns:p14="http://schemas.microsoft.com/office/powerpoint/2010/main" val="97272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Message/Traffic Flow</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18</a:t>
            </a:fld>
            <a:endParaRPr lang="es-ES" dirty="0"/>
          </a:p>
        </p:txBody>
      </p:sp>
      <p:graphicFrame>
        <p:nvGraphicFramePr>
          <p:cNvPr id="17" name="Table 16"/>
          <p:cNvGraphicFramePr>
            <a:graphicFrameLocks noGrp="1"/>
          </p:cNvGraphicFramePr>
          <p:nvPr>
            <p:extLst>
              <p:ext uri="{D42A27DB-BD31-4B8C-83A1-F6EECF244321}">
                <p14:modId xmlns:p14="http://schemas.microsoft.com/office/powerpoint/2010/main" val="506472820"/>
              </p:ext>
            </p:extLst>
          </p:nvPr>
        </p:nvGraphicFramePr>
        <p:xfrm>
          <a:off x="597395" y="1449834"/>
          <a:ext cx="11099305" cy="2160423"/>
        </p:xfrm>
        <a:graphic>
          <a:graphicData uri="http://schemas.openxmlformats.org/drawingml/2006/table">
            <a:tbl>
              <a:tblPr firstRow="1" bandRow="1">
                <a:tableStyleId>{6E25E649-3F16-4E02-A733-19D2CDBF48F0}</a:tableStyleId>
              </a:tblPr>
              <a:tblGrid>
                <a:gridCol w="476721">
                  <a:extLst>
                    <a:ext uri="{9D8B030D-6E8A-4147-A177-3AD203B41FA5}">
                      <a16:colId xmlns:a16="http://schemas.microsoft.com/office/drawing/2014/main" val="20000"/>
                    </a:ext>
                  </a:extLst>
                </a:gridCol>
                <a:gridCol w="913604">
                  <a:extLst>
                    <a:ext uri="{9D8B030D-6E8A-4147-A177-3AD203B41FA5}">
                      <a16:colId xmlns:a16="http://schemas.microsoft.com/office/drawing/2014/main" val="3305499651"/>
                    </a:ext>
                  </a:extLst>
                </a:gridCol>
                <a:gridCol w="764841">
                  <a:extLst>
                    <a:ext uri="{9D8B030D-6E8A-4147-A177-3AD203B41FA5}">
                      <a16:colId xmlns:a16="http://schemas.microsoft.com/office/drawing/2014/main" val="20001"/>
                    </a:ext>
                  </a:extLst>
                </a:gridCol>
                <a:gridCol w="1175323">
                  <a:extLst>
                    <a:ext uri="{9D8B030D-6E8A-4147-A177-3AD203B41FA5}">
                      <a16:colId xmlns:a16="http://schemas.microsoft.com/office/drawing/2014/main" val="20002"/>
                    </a:ext>
                  </a:extLst>
                </a:gridCol>
                <a:gridCol w="1691274">
                  <a:extLst>
                    <a:ext uri="{9D8B030D-6E8A-4147-A177-3AD203B41FA5}">
                      <a16:colId xmlns:a16="http://schemas.microsoft.com/office/drawing/2014/main" val="20003"/>
                    </a:ext>
                  </a:extLst>
                </a:gridCol>
                <a:gridCol w="996065">
                  <a:extLst>
                    <a:ext uri="{9D8B030D-6E8A-4147-A177-3AD203B41FA5}">
                      <a16:colId xmlns:a16="http://schemas.microsoft.com/office/drawing/2014/main" val="20004"/>
                    </a:ext>
                  </a:extLst>
                </a:gridCol>
                <a:gridCol w="1201401">
                  <a:extLst>
                    <a:ext uri="{9D8B030D-6E8A-4147-A177-3AD203B41FA5}">
                      <a16:colId xmlns:a16="http://schemas.microsoft.com/office/drawing/2014/main" val="20005"/>
                    </a:ext>
                  </a:extLst>
                </a:gridCol>
                <a:gridCol w="970019">
                  <a:extLst>
                    <a:ext uri="{9D8B030D-6E8A-4147-A177-3AD203B41FA5}">
                      <a16:colId xmlns:a16="http://schemas.microsoft.com/office/drawing/2014/main" val="20006"/>
                    </a:ext>
                  </a:extLst>
                </a:gridCol>
                <a:gridCol w="970019">
                  <a:extLst>
                    <a:ext uri="{9D8B030D-6E8A-4147-A177-3AD203B41FA5}">
                      <a16:colId xmlns:a16="http://schemas.microsoft.com/office/drawing/2014/main" val="20007"/>
                    </a:ext>
                  </a:extLst>
                </a:gridCol>
                <a:gridCol w="970019">
                  <a:extLst>
                    <a:ext uri="{9D8B030D-6E8A-4147-A177-3AD203B41FA5}">
                      <a16:colId xmlns:a16="http://schemas.microsoft.com/office/drawing/2014/main" val="2899476234"/>
                    </a:ext>
                  </a:extLst>
                </a:gridCol>
                <a:gridCol w="970019">
                  <a:extLst>
                    <a:ext uri="{9D8B030D-6E8A-4147-A177-3AD203B41FA5}">
                      <a16:colId xmlns:a16="http://schemas.microsoft.com/office/drawing/2014/main" val="3743441162"/>
                    </a:ext>
                  </a:extLst>
                </a:gridCol>
              </a:tblGrid>
              <a:tr h="342900">
                <a:tc>
                  <a:txBody>
                    <a:bodyPr/>
                    <a:lstStyle/>
                    <a:p>
                      <a:pPr algn="ctr"/>
                      <a:r>
                        <a:rPr lang="en-US" sz="1100" dirty="0"/>
                        <a:t>Flow</a:t>
                      </a:r>
                    </a:p>
                    <a:p>
                      <a:pPr algn="ctr"/>
                      <a:r>
                        <a:rPr lang="en-US" sz="1100" dirty="0"/>
                        <a:t>Id</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Connection Name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Source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Destination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Traffic type / </a:t>
                      </a:r>
                      <a:br>
                        <a:rPr lang="en-US" sz="1100" dirty="0">
                          <a:solidFill>
                            <a:schemeClr val="bg1"/>
                          </a:solidFill>
                        </a:rPr>
                      </a:br>
                      <a:r>
                        <a:rPr lang="en-US" sz="1100" dirty="0"/>
                        <a:t>Content 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aseline="0" dirty="0"/>
                        <a:t>Protocols / Ports</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Classification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Encryption Method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a:t>
                      </a:r>
                      <a:r>
                        <a:rPr lang="en-US" sz="1100" dirty="0" err="1"/>
                        <a:t>xisting</a:t>
                      </a:r>
                      <a:endParaRPr lang="en-US" sz="1100" dirty="0"/>
                    </a:p>
                    <a:p>
                      <a:pPr algn="ctr"/>
                      <a:r>
                        <a:rPr lang="en-US" sz="1100" dirty="0"/>
                        <a:t>(N)</a:t>
                      </a:r>
                      <a:r>
                        <a:rPr lang="en-US" sz="1100" dirty="0" err="1"/>
                        <a:t>ew</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(I)</a:t>
                      </a:r>
                      <a:r>
                        <a:rPr lang="en-US" sz="1100" dirty="0" err="1"/>
                        <a:t>nternal</a:t>
                      </a:r>
                      <a:r>
                        <a:rPr lang="en-US" sz="1100" dirty="0"/>
                        <a:t> / (T)</a:t>
                      </a:r>
                      <a:r>
                        <a:rPr lang="en-US" sz="1100" dirty="0" err="1"/>
                        <a:t>hird</a:t>
                      </a:r>
                      <a:r>
                        <a:rPr lang="en-US" sz="1100" dirty="0"/>
                        <a:t> Party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Size</a:t>
                      </a:r>
                    </a:p>
                  </a:txBody>
                  <a:tcPr marL="68580" marR="68580" marT="34290" marB="3429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Asset control</a:t>
                      </a:r>
                    </a:p>
                    <a:p>
                      <a:r>
                        <a:rPr lang="en-US" sz="1000" dirty="0">
                          <a:solidFill>
                            <a:schemeClr val="bg2">
                              <a:lumMod val="10000"/>
                            </a:schemeClr>
                          </a:solidFill>
                        </a:rPr>
                        <a:t>T24</a:t>
                      </a:r>
                    </a:p>
                    <a:p>
                      <a:endParaRPr lang="en-US" sz="1000"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Asset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900" dirty="0"/>
                        <a:t>SFTP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Internal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900" b="1"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kern="1200" dirty="0">
                          <a:solidFill>
                            <a:schemeClr val="bg2">
                              <a:lumMod val="10000"/>
                            </a:schemeClr>
                          </a:solidFill>
                          <a:latin typeface="+mn-lt"/>
                          <a:ea typeface="+mn-ea"/>
                          <a:cs typeface="+mn-cs"/>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SGTO (</a:t>
                      </a:r>
                      <a:r>
                        <a:rPr kumimoji="0" lang="en-US" sz="1000" b="0" i="0" u="none" strike="noStrike" kern="1200" cap="none" spc="0" normalizeH="0" baseline="0" noProof="0" dirty="0" err="1">
                          <a:ln>
                            <a:noFill/>
                          </a:ln>
                          <a:solidFill>
                            <a:srgbClr val="E7E6E6">
                              <a:lumMod val="10000"/>
                            </a:srgbClr>
                          </a:solidFill>
                          <a:effectLst/>
                          <a:uLnTx/>
                          <a:uFillTx/>
                          <a:latin typeface="Arial"/>
                          <a:ea typeface="+mn-ea"/>
                          <a:cs typeface="+mn-cs"/>
                        </a:rPr>
                        <a:t>intratgroup</a:t>
                      </a: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 entity)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kern="1200" dirty="0">
                          <a:solidFill>
                            <a:schemeClr val="bg2">
                              <a:lumMod val="10000"/>
                            </a:schemeClr>
                          </a:solidFill>
                          <a:latin typeface="+mn-lt"/>
                          <a:ea typeface="+mn-ea"/>
                          <a:cs typeface="+mn-cs"/>
                        </a:rPr>
                        <a:t>Small</a:t>
                      </a:r>
                    </a:p>
                    <a:p>
                      <a:pPr algn="ct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 – DTCC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DTCC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Online/Batch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SFTP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900" b="1" kern="1200" dirty="0">
                          <a:solidFill>
                            <a:schemeClr val="dk1"/>
                          </a:solidFill>
                          <a:latin typeface="+mn-lt"/>
                          <a:ea typeface="+mn-ea"/>
                          <a:cs typeface="+mn-cs"/>
                        </a:rPr>
                        <a:t>No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DTCC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Small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T24 - Medea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Medea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SFTP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900" b="1" kern="1200" dirty="0">
                          <a:solidFill>
                            <a:schemeClr val="dk1"/>
                          </a:solidFill>
                          <a:latin typeface="+mn-lt"/>
                          <a:ea typeface="+mn-ea"/>
                          <a:cs typeface="+mn-cs"/>
                        </a:rPr>
                        <a:t>No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NA – BSI local system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Small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43255337"/>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T24 - Murex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Murex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SFTP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900" b="1" kern="1200" dirty="0">
                          <a:solidFill>
                            <a:schemeClr val="dk1"/>
                          </a:solidFill>
                          <a:latin typeface="+mn-lt"/>
                          <a:ea typeface="+mn-ea"/>
                          <a:cs typeface="+mn-cs"/>
                        </a:rPr>
                        <a:t>No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SGTO (</a:t>
                      </a:r>
                      <a:r>
                        <a:rPr kumimoji="0" lang="en-US" sz="1000" b="0" i="0" u="none" strike="noStrike" kern="1200" cap="none" spc="0" normalizeH="0" baseline="0" noProof="0" dirty="0" err="1">
                          <a:ln>
                            <a:noFill/>
                          </a:ln>
                          <a:solidFill>
                            <a:srgbClr val="E7E6E6">
                              <a:lumMod val="10000"/>
                            </a:srgbClr>
                          </a:solidFill>
                          <a:effectLst/>
                          <a:uLnTx/>
                          <a:uFillTx/>
                          <a:latin typeface="+mn-lt"/>
                          <a:ea typeface="+mn-ea"/>
                          <a:cs typeface="+mn-cs"/>
                        </a:rPr>
                        <a:t>intratgroup</a:t>
                      </a: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 entity)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Small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12488553"/>
                  </a:ext>
                </a:extLst>
              </a:tr>
            </a:tbl>
          </a:graphicData>
        </a:graphic>
      </p:graphicFrame>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2.5 Integration – Message/Traffic Flow</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15250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19</a:t>
            </a:fld>
            <a:endParaRPr lang="es-ES" dirty="0"/>
          </a:p>
        </p:txBody>
      </p:sp>
      <p:sp>
        <p:nvSpPr>
          <p:cNvPr id="3" name="Rectangle 2"/>
          <p:cNvSpPr/>
          <p:nvPr/>
        </p:nvSpPr>
        <p:spPr>
          <a:xfrm>
            <a:off x="861391" y="1159099"/>
            <a:ext cx="10373440" cy="307777"/>
          </a:xfrm>
          <a:prstGeom prst="rect">
            <a:avLst/>
          </a:prstGeom>
        </p:spPr>
        <p:txBody>
          <a:bodyPr wrap="square">
            <a:spAutoFit/>
          </a:bodyPr>
          <a:lstStyle/>
          <a:p>
            <a:pPr fontAlgn="auto">
              <a:spcBef>
                <a:spcPts val="0"/>
              </a:spcBef>
              <a:spcAft>
                <a:spcPts val="0"/>
              </a:spcAft>
              <a:buClrTx/>
              <a:buFontTx/>
              <a:buNone/>
            </a:pPr>
            <a:r>
              <a:rPr lang="en-US" sz="1400" i="1" dirty="0">
                <a:solidFill>
                  <a:schemeClr val="bg1">
                    <a:lumMod val="50000"/>
                  </a:schemeClr>
                </a:solidFill>
              </a:rPr>
              <a:t>If the project or application involves connectivity with a 3</a:t>
            </a:r>
            <a:r>
              <a:rPr lang="en-US" sz="1400" i="1" baseline="30000" dirty="0">
                <a:solidFill>
                  <a:schemeClr val="bg1">
                    <a:lumMod val="50000"/>
                  </a:schemeClr>
                </a:solidFill>
              </a:rPr>
              <a:t>rd</a:t>
            </a:r>
            <a:r>
              <a:rPr lang="en-US" sz="1400" i="1" dirty="0">
                <a:solidFill>
                  <a:schemeClr val="bg1">
                    <a:lumMod val="50000"/>
                  </a:schemeClr>
                </a:solidFill>
              </a:rPr>
              <a:t> party vendors, please provide information relevant to the project</a:t>
            </a:r>
          </a:p>
        </p:txBody>
      </p:sp>
      <p:graphicFrame>
        <p:nvGraphicFramePr>
          <p:cNvPr id="8" name="Table 7">
            <a:extLst>
              <a:ext uri="{FF2B5EF4-FFF2-40B4-BE49-F238E27FC236}">
                <a16:creationId xmlns:a16="http://schemas.microsoft.com/office/drawing/2014/main" id="{7875A88C-3064-4772-93C8-8AF39F9AD790}"/>
              </a:ext>
            </a:extLst>
          </p:cNvPr>
          <p:cNvGraphicFramePr>
            <a:graphicFrameLocks noGrp="1"/>
          </p:cNvGraphicFramePr>
          <p:nvPr>
            <p:extLst>
              <p:ext uri="{D42A27DB-BD31-4B8C-83A1-F6EECF244321}">
                <p14:modId xmlns:p14="http://schemas.microsoft.com/office/powerpoint/2010/main" val="3558384544"/>
              </p:ext>
            </p:extLst>
          </p:nvPr>
        </p:nvGraphicFramePr>
        <p:xfrm>
          <a:off x="777667" y="1903444"/>
          <a:ext cx="10416862" cy="2527448"/>
        </p:xfrm>
        <a:graphic>
          <a:graphicData uri="http://schemas.openxmlformats.org/drawingml/2006/table">
            <a:tbl>
              <a:tblPr firstRow="1" bandRow="1">
                <a:tableStyleId>{6E25E649-3F16-4E02-A733-19D2CDBF48F0}</a:tableStyleId>
              </a:tblPr>
              <a:tblGrid>
                <a:gridCol w="1822920">
                  <a:extLst>
                    <a:ext uri="{9D8B030D-6E8A-4147-A177-3AD203B41FA5}">
                      <a16:colId xmlns:a16="http://schemas.microsoft.com/office/drawing/2014/main" val="20000"/>
                    </a:ext>
                  </a:extLst>
                </a:gridCol>
                <a:gridCol w="2525086">
                  <a:extLst>
                    <a:ext uri="{9D8B030D-6E8A-4147-A177-3AD203B41FA5}">
                      <a16:colId xmlns:a16="http://schemas.microsoft.com/office/drawing/2014/main" val="20001"/>
                    </a:ext>
                  </a:extLst>
                </a:gridCol>
                <a:gridCol w="3011648">
                  <a:extLst>
                    <a:ext uri="{9D8B030D-6E8A-4147-A177-3AD203B41FA5}">
                      <a16:colId xmlns:a16="http://schemas.microsoft.com/office/drawing/2014/main" val="4266177986"/>
                    </a:ext>
                  </a:extLst>
                </a:gridCol>
                <a:gridCol w="3057208">
                  <a:extLst>
                    <a:ext uri="{9D8B030D-6E8A-4147-A177-3AD203B41FA5}">
                      <a16:colId xmlns:a16="http://schemas.microsoft.com/office/drawing/2014/main" val="2684080532"/>
                    </a:ext>
                  </a:extLst>
                </a:gridCol>
              </a:tblGrid>
              <a:tr h="299825">
                <a:tc>
                  <a:txBody>
                    <a:bodyPr/>
                    <a:lstStyle/>
                    <a:p>
                      <a:r>
                        <a:rPr lang="en-US" dirty="0"/>
                        <a:t>Vendor 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status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Data exchange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0911">
                <a:tc>
                  <a:txBody>
                    <a:bodyPr/>
                    <a:lstStyle/>
                    <a:p>
                      <a:endParaRPr lang="en-US" sz="1050" b="1" dirty="0"/>
                    </a:p>
                    <a:p>
                      <a:endParaRPr lang="en-US" sz="1050" b="1" dirty="0"/>
                    </a:p>
                    <a:p>
                      <a:r>
                        <a:rPr lang="en-US" sz="1050" b="1" dirty="0"/>
                        <a:t>Santander Global Tech (Intragroup Entity)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pPr marL="0" indent="0">
                        <a:buFontTx/>
                        <a:buNone/>
                      </a:pPr>
                      <a:endParaRPr lang="en-US" sz="1050" dirty="0"/>
                    </a:p>
                    <a:p>
                      <a:pPr marL="171450" indent="-171450">
                        <a:buFontTx/>
                        <a:buChar char="-"/>
                      </a:pPr>
                      <a:r>
                        <a:rPr lang="en-US" sz="1050" b="1" dirty="0"/>
                        <a:t>Existing connection </a:t>
                      </a:r>
                      <a:r>
                        <a:rPr lang="en-US" sz="1050" dirty="0"/>
                        <a:t>(use an existing connection with the vendor)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pPr marL="171450" indent="-171450">
                        <a:buFontTx/>
                        <a:buChar char="-"/>
                      </a:pPr>
                      <a:r>
                        <a:rPr lang="en-US" sz="1050" b="1" dirty="0"/>
                        <a:t>Murex: Saas application</a:t>
                      </a:r>
                    </a:p>
                    <a:p>
                      <a:pPr marL="171450" indent="-171450">
                        <a:buFontTx/>
                        <a:buChar char="-"/>
                      </a:pPr>
                      <a:r>
                        <a:rPr lang="en-US" sz="1050" b="1" dirty="0"/>
                        <a:t>Asset control</a:t>
                      </a:r>
                      <a:endParaRPr lang="en-US" sz="1050" b="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r>
                        <a:rPr lang="en-US" sz="1050" b="1" dirty="0"/>
                        <a:t>Asset control provides FWD and Fixing Rates to T24. </a:t>
                      </a:r>
                      <a:br>
                        <a:rPr lang="en-US" sz="1050" b="1" dirty="0"/>
                      </a:br>
                      <a:br>
                        <a:rPr lang="en-US" sz="1050" b="1" dirty="0"/>
                      </a:br>
                      <a:r>
                        <a:rPr lang="en-US" sz="1050" b="1" dirty="0"/>
                        <a:t>T24 provides trade info to Murex. </a:t>
                      </a: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199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t>DTCC</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dirty="0"/>
                        <a:t>Existing connection </a:t>
                      </a:r>
                      <a:r>
                        <a:rPr lang="en-US" sz="1050" dirty="0"/>
                        <a:t>(use an existing connection with the vendor)</a:t>
                      </a:r>
                    </a:p>
                    <a:p>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lang="en-US" sz="1050" dirty="0"/>
                        <a:t>Off premises</a:t>
                      </a:r>
                    </a:p>
                    <a:p>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lang="en-US" sz="1050" dirty="0"/>
                        <a:t>T24 reports trade info to DTCC so BSI can meet Dodd Frank requirements.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99412">
                <a:tc>
                  <a:txBody>
                    <a:bodyPr/>
                    <a:lstStyle/>
                    <a:p>
                      <a:pPr marL="0" indent="0" fontAlgn="auto">
                        <a:spcBef>
                          <a:spcPts val="0"/>
                        </a:spcBef>
                        <a:spcAft>
                          <a:spcPts val="0"/>
                        </a:spcAft>
                        <a:buClrTx/>
                        <a:buFont typeface="Arial" panose="020B0604020202020204" pitchFamily="34" charset="0"/>
                        <a:buNone/>
                      </a:pP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98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237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9" name="Marcador de texto 5">
            <a:extLst>
              <a:ext uri="{FF2B5EF4-FFF2-40B4-BE49-F238E27FC236}">
                <a16:creationId xmlns:a16="http://schemas.microsoft.com/office/drawing/2014/main" id="{7422B5F5-4801-256D-9F6F-3BB3022B9E7A}"/>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10" name="Título 1">
            <a:extLst>
              <a:ext uri="{FF2B5EF4-FFF2-40B4-BE49-F238E27FC236}">
                <a16:creationId xmlns:a16="http://schemas.microsoft.com/office/drawing/2014/main" id="{E238BEEC-5EE2-DCD5-8A45-065DE2A4A57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2.6 </a:t>
            </a:r>
            <a:r>
              <a:rPr lang="en-US" dirty="0"/>
              <a:t>Third Party Connectivity Information</a:t>
            </a:r>
          </a:p>
        </p:txBody>
      </p:sp>
    </p:spTree>
    <p:extLst>
      <p:ext uri="{BB962C8B-B14F-4D97-AF65-F5344CB8AC3E}">
        <p14:creationId xmlns:p14="http://schemas.microsoft.com/office/powerpoint/2010/main" val="115048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768119"/>
            <a:ext cx="11219866" cy="5441483"/>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Data Flow</a:t>
            </a:r>
          </a:p>
          <a:p>
            <a:r>
              <a:rPr lang="en-US" sz="1400" i="1" dirty="0">
                <a:solidFill>
                  <a:schemeClr val="bg1">
                    <a:lumMod val="65000"/>
                  </a:schemeClr>
                </a:solidFill>
              </a:rPr>
              <a:t>Please use the format below to document the data flow of the target solution.</a:t>
            </a:r>
          </a:p>
          <a:p>
            <a:r>
              <a:rPr lang="en-US" sz="1400" i="1" dirty="0">
                <a:solidFill>
                  <a:schemeClr val="bg1">
                    <a:lumMod val="65000"/>
                  </a:schemeClr>
                </a:solidFill>
              </a:rPr>
              <a:t>Include expected file transfers, ETL jobs, internal database code (e.g. sql procs), and API calls.</a:t>
            </a:r>
          </a:p>
          <a:p>
            <a:r>
              <a:rPr lang="en-US" sz="1400" i="1" dirty="0">
                <a:solidFill>
                  <a:schemeClr val="bg1">
                    <a:lumMod val="65000"/>
                  </a:schemeClr>
                </a:solidFill>
              </a:rPr>
              <a:t>If known at this point, include database details (server, database, schema).</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20</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2.7 </a:t>
            </a:r>
            <a:r>
              <a:rPr lang="en-US" dirty="0"/>
              <a:t>Data Flow</a:t>
            </a:r>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115" name="Group 114">
            <a:extLst>
              <a:ext uri="{FF2B5EF4-FFF2-40B4-BE49-F238E27FC236}">
                <a16:creationId xmlns:a16="http://schemas.microsoft.com/office/drawing/2014/main" id="{F833E866-F5F8-EDC7-38C9-4D61F98A5F23}"/>
              </a:ext>
            </a:extLst>
          </p:cNvPr>
          <p:cNvGrpSpPr>
            <a:grpSpLocks noChangeAspect="1"/>
          </p:cNvGrpSpPr>
          <p:nvPr/>
        </p:nvGrpSpPr>
        <p:grpSpPr>
          <a:xfrm>
            <a:off x="1884784" y="1421243"/>
            <a:ext cx="9898949" cy="5367489"/>
            <a:chOff x="632631" y="736918"/>
            <a:chExt cx="11225747" cy="6086915"/>
          </a:xfrm>
        </p:grpSpPr>
        <p:sp>
          <p:nvSpPr>
            <p:cNvPr id="61" name="Flowchart: Magnetic Disk 60">
              <a:extLst>
                <a:ext uri="{FF2B5EF4-FFF2-40B4-BE49-F238E27FC236}">
                  <a16:creationId xmlns:a16="http://schemas.microsoft.com/office/drawing/2014/main" id="{769F29B7-BF85-B6A5-29B2-68579BF5AA6E}"/>
                </a:ext>
              </a:extLst>
            </p:cNvPr>
            <p:cNvSpPr/>
            <p:nvPr/>
          </p:nvSpPr>
          <p:spPr>
            <a:xfrm>
              <a:off x="9464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DataMart</a:t>
              </a:r>
            </a:p>
          </p:txBody>
        </p:sp>
        <p:sp>
          <p:nvSpPr>
            <p:cNvPr id="62" name="Flowchart: Magnetic Disk 61">
              <a:extLst>
                <a:ext uri="{FF2B5EF4-FFF2-40B4-BE49-F238E27FC236}">
                  <a16:creationId xmlns:a16="http://schemas.microsoft.com/office/drawing/2014/main" id="{E1331976-9EFB-3B8F-051D-EC5F977EAEED}"/>
                </a:ext>
              </a:extLst>
            </p:cNvPr>
            <p:cNvSpPr/>
            <p:nvPr/>
          </p:nvSpPr>
          <p:spPr>
            <a:xfrm>
              <a:off x="58449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A</a:t>
              </a:r>
            </a:p>
          </p:txBody>
        </p:sp>
        <p:sp>
          <p:nvSpPr>
            <p:cNvPr id="63" name="Flowchart: Magnetic Disk 62">
              <a:extLst>
                <a:ext uri="{FF2B5EF4-FFF2-40B4-BE49-F238E27FC236}">
                  <a16:creationId xmlns:a16="http://schemas.microsoft.com/office/drawing/2014/main" id="{ABAFF24F-1F13-4942-D2B0-86953A81E57E}"/>
                </a:ext>
              </a:extLst>
            </p:cNvPr>
            <p:cNvSpPr/>
            <p:nvPr/>
          </p:nvSpPr>
          <p:spPr>
            <a:xfrm>
              <a:off x="2225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B</a:t>
              </a:r>
            </a:p>
          </p:txBody>
        </p:sp>
        <p:sp>
          <p:nvSpPr>
            <p:cNvPr id="64" name="Flowchart: Magnetic Disk 63">
              <a:extLst>
                <a:ext uri="{FF2B5EF4-FFF2-40B4-BE49-F238E27FC236}">
                  <a16:creationId xmlns:a16="http://schemas.microsoft.com/office/drawing/2014/main" id="{31DAD0A3-DA5B-DAAC-A3C0-D50BC673AB36}"/>
                </a:ext>
              </a:extLst>
            </p:cNvPr>
            <p:cNvSpPr/>
            <p:nvPr/>
          </p:nvSpPr>
          <p:spPr>
            <a:xfrm>
              <a:off x="58449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B</a:t>
              </a:r>
            </a:p>
          </p:txBody>
        </p:sp>
        <p:cxnSp>
          <p:nvCxnSpPr>
            <p:cNvPr id="65" name="Straight Arrow Connector 64">
              <a:extLst>
                <a:ext uri="{FF2B5EF4-FFF2-40B4-BE49-F238E27FC236}">
                  <a16:creationId xmlns:a16="http://schemas.microsoft.com/office/drawing/2014/main" id="{CEAD2BDA-8CAA-AF95-DE2E-D3F423E8E8A0}"/>
                </a:ext>
              </a:extLst>
            </p:cNvPr>
            <p:cNvCxnSpPr>
              <a:cxnSpLocks/>
              <a:stCxn id="66" idx="3"/>
              <a:endCxn id="61" idx="2"/>
            </p:cNvCxnSpPr>
            <p:nvPr/>
          </p:nvCxnSpPr>
          <p:spPr>
            <a:xfrm>
              <a:off x="8835778" y="3556314"/>
              <a:ext cx="628650" cy="0"/>
            </a:xfrm>
            <a:prstGeom prst="straightConnector1">
              <a:avLst/>
            </a:prstGeom>
            <a:noFill/>
            <a:ln w="28575" cap="flat" cmpd="sng" algn="ctr">
              <a:solidFill>
                <a:srgbClr val="C00000"/>
              </a:solidFill>
              <a:prstDash val="solid"/>
              <a:tailEnd type="triangle"/>
            </a:ln>
            <a:effectLst/>
          </p:spPr>
        </p:cxnSp>
        <p:sp>
          <p:nvSpPr>
            <p:cNvPr id="66" name="Flowchart: Multidocument 65">
              <a:extLst>
                <a:ext uri="{FF2B5EF4-FFF2-40B4-BE49-F238E27FC236}">
                  <a16:creationId xmlns:a16="http://schemas.microsoft.com/office/drawing/2014/main" id="{D6A6ACE4-E027-6D52-669A-AFAD2756BF44}"/>
                </a:ext>
              </a:extLst>
            </p:cNvPr>
            <p:cNvSpPr/>
            <p:nvPr/>
          </p:nvSpPr>
          <p:spPr>
            <a:xfrm>
              <a:off x="7768978"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20 files</a:t>
              </a:r>
            </a:p>
          </p:txBody>
        </p:sp>
        <p:cxnSp>
          <p:nvCxnSpPr>
            <p:cNvPr id="67" name="Straight Arrow Connector 66">
              <a:extLst>
                <a:ext uri="{FF2B5EF4-FFF2-40B4-BE49-F238E27FC236}">
                  <a16:creationId xmlns:a16="http://schemas.microsoft.com/office/drawing/2014/main" id="{0C16C03F-3C9D-83BB-F4FE-FAF39C1097B2}"/>
                </a:ext>
              </a:extLst>
            </p:cNvPr>
            <p:cNvCxnSpPr>
              <a:cxnSpLocks/>
              <a:stCxn id="76" idx="3"/>
              <a:endCxn id="62" idx="2"/>
            </p:cNvCxnSpPr>
            <p:nvPr/>
          </p:nvCxnSpPr>
          <p:spPr>
            <a:xfrm>
              <a:off x="5267165" y="3556314"/>
              <a:ext cx="577763" cy="0"/>
            </a:xfrm>
            <a:prstGeom prst="straightConnector1">
              <a:avLst/>
            </a:prstGeom>
            <a:noFill/>
            <a:ln w="28575" cap="flat" cmpd="sng" algn="ctr">
              <a:solidFill>
                <a:srgbClr val="C00000"/>
              </a:solidFill>
              <a:prstDash val="solid"/>
              <a:tailEnd type="triangle"/>
            </a:ln>
            <a:effectLst/>
          </p:spPr>
        </p:cxnSp>
        <p:cxnSp>
          <p:nvCxnSpPr>
            <p:cNvPr id="68" name="Straight Arrow Connector 49">
              <a:extLst>
                <a:ext uri="{FF2B5EF4-FFF2-40B4-BE49-F238E27FC236}">
                  <a16:creationId xmlns:a16="http://schemas.microsoft.com/office/drawing/2014/main" id="{1040E915-A89F-B9B2-1EB8-A65E4675D35E}"/>
                </a:ext>
              </a:extLst>
            </p:cNvPr>
            <p:cNvCxnSpPr>
              <a:cxnSpLocks/>
              <a:stCxn id="69" idx="3"/>
              <a:endCxn id="61" idx="2"/>
            </p:cNvCxnSpPr>
            <p:nvPr/>
          </p:nvCxnSpPr>
          <p:spPr>
            <a:xfrm flipV="1">
              <a:off x="8835778" y="3556314"/>
              <a:ext cx="628650" cy="2057400"/>
            </a:xfrm>
            <a:prstGeom prst="bentConnector3">
              <a:avLst>
                <a:gd name="adj1" fmla="val 50000"/>
              </a:avLst>
            </a:prstGeom>
            <a:noFill/>
            <a:ln w="28575" cap="flat" cmpd="sng" algn="ctr">
              <a:solidFill>
                <a:srgbClr val="C00000"/>
              </a:solidFill>
              <a:prstDash val="solid"/>
              <a:tailEnd type="triangle"/>
            </a:ln>
            <a:effectLst/>
          </p:spPr>
        </p:cxnSp>
        <p:sp>
          <p:nvSpPr>
            <p:cNvPr id="69" name="Flowchart: Multidocument 68">
              <a:extLst>
                <a:ext uri="{FF2B5EF4-FFF2-40B4-BE49-F238E27FC236}">
                  <a16:creationId xmlns:a16="http://schemas.microsoft.com/office/drawing/2014/main" id="{4B081FE9-D718-D154-923A-971614AE9118}"/>
                </a:ext>
              </a:extLst>
            </p:cNvPr>
            <p:cNvSpPr/>
            <p:nvPr/>
          </p:nvSpPr>
          <p:spPr>
            <a:xfrm>
              <a:off x="7768978"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6 files</a:t>
              </a:r>
            </a:p>
          </p:txBody>
        </p:sp>
        <p:cxnSp>
          <p:nvCxnSpPr>
            <p:cNvPr id="70" name="Straight Arrow Connector 69">
              <a:extLst>
                <a:ext uri="{FF2B5EF4-FFF2-40B4-BE49-F238E27FC236}">
                  <a16:creationId xmlns:a16="http://schemas.microsoft.com/office/drawing/2014/main" id="{0B12D349-E195-547A-1EA9-5C4B85DDB522}"/>
                </a:ext>
              </a:extLst>
            </p:cNvPr>
            <p:cNvCxnSpPr/>
            <p:nvPr/>
          </p:nvCxnSpPr>
          <p:spPr>
            <a:xfrm>
              <a:off x="985751" y="3556314"/>
              <a:ext cx="1269045" cy="0"/>
            </a:xfrm>
            <a:prstGeom prst="straightConnector1">
              <a:avLst/>
            </a:prstGeom>
            <a:noFill/>
            <a:ln w="28575" cap="flat" cmpd="sng" algn="ctr">
              <a:solidFill>
                <a:srgbClr val="90BB23">
                  <a:lumMod val="75000"/>
                </a:srgbClr>
              </a:solidFill>
              <a:prstDash val="solid"/>
              <a:tailEnd type="triangle"/>
            </a:ln>
            <a:effectLst/>
          </p:spPr>
        </p:cxnSp>
        <p:sp>
          <p:nvSpPr>
            <p:cNvPr id="71" name="Flowchart: Multidocument 70">
              <a:extLst>
                <a:ext uri="{FF2B5EF4-FFF2-40B4-BE49-F238E27FC236}">
                  <a16:creationId xmlns:a16="http://schemas.microsoft.com/office/drawing/2014/main" id="{21EA6927-F29F-4970-452C-22DDEA85D1E1}"/>
                </a:ext>
              </a:extLst>
            </p:cNvPr>
            <p:cNvSpPr/>
            <p:nvPr/>
          </p:nvSpPr>
          <p:spPr>
            <a:xfrm>
              <a:off x="632631"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72" name="TextBox 71">
              <a:extLst>
                <a:ext uri="{FF2B5EF4-FFF2-40B4-BE49-F238E27FC236}">
                  <a16:creationId xmlns:a16="http://schemas.microsoft.com/office/drawing/2014/main" id="{94610626-E8EA-37DC-A6A8-359B2EE90E4E}"/>
                </a:ext>
              </a:extLst>
            </p:cNvPr>
            <p:cNvSpPr txBox="1"/>
            <p:nvPr/>
          </p:nvSpPr>
          <p:spPr>
            <a:xfrm>
              <a:off x="21746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73" name="Flowchart: Magnetic Disk 72">
              <a:extLst>
                <a:ext uri="{FF2B5EF4-FFF2-40B4-BE49-F238E27FC236}">
                  <a16:creationId xmlns:a16="http://schemas.microsoft.com/office/drawing/2014/main" id="{4A79008E-6EE4-940F-5C87-B348DD1D4036}"/>
                </a:ext>
              </a:extLst>
            </p:cNvPr>
            <p:cNvSpPr/>
            <p:nvPr/>
          </p:nvSpPr>
          <p:spPr>
            <a:xfrm>
              <a:off x="2225428" y="112310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A</a:t>
              </a:r>
            </a:p>
          </p:txBody>
        </p:sp>
        <p:cxnSp>
          <p:nvCxnSpPr>
            <p:cNvPr id="74" name="Straight Arrow Connector 55">
              <a:extLst>
                <a:ext uri="{FF2B5EF4-FFF2-40B4-BE49-F238E27FC236}">
                  <a16:creationId xmlns:a16="http://schemas.microsoft.com/office/drawing/2014/main" id="{5A3FEBF4-ADC9-DB6C-3CF5-D4A0210C4B0B}"/>
                </a:ext>
              </a:extLst>
            </p:cNvPr>
            <p:cNvCxnSpPr>
              <a:cxnSpLocks/>
              <a:stCxn id="78" idx="3"/>
              <a:endCxn id="62" idx="2"/>
            </p:cNvCxnSpPr>
            <p:nvPr/>
          </p:nvCxnSpPr>
          <p:spPr>
            <a:xfrm>
              <a:off x="5267165" y="1641605"/>
              <a:ext cx="577763" cy="1914709"/>
            </a:xfrm>
            <a:prstGeom prst="bentConnector3">
              <a:avLst>
                <a:gd name="adj1" fmla="val 50000"/>
              </a:avLst>
            </a:prstGeom>
            <a:noFill/>
            <a:ln w="28575" cap="flat" cmpd="sng" algn="ctr">
              <a:solidFill>
                <a:srgbClr val="C00000"/>
              </a:solidFill>
              <a:prstDash val="solid"/>
              <a:tailEnd type="triangle"/>
            </a:ln>
            <a:effectLst/>
          </p:spPr>
        </p:cxnSp>
        <p:sp>
          <p:nvSpPr>
            <p:cNvPr id="75" name="Flowchart: Magnetic Disk 74">
              <a:extLst>
                <a:ext uri="{FF2B5EF4-FFF2-40B4-BE49-F238E27FC236}">
                  <a16:creationId xmlns:a16="http://schemas.microsoft.com/office/drawing/2014/main" id="{BBAC0775-2AD1-6B75-061C-C04E31408725}"/>
                </a:ext>
              </a:extLst>
            </p:cNvPr>
            <p:cNvSpPr/>
            <p:nvPr/>
          </p:nvSpPr>
          <p:spPr>
            <a:xfrm>
              <a:off x="22254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C</a:t>
              </a:r>
            </a:p>
          </p:txBody>
        </p:sp>
        <p:sp>
          <p:nvSpPr>
            <p:cNvPr id="76" name="Flowchart: Multidocument 75">
              <a:extLst>
                <a:ext uri="{FF2B5EF4-FFF2-40B4-BE49-F238E27FC236}">
                  <a16:creationId xmlns:a16="http://schemas.microsoft.com/office/drawing/2014/main" id="{7BF77FAD-FB13-519E-9D81-9D9D46BBF21E}"/>
                </a:ext>
              </a:extLst>
            </p:cNvPr>
            <p:cNvSpPr/>
            <p:nvPr/>
          </p:nvSpPr>
          <p:spPr>
            <a:xfrm>
              <a:off x="4200365"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5 files</a:t>
              </a:r>
            </a:p>
          </p:txBody>
        </p:sp>
        <p:cxnSp>
          <p:nvCxnSpPr>
            <p:cNvPr id="77" name="Straight Arrow Connector 55">
              <a:extLst>
                <a:ext uri="{FF2B5EF4-FFF2-40B4-BE49-F238E27FC236}">
                  <a16:creationId xmlns:a16="http://schemas.microsoft.com/office/drawing/2014/main" id="{31E9106C-AD8A-1385-BDDC-7B2BDB4F8C6F}"/>
                </a:ext>
              </a:extLst>
            </p:cNvPr>
            <p:cNvCxnSpPr>
              <a:cxnSpLocks/>
              <a:stCxn id="79" idx="3"/>
              <a:endCxn id="64" idx="2"/>
            </p:cNvCxnSpPr>
            <p:nvPr/>
          </p:nvCxnSpPr>
          <p:spPr>
            <a:xfrm>
              <a:off x="5267165" y="5613714"/>
              <a:ext cx="577763" cy="0"/>
            </a:xfrm>
            <a:prstGeom prst="straightConnector1">
              <a:avLst/>
            </a:prstGeom>
            <a:noFill/>
            <a:ln w="28575" cap="flat" cmpd="sng" algn="ctr">
              <a:solidFill>
                <a:srgbClr val="90BB23">
                  <a:lumMod val="75000"/>
                </a:srgbClr>
              </a:solidFill>
              <a:prstDash val="solid"/>
              <a:tailEnd type="triangle"/>
            </a:ln>
            <a:effectLst/>
          </p:spPr>
        </p:cxnSp>
        <p:sp>
          <p:nvSpPr>
            <p:cNvPr id="78" name="Flowchart: Multidocument 77">
              <a:extLst>
                <a:ext uri="{FF2B5EF4-FFF2-40B4-BE49-F238E27FC236}">
                  <a16:creationId xmlns:a16="http://schemas.microsoft.com/office/drawing/2014/main" id="{15472125-F664-7258-72B8-DEF4B1B9F0A3}"/>
                </a:ext>
              </a:extLst>
            </p:cNvPr>
            <p:cNvSpPr/>
            <p:nvPr/>
          </p:nvSpPr>
          <p:spPr>
            <a:xfrm>
              <a:off x="4200365" y="1305055"/>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3 files</a:t>
              </a:r>
            </a:p>
          </p:txBody>
        </p:sp>
        <p:sp>
          <p:nvSpPr>
            <p:cNvPr id="79" name="Flowchart: Multidocument 78">
              <a:extLst>
                <a:ext uri="{FF2B5EF4-FFF2-40B4-BE49-F238E27FC236}">
                  <a16:creationId xmlns:a16="http://schemas.microsoft.com/office/drawing/2014/main" id="{CEA588E1-3B78-F428-B006-8BD7A96453A2}"/>
                </a:ext>
              </a:extLst>
            </p:cNvPr>
            <p:cNvSpPr/>
            <p:nvPr/>
          </p:nvSpPr>
          <p:spPr>
            <a:xfrm>
              <a:off x="4200365"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 files</a:t>
              </a:r>
            </a:p>
          </p:txBody>
        </p:sp>
        <p:cxnSp>
          <p:nvCxnSpPr>
            <p:cNvPr id="80" name="Straight Arrow Connector 79">
              <a:extLst>
                <a:ext uri="{FF2B5EF4-FFF2-40B4-BE49-F238E27FC236}">
                  <a16:creationId xmlns:a16="http://schemas.microsoft.com/office/drawing/2014/main" id="{6CAD2C94-F6EA-94E2-0B0E-1BBDD8672343}"/>
                </a:ext>
              </a:extLst>
            </p:cNvPr>
            <p:cNvCxnSpPr/>
            <p:nvPr/>
          </p:nvCxnSpPr>
          <p:spPr>
            <a:xfrm>
              <a:off x="985751" y="1641605"/>
              <a:ext cx="1269045" cy="0"/>
            </a:xfrm>
            <a:prstGeom prst="straightConnector1">
              <a:avLst/>
            </a:prstGeom>
            <a:noFill/>
            <a:ln w="28575" cap="flat" cmpd="sng" algn="ctr">
              <a:solidFill>
                <a:srgbClr val="90BB23">
                  <a:lumMod val="75000"/>
                </a:srgbClr>
              </a:solidFill>
              <a:prstDash val="solid"/>
              <a:tailEnd type="triangle"/>
            </a:ln>
            <a:effectLst/>
          </p:spPr>
        </p:cxnSp>
        <p:sp>
          <p:nvSpPr>
            <p:cNvPr id="81" name="Flowchart: Multidocument 80">
              <a:extLst>
                <a:ext uri="{FF2B5EF4-FFF2-40B4-BE49-F238E27FC236}">
                  <a16:creationId xmlns:a16="http://schemas.microsoft.com/office/drawing/2014/main" id="{4F6DC8BA-B01C-78AB-088D-E1F1904F3861}"/>
                </a:ext>
              </a:extLst>
            </p:cNvPr>
            <p:cNvSpPr/>
            <p:nvPr/>
          </p:nvSpPr>
          <p:spPr>
            <a:xfrm>
              <a:off x="632631" y="137710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cxnSp>
          <p:nvCxnSpPr>
            <p:cNvPr id="82" name="Straight Arrow Connector 81">
              <a:extLst>
                <a:ext uri="{FF2B5EF4-FFF2-40B4-BE49-F238E27FC236}">
                  <a16:creationId xmlns:a16="http://schemas.microsoft.com/office/drawing/2014/main" id="{C1F0F41D-AB26-D8A1-C8E0-9D98DAD91D85}"/>
                </a:ext>
              </a:extLst>
            </p:cNvPr>
            <p:cNvCxnSpPr/>
            <p:nvPr/>
          </p:nvCxnSpPr>
          <p:spPr>
            <a:xfrm>
              <a:off x="985751" y="5669850"/>
              <a:ext cx="1269045" cy="0"/>
            </a:xfrm>
            <a:prstGeom prst="straightConnector1">
              <a:avLst/>
            </a:prstGeom>
            <a:noFill/>
            <a:ln w="28575" cap="flat" cmpd="sng" algn="ctr">
              <a:solidFill>
                <a:srgbClr val="C00000"/>
              </a:solidFill>
              <a:prstDash val="solid"/>
              <a:tailEnd type="triangle"/>
            </a:ln>
            <a:effectLst/>
          </p:spPr>
        </p:cxnSp>
        <p:sp>
          <p:nvSpPr>
            <p:cNvPr id="83" name="Flowchart: Multidocument 82">
              <a:extLst>
                <a:ext uri="{FF2B5EF4-FFF2-40B4-BE49-F238E27FC236}">
                  <a16:creationId xmlns:a16="http://schemas.microsoft.com/office/drawing/2014/main" id="{8E8E8E7A-631E-AE52-BE55-73861B425398}"/>
                </a:ext>
              </a:extLst>
            </p:cNvPr>
            <p:cNvSpPr/>
            <p:nvPr/>
          </p:nvSpPr>
          <p:spPr>
            <a:xfrm>
              <a:off x="632631"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84" name="TextBox 83">
              <a:extLst>
                <a:ext uri="{FF2B5EF4-FFF2-40B4-BE49-F238E27FC236}">
                  <a16:creationId xmlns:a16="http://schemas.microsoft.com/office/drawing/2014/main" id="{0B257BA1-2212-4251-8563-FA77C18D38E7}"/>
                </a:ext>
              </a:extLst>
            </p:cNvPr>
            <p:cNvSpPr txBox="1"/>
            <p:nvPr/>
          </p:nvSpPr>
          <p:spPr>
            <a:xfrm>
              <a:off x="2174628" y="217462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5" name="TextBox 84">
              <a:extLst>
                <a:ext uri="{FF2B5EF4-FFF2-40B4-BE49-F238E27FC236}">
                  <a16:creationId xmlns:a16="http://schemas.microsoft.com/office/drawing/2014/main" id="{3926510F-C7E5-E893-E029-C8DED80D18D0}"/>
                </a:ext>
              </a:extLst>
            </p:cNvPr>
            <p:cNvSpPr txBox="1"/>
            <p:nvPr/>
          </p:nvSpPr>
          <p:spPr>
            <a:xfrm>
              <a:off x="217462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6" name="TextBox 85">
              <a:extLst>
                <a:ext uri="{FF2B5EF4-FFF2-40B4-BE49-F238E27FC236}">
                  <a16:creationId xmlns:a16="http://schemas.microsoft.com/office/drawing/2014/main" id="{7617DFAB-3551-0B7E-9495-B9D133F2645B}"/>
                </a:ext>
              </a:extLst>
            </p:cNvPr>
            <p:cNvSpPr txBox="1"/>
            <p:nvPr/>
          </p:nvSpPr>
          <p:spPr>
            <a:xfrm>
              <a:off x="588937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7" name="TextBox 86">
              <a:extLst>
                <a:ext uri="{FF2B5EF4-FFF2-40B4-BE49-F238E27FC236}">
                  <a16:creationId xmlns:a16="http://schemas.microsoft.com/office/drawing/2014/main" id="{49EB133E-CC34-82B3-26E4-B8E5B7138F92}"/>
                </a:ext>
              </a:extLst>
            </p:cNvPr>
            <p:cNvSpPr txBox="1"/>
            <p:nvPr/>
          </p:nvSpPr>
          <p:spPr>
            <a:xfrm>
              <a:off x="588937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8" name="TextBox 87">
              <a:extLst>
                <a:ext uri="{FF2B5EF4-FFF2-40B4-BE49-F238E27FC236}">
                  <a16:creationId xmlns:a16="http://schemas.microsoft.com/office/drawing/2014/main" id="{D30DA6B5-6B13-7940-F166-9DDA3974F29B}"/>
                </a:ext>
              </a:extLst>
            </p:cNvPr>
            <p:cNvSpPr txBox="1"/>
            <p:nvPr/>
          </p:nvSpPr>
          <p:spPr>
            <a:xfrm>
              <a:off x="94644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9" name="TextBox 88">
              <a:extLst>
                <a:ext uri="{FF2B5EF4-FFF2-40B4-BE49-F238E27FC236}">
                  <a16:creationId xmlns:a16="http://schemas.microsoft.com/office/drawing/2014/main" id="{11361C14-6EC4-9286-3FC3-BEAB323198DD}"/>
                </a:ext>
              </a:extLst>
            </p:cNvPr>
            <p:cNvSpPr txBox="1"/>
            <p:nvPr/>
          </p:nvSpPr>
          <p:spPr>
            <a:xfrm>
              <a:off x="1709836" y="1364782"/>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 </a:t>
              </a:r>
            </a:p>
          </p:txBody>
        </p:sp>
        <p:grpSp>
          <p:nvGrpSpPr>
            <p:cNvPr id="90" name="Group 89">
              <a:extLst>
                <a:ext uri="{FF2B5EF4-FFF2-40B4-BE49-F238E27FC236}">
                  <a16:creationId xmlns:a16="http://schemas.microsoft.com/office/drawing/2014/main" id="{BFEAF4EA-DB72-ACBE-7D14-2AA784003DA4}"/>
                </a:ext>
              </a:extLst>
            </p:cNvPr>
            <p:cNvGrpSpPr/>
            <p:nvPr/>
          </p:nvGrpSpPr>
          <p:grpSpPr>
            <a:xfrm>
              <a:off x="7600658" y="753855"/>
              <a:ext cx="1924049" cy="1635612"/>
              <a:chOff x="8882476" y="463864"/>
              <a:chExt cx="1924049" cy="1635612"/>
            </a:xfrm>
          </p:grpSpPr>
          <p:cxnSp>
            <p:nvCxnSpPr>
              <p:cNvPr id="91" name="Straight Arrow Connector 90">
                <a:extLst>
                  <a:ext uri="{FF2B5EF4-FFF2-40B4-BE49-F238E27FC236}">
                    <a16:creationId xmlns:a16="http://schemas.microsoft.com/office/drawing/2014/main" id="{8AECE07E-8098-F21D-C270-186B259929E2}"/>
                  </a:ext>
                </a:extLst>
              </p:cNvPr>
              <p:cNvCxnSpPr/>
              <p:nvPr/>
            </p:nvCxnSpPr>
            <p:spPr>
              <a:xfrm>
                <a:off x="8949673" y="765276"/>
                <a:ext cx="1269045" cy="0"/>
              </a:xfrm>
              <a:prstGeom prst="straightConnector1">
                <a:avLst/>
              </a:prstGeom>
              <a:noFill/>
              <a:ln w="28575" cap="flat" cmpd="sng" algn="ctr">
                <a:solidFill>
                  <a:srgbClr val="002060"/>
                </a:solidFill>
                <a:prstDash val="solid"/>
                <a:tailEnd type="triangle"/>
              </a:ln>
              <a:effectLst/>
            </p:spPr>
          </p:cxnSp>
          <p:cxnSp>
            <p:nvCxnSpPr>
              <p:cNvPr id="92" name="Straight Arrow Connector 91">
                <a:extLst>
                  <a:ext uri="{FF2B5EF4-FFF2-40B4-BE49-F238E27FC236}">
                    <a16:creationId xmlns:a16="http://schemas.microsoft.com/office/drawing/2014/main" id="{3D7DDF9D-20BF-6B3C-BA7B-02FADA01D2B4}"/>
                  </a:ext>
                </a:extLst>
              </p:cNvPr>
              <p:cNvCxnSpPr/>
              <p:nvPr/>
            </p:nvCxnSpPr>
            <p:spPr>
              <a:xfrm>
                <a:off x="8949673" y="1191161"/>
                <a:ext cx="1269045" cy="0"/>
              </a:xfrm>
              <a:prstGeom prst="straightConnector1">
                <a:avLst/>
              </a:prstGeom>
              <a:noFill/>
              <a:ln w="28575" cap="flat" cmpd="sng" algn="ctr">
                <a:solidFill>
                  <a:srgbClr val="C00000"/>
                </a:solidFill>
                <a:prstDash val="solid"/>
                <a:tailEnd type="triangle"/>
              </a:ln>
              <a:effectLst/>
            </p:spPr>
          </p:cxnSp>
          <p:sp>
            <p:nvSpPr>
              <p:cNvPr id="93" name="TextBox 92">
                <a:extLst>
                  <a:ext uri="{FF2B5EF4-FFF2-40B4-BE49-F238E27FC236}">
                    <a16:creationId xmlns:a16="http://schemas.microsoft.com/office/drawing/2014/main" id="{260CBC24-9AF9-F41A-AEEA-17F0BC972BCE}"/>
                  </a:ext>
                </a:extLst>
              </p:cNvPr>
              <p:cNvSpPr txBox="1"/>
              <p:nvPr/>
            </p:nvSpPr>
            <p:spPr>
              <a:xfrm>
                <a:off x="9242349" y="463864"/>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2060"/>
                    </a:solidFill>
                    <a:effectLst/>
                    <a:uLnTx/>
                    <a:uFillTx/>
                    <a:latin typeface="Century Gothic"/>
                  </a:rPr>
                  <a:t>FTP</a:t>
                </a:r>
                <a:r>
                  <a:rPr kumimoji="0" lang="en-US" sz="1050" b="0" i="0" u="none" strike="noStrike" kern="0" cap="none" spc="0" normalizeH="0" baseline="0" noProof="0" dirty="0">
                    <a:ln>
                      <a:noFill/>
                    </a:ln>
                    <a:solidFill>
                      <a:srgbClr val="545454"/>
                    </a:solidFill>
                    <a:effectLst/>
                    <a:uLnTx/>
                    <a:uFillTx/>
                    <a:latin typeface="Century Gothic"/>
                  </a:rPr>
                  <a:t> </a:t>
                </a:r>
              </a:p>
            </p:txBody>
          </p:sp>
          <p:sp>
            <p:nvSpPr>
              <p:cNvPr id="94" name="TextBox 93">
                <a:extLst>
                  <a:ext uri="{FF2B5EF4-FFF2-40B4-BE49-F238E27FC236}">
                    <a16:creationId xmlns:a16="http://schemas.microsoft.com/office/drawing/2014/main" id="{375C36B3-687F-BB8D-F312-E717E4D184FB}"/>
                  </a:ext>
                </a:extLst>
              </p:cNvPr>
              <p:cNvSpPr txBox="1"/>
              <p:nvPr/>
            </p:nvSpPr>
            <p:spPr>
              <a:xfrm>
                <a:off x="9242349" y="901461"/>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C00000"/>
                    </a:solidFill>
                    <a:effectLst/>
                    <a:uLnTx/>
                    <a:uFillTx/>
                    <a:latin typeface="Century Gothic"/>
                  </a:rPr>
                  <a:t>ETL</a:t>
                </a:r>
                <a:r>
                  <a:rPr kumimoji="0" lang="en-US" sz="1050" b="0" i="0" u="none" strike="noStrike" kern="0" cap="none" spc="0" normalizeH="0" baseline="0" noProof="0" dirty="0">
                    <a:ln>
                      <a:noFill/>
                    </a:ln>
                    <a:solidFill>
                      <a:srgbClr val="545454"/>
                    </a:solidFill>
                    <a:effectLst/>
                    <a:uLnTx/>
                    <a:uFillTx/>
                    <a:latin typeface="Century Gothic"/>
                  </a:rPr>
                  <a:t> </a:t>
                </a:r>
              </a:p>
            </p:txBody>
          </p:sp>
          <p:cxnSp>
            <p:nvCxnSpPr>
              <p:cNvPr id="95" name="Straight Arrow Connector 94">
                <a:extLst>
                  <a:ext uri="{FF2B5EF4-FFF2-40B4-BE49-F238E27FC236}">
                    <a16:creationId xmlns:a16="http://schemas.microsoft.com/office/drawing/2014/main" id="{D8414DAD-3B2A-B91C-D8E6-0960C639FDED}"/>
                  </a:ext>
                </a:extLst>
              </p:cNvPr>
              <p:cNvCxnSpPr/>
              <p:nvPr/>
            </p:nvCxnSpPr>
            <p:spPr>
              <a:xfrm>
                <a:off x="8949673" y="1661875"/>
                <a:ext cx="1269045" cy="0"/>
              </a:xfrm>
              <a:prstGeom prst="straightConnector1">
                <a:avLst/>
              </a:prstGeom>
              <a:noFill/>
              <a:ln w="28575" cap="flat" cmpd="sng" algn="ctr">
                <a:solidFill>
                  <a:srgbClr val="90BB23">
                    <a:lumMod val="75000"/>
                  </a:srgbClr>
                </a:solidFill>
                <a:prstDash val="solid"/>
                <a:tailEnd type="triangle"/>
              </a:ln>
              <a:effectLst/>
            </p:spPr>
          </p:cxnSp>
          <p:sp>
            <p:nvSpPr>
              <p:cNvPr id="96" name="TextBox 95">
                <a:extLst>
                  <a:ext uri="{FF2B5EF4-FFF2-40B4-BE49-F238E27FC236}">
                    <a16:creationId xmlns:a16="http://schemas.microsoft.com/office/drawing/2014/main" id="{4C65F121-CF78-0DD6-6AB4-C366B1F4A30E}"/>
                  </a:ext>
                </a:extLst>
              </p:cNvPr>
              <p:cNvSpPr txBox="1"/>
              <p:nvPr/>
            </p:nvSpPr>
            <p:spPr>
              <a:xfrm>
                <a:off x="9242348" y="1372176"/>
                <a:ext cx="875247"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90BB23">
                        <a:lumMod val="75000"/>
                      </a:srgbClr>
                    </a:solidFill>
                    <a:effectLst/>
                    <a:uLnTx/>
                    <a:uFillTx/>
                    <a:latin typeface="Century Gothic"/>
                  </a:rPr>
                  <a:t>DB code</a:t>
                </a:r>
                <a:r>
                  <a:rPr kumimoji="0" lang="en-US" sz="1050" b="0" i="0" u="none" strike="noStrike" kern="0" cap="none" spc="0" normalizeH="0" baseline="0" noProof="0" dirty="0">
                    <a:ln>
                      <a:noFill/>
                    </a:ln>
                    <a:solidFill>
                      <a:srgbClr val="90BB23">
                        <a:lumMod val="75000"/>
                      </a:srgbClr>
                    </a:solidFill>
                    <a:effectLst/>
                    <a:uLnTx/>
                    <a:uFillTx/>
                    <a:latin typeface="Century Gothic"/>
                  </a:rPr>
                  <a:t> </a:t>
                </a:r>
              </a:p>
            </p:txBody>
          </p:sp>
          <p:cxnSp>
            <p:nvCxnSpPr>
              <p:cNvPr id="97" name="Straight Arrow Connector 96">
                <a:extLst>
                  <a:ext uri="{FF2B5EF4-FFF2-40B4-BE49-F238E27FC236}">
                    <a16:creationId xmlns:a16="http://schemas.microsoft.com/office/drawing/2014/main" id="{8A032FBA-357F-0797-1B2F-25272AB836D7}"/>
                  </a:ext>
                </a:extLst>
              </p:cNvPr>
              <p:cNvCxnSpPr/>
              <p:nvPr/>
            </p:nvCxnSpPr>
            <p:spPr>
              <a:xfrm>
                <a:off x="8949673" y="2099476"/>
                <a:ext cx="1269045" cy="0"/>
              </a:xfrm>
              <a:prstGeom prst="straightConnector1">
                <a:avLst/>
              </a:prstGeom>
              <a:noFill/>
              <a:ln w="28575" cap="flat" cmpd="sng" algn="ctr">
                <a:solidFill>
                  <a:srgbClr val="40BAD2"/>
                </a:solidFill>
                <a:prstDash val="solid"/>
                <a:tailEnd type="triangle"/>
              </a:ln>
              <a:effectLst/>
            </p:spPr>
          </p:cxnSp>
          <p:sp>
            <p:nvSpPr>
              <p:cNvPr id="98" name="TextBox 97">
                <a:extLst>
                  <a:ext uri="{FF2B5EF4-FFF2-40B4-BE49-F238E27FC236}">
                    <a16:creationId xmlns:a16="http://schemas.microsoft.com/office/drawing/2014/main" id="{70BDBEFD-878F-4F73-6A2E-194C88EEA8B6}"/>
                  </a:ext>
                </a:extLst>
              </p:cNvPr>
              <p:cNvSpPr txBox="1"/>
              <p:nvPr/>
            </p:nvSpPr>
            <p:spPr>
              <a:xfrm>
                <a:off x="8882476" y="1809776"/>
                <a:ext cx="1924049"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1AB39F">
                        <a:lumMod val="75000"/>
                      </a:srgbClr>
                    </a:solidFill>
                    <a:effectLst/>
                    <a:uLnTx/>
                    <a:uFillTx/>
                    <a:latin typeface="Century Gothic"/>
                  </a:rPr>
                  <a:t>API / Web Service</a:t>
                </a:r>
                <a:endParaRPr kumimoji="0" lang="en-US" sz="1050" b="0" i="0" u="none" strike="noStrike" kern="0" cap="none" spc="0" normalizeH="0" baseline="0" noProof="0" dirty="0">
                  <a:ln>
                    <a:noFill/>
                  </a:ln>
                  <a:solidFill>
                    <a:srgbClr val="1AB39F">
                      <a:lumMod val="75000"/>
                    </a:srgbClr>
                  </a:solidFill>
                  <a:effectLst/>
                  <a:uLnTx/>
                  <a:uFillTx/>
                  <a:latin typeface="Century Gothic"/>
                </a:endParaRPr>
              </a:p>
            </p:txBody>
          </p:sp>
        </p:grpSp>
        <p:sp>
          <p:nvSpPr>
            <p:cNvPr id="99" name="TextBox 98">
              <a:extLst>
                <a:ext uri="{FF2B5EF4-FFF2-40B4-BE49-F238E27FC236}">
                  <a16:creationId xmlns:a16="http://schemas.microsoft.com/office/drawing/2014/main" id="{CC9CB6D5-136A-9F24-DC68-B307A5FF67F7}"/>
                </a:ext>
              </a:extLst>
            </p:cNvPr>
            <p:cNvSpPr txBox="1"/>
            <p:nvPr/>
          </p:nvSpPr>
          <p:spPr>
            <a:xfrm>
              <a:off x="9661278" y="736918"/>
              <a:ext cx="2197100" cy="1867733"/>
            </a:xfrm>
            <a:prstGeom prst="rect">
              <a:avLst/>
            </a:prstGeom>
            <a:noFill/>
          </p:spPr>
          <p:txBody>
            <a:bodyPr wrap="square" rtlCol="0">
              <a:spAutoFit/>
            </a:bodyPr>
            <a:lstStyle/>
            <a:p>
              <a:pPr>
                <a:lnSpc>
                  <a:spcPct val="90000"/>
                </a:lnSpc>
              </a:pPr>
              <a:r>
                <a:rPr lang="en-US" sz="1050" dirty="0">
                  <a:solidFill>
                    <a:srgbClr val="545454"/>
                  </a:solidFill>
                  <a:latin typeface="Century Gothic"/>
                </a:rPr>
                <a:t>ETL options:</a:t>
              </a:r>
            </a:p>
            <a:p>
              <a:pPr>
                <a:lnSpc>
                  <a:spcPct val="90000"/>
                </a:lnSpc>
              </a:pPr>
              <a:r>
                <a:rPr lang="en-US" sz="1050" dirty="0">
                  <a:solidFill>
                    <a:srgbClr val="545454"/>
                  </a:solidFill>
                  <a:latin typeface="Century Gothic"/>
                </a:rPr>
                <a:t> - PWC (</a:t>
              </a:r>
              <a:r>
                <a:rPr lang="en-US" sz="1050" dirty="0" err="1">
                  <a:solidFill>
                    <a:srgbClr val="545454"/>
                  </a:solidFill>
                  <a:latin typeface="Century Gothic"/>
                </a:rPr>
                <a:t>Powercenter</a:t>
              </a:r>
              <a:r>
                <a:rPr lang="en-US" sz="1050" dirty="0">
                  <a:solidFill>
                    <a:srgbClr val="545454"/>
                  </a:solidFill>
                  <a:latin typeface="Century Gothic"/>
                </a:rPr>
                <a:t>)</a:t>
              </a:r>
            </a:p>
            <a:p>
              <a:pPr>
                <a:lnSpc>
                  <a:spcPct val="90000"/>
                </a:lnSpc>
              </a:pPr>
              <a:r>
                <a:rPr lang="en-US" sz="1050" dirty="0">
                  <a:solidFill>
                    <a:srgbClr val="545454"/>
                  </a:solidFill>
                  <a:latin typeface="Century Gothic"/>
                </a:rPr>
                <a:t> - SSIS</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a:p>
              <a:pPr>
                <a:lnSpc>
                  <a:spcPct val="90000"/>
                </a:lnSpc>
              </a:pPr>
              <a:endParaRPr lang="en-US" sz="1050" dirty="0">
                <a:solidFill>
                  <a:srgbClr val="545454"/>
                </a:solidFill>
                <a:latin typeface="Century Gothic"/>
              </a:endParaRPr>
            </a:p>
            <a:p>
              <a:pPr>
                <a:lnSpc>
                  <a:spcPct val="90000"/>
                </a:lnSpc>
              </a:pPr>
              <a:r>
                <a:rPr lang="en-US" sz="1050" dirty="0">
                  <a:solidFill>
                    <a:srgbClr val="545454"/>
                  </a:solidFill>
                  <a:latin typeface="Century Gothic"/>
                </a:rPr>
                <a:t>DB code options:</a:t>
              </a:r>
            </a:p>
            <a:p>
              <a:pPr>
                <a:lnSpc>
                  <a:spcPct val="90000"/>
                </a:lnSpc>
              </a:pPr>
              <a:r>
                <a:rPr lang="en-US" sz="1050" dirty="0">
                  <a:solidFill>
                    <a:srgbClr val="545454"/>
                  </a:solidFill>
                  <a:latin typeface="Century Gothic"/>
                </a:rPr>
                <a:t> - SP (Stored Procedures)</a:t>
              </a:r>
            </a:p>
            <a:p>
              <a:pPr>
                <a:lnSpc>
                  <a:spcPct val="90000"/>
                </a:lnSpc>
              </a:pPr>
              <a:r>
                <a:rPr lang="en-US" sz="1050" dirty="0">
                  <a:solidFill>
                    <a:srgbClr val="545454"/>
                  </a:solidFill>
                  <a:latin typeface="Century Gothic"/>
                </a:rPr>
                <a:t> - SQLL (SQL Loader)</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p:txBody>
        </p:sp>
        <p:sp>
          <p:nvSpPr>
            <p:cNvPr id="100" name="TextBox 99">
              <a:extLst>
                <a:ext uri="{FF2B5EF4-FFF2-40B4-BE49-F238E27FC236}">
                  <a16:creationId xmlns:a16="http://schemas.microsoft.com/office/drawing/2014/main" id="{5B0AAACE-ADB1-C5A3-81FE-B30D0A40CB3A}"/>
                </a:ext>
              </a:extLst>
            </p:cNvPr>
            <p:cNvSpPr txBox="1"/>
            <p:nvPr/>
          </p:nvSpPr>
          <p:spPr>
            <a:xfrm>
              <a:off x="1709836" y="3323251"/>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a:t>
              </a:r>
            </a:p>
          </p:txBody>
        </p:sp>
        <p:sp>
          <p:nvSpPr>
            <p:cNvPr id="101" name="TextBox 100">
              <a:extLst>
                <a:ext uri="{FF2B5EF4-FFF2-40B4-BE49-F238E27FC236}">
                  <a16:creationId xmlns:a16="http://schemas.microsoft.com/office/drawing/2014/main" id="{14EDC2CA-2175-C62D-9112-D8DBCA839E95}"/>
                </a:ext>
              </a:extLst>
            </p:cNvPr>
            <p:cNvSpPr txBox="1"/>
            <p:nvPr/>
          </p:nvSpPr>
          <p:spPr>
            <a:xfrm>
              <a:off x="1709836" y="537209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SSIS </a:t>
              </a:r>
            </a:p>
          </p:txBody>
        </p:sp>
        <p:cxnSp>
          <p:nvCxnSpPr>
            <p:cNvPr id="102" name="Straight Arrow Connector 101">
              <a:extLst>
                <a:ext uri="{FF2B5EF4-FFF2-40B4-BE49-F238E27FC236}">
                  <a16:creationId xmlns:a16="http://schemas.microsoft.com/office/drawing/2014/main" id="{55075D61-7CE7-53D9-AEC7-78085AA7760B}"/>
                </a:ext>
              </a:extLst>
            </p:cNvPr>
            <p:cNvCxnSpPr>
              <a:cxnSpLocks/>
              <a:stCxn id="73" idx="4"/>
              <a:endCxn id="78" idx="1"/>
            </p:cNvCxnSpPr>
            <p:nvPr/>
          </p:nvCxnSpPr>
          <p:spPr>
            <a:xfrm flipV="1">
              <a:off x="3520828" y="1641605"/>
              <a:ext cx="679537" cy="2199"/>
            </a:xfrm>
            <a:prstGeom prst="straightConnector1">
              <a:avLst/>
            </a:prstGeom>
            <a:noFill/>
            <a:ln w="28575" cap="flat" cmpd="sng" algn="ctr">
              <a:solidFill>
                <a:srgbClr val="002060"/>
              </a:solidFill>
              <a:prstDash val="solid"/>
              <a:tailEnd type="triangle"/>
            </a:ln>
            <a:effectLst/>
          </p:spPr>
        </p:cxnSp>
        <p:cxnSp>
          <p:nvCxnSpPr>
            <p:cNvPr id="103" name="Straight Arrow Connector 102">
              <a:extLst>
                <a:ext uri="{FF2B5EF4-FFF2-40B4-BE49-F238E27FC236}">
                  <a16:creationId xmlns:a16="http://schemas.microsoft.com/office/drawing/2014/main" id="{7051819B-9FD3-3036-BD8A-BD7680E71AFE}"/>
                </a:ext>
              </a:extLst>
            </p:cNvPr>
            <p:cNvCxnSpPr>
              <a:cxnSpLocks/>
            </p:cNvCxnSpPr>
            <p:nvPr/>
          </p:nvCxnSpPr>
          <p:spPr>
            <a:xfrm flipV="1">
              <a:off x="3520828" y="3546605"/>
              <a:ext cx="679537" cy="2199"/>
            </a:xfrm>
            <a:prstGeom prst="straightConnector1">
              <a:avLst/>
            </a:prstGeom>
            <a:noFill/>
            <a:ln w="28575" cap="flat" cmpd="sng" algn="ctr">
              <a:solidFill>
                <a:srgbClr val="002060"/>
              </a:solidFill>
              <a:prstDash val="solid"/>
              <a:tailEnd type="triangle"/>
            </a:ln>
            <a:effectLst/>
          </p:spPr>
        </p:cxnSp>
        <p:cxnSp>
          <p:nvCxnSpPr>
            <p:cNvPr id="104" name="Straight Arrow Connector 103">
              <a:extLst>
                <a:ext uri="{FF2B5EF4-FFF2-40B4-BE49-F238E27FC236}">
                  <a16:creationId xmlns:a16="http://schemas.microsoft.com/office/drawing/2014/main" id="{F923A160-BE6C-08A6-B976-D188E0D9D080}"/>
                </a:ext>
              </a:extLst>
            </p:cNvPr>
            <p:cNvCxnSpPr>
              <a:cxnSpLocks/>
            </p:cNvCxnSpPr>
            <p:nvPr/>
          </p:nvCxnSpPr>
          <p:spPr>
            <a:xfrm flipV="1">
              <a:off x="3520828" y="5620880"/>
              <a:ext cx="679537" cy="2199"/>
            </a:xfrm>
            <a:prstGeom prst="straightConnector1">
              <a:avLst/>
            </a:prstGeom>
            <a:noFill/>
            <a:ln w="28575" cap="flat" cmpd="sng" algn="ctr">
              <a:solidFill>
                <a:srgbClr val="002060"/>
              </a:solidFill>
              <a:prstDash val="solid"/>
              <a:tailEnd type="triangle"/>
            </a:ln>
            <a:effectLst/>
          </p:spPr>
        </p:cxnSp>
        <p:sp>
          <p:nvSpPr>
            <p:cNvPr id="105" name="TextBox 104">
              <a:extLst>
                <a:ext uri="{FF2B5EF4-FFF2-40B4-BE49-F238E27FC236}">
                  <a16:creationId xmlns:a16="http://schemas.microsoft.com/office/drawing/2014/main" id="{78DF54D6-3D4B-4049-C938-6C750897E2C0}"/>
                </a:ext>
              </a:extLst>
            </p:cNvPr>
            <p:cNvSpPr txBox="1"/>
            <p:nvPr/>
          </p:nvSpPr>
          <p:spPr>
            <a:xfrm>
              <a:off x="5400958" y="5358289"/>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SP</a:t>
              </a:r>
            </a:p>
          </p:txBody>
        </p:sp>
        <p:cxnSp>
          <p:nvCxnSpPr>
            <p:cNvPr id="106" name="Straight Arrow Connector 105">
              <a:extLst>
                <a:ext uri="{FF2B5EF4-FFF2-40B4-BE49-F238E27FC236}">
                  <a16:creationId xmlns:a16="http://schemas.microsoft.com/office/drawing/2014/main" id="{15882713-52BC-DAF8-367B-2BFBE9B3A7B5}"/>
                </a:ext>
              </a:extLst>
            </p:cNvPr>
            <p:cNvCxnSpPr>
              <a:cxnSpLocks/>
              <a:stCxn id="62" idx="4"/>
              <a:endCxn id="66" idx="1"/>
            </p:cNvCxnSpPr>
            <p:nvPr/>
          </p:nvCxnSpPr>
          <p:spPr>
            <a:xfrm>
              <a:off x="7140328" y="3556314"/>
              <a:ext cx="628650" cy="0"/>
            </a:xfrm>
            <a:prstGeom prst="straightConnector1">
              <a:avLst/>
            </a:prstGeom>
            <a:noFill/>
            <a:ln w="28575" cap="flat" cmpd="sng" algn="ctr">
              <a:solidFill>
                <a:srgbClr val="002060"/>
              </a:solidFill>
              <a:prstDash val="solid"/>
              <a:tailEnd type="triangle"/>
            </a:ln>
            <a:effectLst/>
          </p:spPr>
        </p:cxnSp>
        <p:cxnSp>
          <p:nvCxnSpPr>
            <p:cNvPr id="107" name="Straight Arrow Connector 106">
              <a:extLst>
                <a:ext uri="{FF2B5EF4-FFF2-40B4-BE49-F238E27FC236}">
                  <a16:creationId xmlns:a16="http://schemas.microsoft.com/office/drawing/2014/main" id="{E88E8D49-A008-A5EA-C7D8-BAF06B15385A}"/>
                </a:ext>
              </a:extLst>
            </p:cNvPr>
            <p:cNvCxnSpPr>
              <a:cxnSpLocks/>
              <a:stCxn id="64" idx="4"/>
              <a:endCxn id="69" idx="1"/>
            </p:cNvCxnSpPr>
            <p:nvPr/>
          </p:nvCxnSpPr>
          <p:spPr>
            <a:xfrm>
              <a:off x="7140328" y="5613714"/>
              <a:ext cx="628650" cy="0"/>
            </a:xfrm>
            <a:prstGeom prst="straightConnector1">
              <a:avLst/>
            </a:prstGeom>
            <a:noFill/>
            <a:ln w="28575" cap="flat" cmpd="sng" algn="ctr">
              <a:solidFill>
                <a:srgbClr val="002060"/>
              </a:solidFill>
              <a:prstDash val="solid"/>
              <a:tailEnd type="triangle"/>
            </a:ln>
            <a:effectLst/>
          </p:spPr>
        </p:cxnSp>
        <p:sp>
          <p:nvSpPr>
            <p:cNvPr id="108" name="TextBox 107">
              <a:extLst>
                <a:ext uri="{FF2B5EF4-FFF2-40B4-BE49-F238E27FC236}">
                  <a16:creationId xmlns:a16="http://schemas.microsoft.com/office/drawing/2014/main" id="{9D9AEAEC-0D1A-47FC-0CD9-0AAADE587E52}"/>
                </a:ext>
              </a:extLst>
            </p:cNvPr>
            <p:cNvSpPr txBox="1"/>
            <p:nvPr/>
          </p:nvSpPr>
          <p:spPr>
            <a:xfrm>
              <a:off x="3656732" y="1376723"/>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09" name="TextBox 108">
              <a:extLst>
                <a:ext uri="{FF2B5EF4-FFF2-40B4-BE49-F238E27FC236}">
                  <a16:creationId xmlns:a16="http://schemas.microsoft.com/office/drawing/2014/main" id="{D228DC58-66CC-03E3-51B9-76051358F8F8}"/>
                </a:ext>
              </a:extLst>
            </p:cNvPr>
            <p:cNvSpPr txBox="1"/>
            <p:nvPr/>
          </p:nvSpPr>
          <p:spPr>
            <a:xfrm>
              <a:off x="3656732"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0" name="TextBox 109">
              <a:extLst>
                <a:ext uri="{FF2B5EF4-FFF2-40B4-BE49-F238E27FC236}">
                  <a16:creationId xmlns:a16="http://schemas.microsoft.com/office/drawing/2014/main" id="{11A8EF13-6C24-2BAD-DC5F-2F725683E8AF}"/>
                </a:ext>
              </a:extLst>
            </p:cNvPr>
            <p:cNvSpPr txBox="1"/>
            <p:nvPr/>
          </p:nvSpPr>
          <p:spPr>
            <a:xfrm>
              <a:off x="3656732"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1" name="TextBox 110">
              <a:extLst>
                <a:ext uri="{FF2B5EF4-FFF2-40B4-BE49-F238E27FC236}">
                  <a16:creationId xmlns:a16="http://schemas.microsoft.com/office/drawing/2014/main" id="{A6F3E837-E894-5B33-DC1D-CEE6FCF22F43}"/>
                </a:ext>
              </a:extLst>
            </p:cNvPr>
            <p:cNvSpPr txBox="1"/>
            <p:nvPr/>
          </p:nvSpPr>
          <p:spPr>
            <a:xfrm>
              <a:off x="7229015"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2" name="TextBox 111">
              <a:extLst>
                <a:ext uri="{FF2B5EF4-FFF2-40B4-BE49-F238E27FC236}">
                  <a16:creationId xmlns:a16="http://schemas.microsoft.com/office/drawing/2014/main" id="{17C71C2A-FB37-30E0-E946-FD657F326225}"/>
                </a:ext>
              </a:extLst>
            </p:cNvPr>
            <p:cNvSpPr txBox="1"/>
            <p:nvPr/>
          </p:nvSpPr>
          <p:spPr>
            <a:xfrm>
              <a:off x="7229015"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3" name="TextBox 112">
              <a:extLst>
                <a:ext uri="{FF2B5EF4-FFF2-40B4-BE49-F238E27FC236}">
                  <a16:creationId xmlns:a16="http://schemas.microsoft.com/office/drawing/2014/main" id="{1847BBB9-B9CF-7609-C0C0-C0A4C634ABCF}"/>
                </a:ext>
              </a:extLst>
            </p:cNvPr>
            <p:cNvSpPr txBox="1"/>
            <p:nvPr/>
          </p:nvSpPr>
          <p:spPr>
            <a:xfrm>
              <a:off x="5552745" y="282641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sp>
          <p:nvSpPr>
            <p:cNvPr id="114" name="TextBox 113">
              <a:extLst>
                <a:ext uri="{FF2B5EF4-FFF2-40B4-BE49-F238E27FC236}">
                  <a16:creationId xmlns:a16="http://schemas.microsoft.com/office/drawing/2014/main" id="{38CB8240-3CD5-678E-5F86-4C7B11E4473B}"/>
                </a:ext>
              </a:extLst>
            </p:cNvPr>
            <p:cNvSpPr txBox="1"/>
            <p:nvPr/>
          </p:nvSpPr>
          <p:spPr>
            <a:xfrm>
              <a:off x="8884587" y="3243598"/>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grpSp>
    </p:spTree>
    <p:extLst>
      <p:ext uri="{BB962C8B-B14F-4D97-AF65-F5344CB8AC3E}">
        <p14:creationId xmlns:p14="http://schemas.microsoft.com/office/powerpoint/2010/main" val="261021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APIs</a:t>
            </a:r>
          </a:p>
          <a:p>
            <a:r>
              <a:rPr lang="en-US" sz="1400" i="1" dirty="0">
                <a:solidFill>
                  <a:schemeClr val="bg1">
                    <a:lumMod val="65000"/>
                  </a:schemeClr>
                </a:solidFill>
              </a:rPr>
              <a:t>List of APIs developed as part of this project/reused/including vendor APIs consumed</a:t>
            </a:r>
          </a:p>
          <a:p>
            <a:r>
              <a:rPr lang="en-US" sz="1400" i="1" dirty="0">
                <a:solidFill>
                  <a:schemeClr val="bg1">
                    <a:lumMod val="65000"/>
                  </a:schemeClr>
                </a:solidFill>
              </a:rPr>
              <a:t>* To be filled by API Governance Team</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21</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2.8 Integration – APIs</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7F98EEC1-0699-A19A-4997-154F25DCA71C}"/>
              </a:ext>
            </a:extLst>
          </p:cNvPr>
          <p:cNvGraphicFramePr>
            <a:graphicFrameLocks noGrp="1"/>
          </p:cNvGraphicFramePr>
          <p:nvPr/>
        </p:nvGraphicFramePr>
        <p:xfrm>
          <a:off x="624113" y="1850013"/>
          <a:ext cx="10849931" cy="1497789"/>
        </p:xfrm>
        <a:graphic>
          <a:graphicData uri="http://schemas.openxmlformats.org/drawingml/2006/table">
            <a:tbl>
              <a:tblPr firstRow="1" bandRow="1">
                <a:tableStyleId>{6E25E649-3F16-4E02-A733-19D2CDBF48F0}</a:tableStyleId>
              </a:tblPr>
              <a:tblGrid>
                <a:gridCol w="728359">
                  <a:extLst>
                    <a:ext uri="{9D8B030D-6E8A-4147-A177-3AD203B41FA5}">
                      <a16:colId xmlns:a16="http://schemas.microsoft.com/office/drawing/2014/main" val="20000"/>
                    </a:ext>
                  </a:extLst>
                </a:gridCol>
                <a:gridCol w="944100">
                  <a:extLst>
                    <a:ext uri="{9D8B030D-6E8A-4147-A177-3AD203B41FA5}">
                      <a16:colId xmlns:a16="http://schemas.microsoft.com/office/drawing/2014/main" val="20001"/>
                    </a:ext>
                  </a:extLst>
                </a:gridCol>
                <a:gridCol w="1248177">
                  <a:extLst>
                    <a:ext uri="{9D8B030D-6E8A-4147-A177-3AD203B41FA5}">
                      <a16:colId xmlns:a16="http://schemas.microsoft.com/office/drawing/2014/main" val="20002"/>
                    </a:ext>
                  </a:extLst>
                </a:gridCol>
                <a:gridCol w="1640842">
                  <a:extLst>
                    <a:ext uri="{9D8B030D-6E8A-4147-A177-3AD203B41FA5}">
                      <a16:colId xmlns:a16="http://schemas.microsoft.com/office/drawing/2014/main" val="20003"/>
                    </a:ext>
                  </a:extLst>
                </a:gridCol>
                <a:gridCol w="632709">
                  <a:extLst>
                    <a:ext uri="{9D8B030D-6E8A-4147-A177-3AD203B41FA5}">
                      <a16:colId xmlns:a16="http://schemas.microsoft.com/office/drawing/2014/main" val="20004"/>
                    </a:ext>
                  </a:extLst>
                </a:gridCol>
                <a:gridCol w="726711">
                  <a:extLst>
                    <a:ext uri="{9D8B030D-6E8A-4147-A177-3AD203B41FA5}">
                      <a16:colId xmlns:a16="http://schemas.microsoft.com/office/drawing/2014/main" val="20005"/>
                    </a:ext>
                  </a:extLst>
                </a:gridCol>
                <a:gridCol w="1251593">
                  <a:extLst>
                    <a:ext uri="{9D8B030D-6E8A-4147-A177-3AD203B41FA5}">
                      <a16:colId xmlns:a16="http://schemas.microsoft.com/office/drawing/2014/main" val="20006"/>
                    </a:ext>
                  </a:extLst>
                </a:gridCol>
                <a:gridCol w="2424890">
                  <a:extLst>
                    <a:ext uri="{9D8B030D-6E8A-4147-A177-3AD203B41FA5}">
                      <a16:colId xmlns:a16="http://schemas.microsoft.com/office/drawing/2014/main" val="20007"/>
                    </a:ext>
                  </a:extLst>
                </a:gridCol>
                <a:gridCol w="1252550">
                  <a:extLst>
                    <a:ext uri="{9D8B030D-6E8A-4147-A177-3AD203B41FA5}">
                      <a16:colId xmlns:a16="http://schemas.microsoft.com/office/drawing/2014/main" val="20008"/>
                    </a:ext>
                  </a:extLst>
                </a:gridCol>
              </a:tblGrid>
              <a:tr h="4001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effectLst/>
                        </a:rPr>
                        <a:t>API</a:t>
                      </a:r>
                      <a:r>
                        <a:rPr lang="en-US" sz="1100" baseline="0" dirty="0">
                          <a:effectLst/>
                        </a:rPr>
                        <a:t>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Mega </a:t>
                      </a:r>
                    </a:p>
                    <a:p>
                      <a:pPr marL="0" marR="0" algn="ctr">
                        <a:spcBef>
                          <a:spcPts val="0"/>
                        </a:spcBef>
                        <a:spcAft>
                          <a:spcPts val="0"/>
                        </a:spcAft>
                      </a:pPr>
                      <a:r>
                        <a:rPr lang="en-US" sz="1100" dirty="0">
                          <a:effectLst/>
                        </a:rPr>
                        <a:t>Service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latin typeface="+mn-lt"/>
                          <a:ea typeface="+mn-ea"/>
                          <a:cs typeface="+mn-cs"/>
                        </a:rPr>
                        <a:t>Service</a:t>
                      </a:r>
                      <a:r>
                        <a:rPr lang="en-US" sz="1100" baseline="0" dirty="0">
                          <a:effectLst/>
                          <a:latin typeface="+mn-lt"/>
                          <a:ea typeface="+mn-ea"/>
                          <a:cs typeface="+mn-cs"/>
                        </a:rPr>
                        <a:t> Domain</a:t>
                      </a: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1100" dirty="0">
                        <a:effectLst/>
                        <a:latin typeface="+mn-lt"/>
                        <a:ea typeface="+mn-ea"/>
                        <a:cs typeface="+mn-cs"/>
                      </a:endParaRPr>
                    </a:p>
                    <a:p>
                      <a:pPr marL="0" marR="0" algn="ctr">
                        <a:spcBef>
                          <a:spcPts val="0"/>
                        </a:spcBef>
                        <a:spcAft>
                          <a:spcPts val="0"/>
                        </a:spcAft>
                      </a:pPr>
                      <a:r>
                        <a:rPr lang="en-US" sz="1100" dirty="0">
                          <a:effectLst/>
                          <a:latin typeface="+mn-lt"/>
                          <a:ea typeface="+mn-ea"/>
                          <a:cs typeface="+mn-cs"/>
                        </a:rPr>
                        <a:t>Service Operation</a:t>
                      </a:r>
                      <a:endParaRPr lang="en-US" sz="1100" baseline="0" dirty="0">
                        <a:effectLst/>
                        <a:latin typeface="+mn-lt"/>
                        <a:ea typeface="+mn-ea"/>
                        <a:cs typeface="+mn-cs"/>
                      </a:endParaRP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Layer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Version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 of Operations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Description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Owner</a:t>
                      </a:r>
                    </a:p>
                    <a:p>
                      <a:pPr marL="0" marR="0" algn="ctr">
                        <a:spcBef>
                          <a:spcPts val="0"/>
                        </a:spcBef>
                        <a:spcAft>
                          <a:spcPts val="0"/>
                        </a:spcAft>
                      </a:pPr>
                      <a:r>
                        <a:rPr lang="en-US" sz="1100" dirty="0">
                          <a:effectLst/>
                        </a:rPr>
                        <a:t>Application</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pPr lvl="0" algn="ctr" fontAlgn="b"/>
                      <a:endParaRPr lang="en-US" sz="800" kern="1200" dirty="0">
                        <a:solidFill>
                          <a:schemeClr val="bg1">
                            <a:lumMod val="50000"/>
                          </a:schemeClr>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pPr lvl="0" algn="ctr" fontAlgn="b"/>
                      <a:endParaRPr lang="en-US" sz="800" kern="1200" dirty="0">
                        <a:solidFill>
                          <a:schemeClr val="dk1"/>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pPr lvl="0" algn="ctr" fontAlgn="b"/>
                      <a:endParaRPr lang="en-US" sz="800" u="none" strike="noStrike" dirty="0">
                        <a:effectLst/>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99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83D21C-0903-BE04-7814-3DDC0C4628E7}"/>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 Only</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22</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729875869"/>
              </p:ext>
            </p:extLst>
          </p:nvPr>
        </p:nvGraphicFramePr>
        <p:xfrm>
          <a:off x="522017" y="1463698"/>
          <a:ext cx="9507354" cy="1351533"/>
        </p:xfrm>
        <a:graphic>
          <a:graphicData uri="http://schemas.openxmlformats.org/drawingml/2006/table">
            <a:tbl>
              <a:tblPr firstRow="1" bandRow="1">
                <a:tableStyleId>{6E25E649-3F16-4E02-A733-19D2CDBF48F0}</a:tableStyleId>
              </a:tblPr>
              <a:tblGrid>
                <a:gridCol w="1158371">
                  <a:extLst>
                    <a:ext uri="{9D8B030D-6E8A-4147-A177-3AD203B41FA5}">
                      <a16:colId xmlns:a16="http://schemas.microsoft.com/office/drawing/2014/main" val="20000"/>
                    </a:ext>
                  </a:extLst>
                </a:gridCol>
                <a:gridCol w="1605590">
                  <a:extLst>
                    <a:ext uri="{9D8B030D-6E8A-4147-A177-3AD203B41FA5}">
                      <a16:colId xmlns:a16="http://schemas.microsoft.com/office/drawing/2014/main" val="20001"/>
                    </a:ext>
                  </a:extLst>
                </a:gridCol>
                <a:gridCol w="1742168">
                  <a:extLst>
                    <a:ext uri="{9D8B030D-6E8A-4147-A177-3AD203B41FA5}">
                      <a16:colId xmlns:a16="http://schemas.microsoft.com/office/drawing/2014/main" val="20002"/>
                    </a:ext>
                  </a:extLst>
                </a:gridCol>
                <a:gridCol w="1606999">
                  <a:extLst>
                    <a:ext uri="{9D8B030D-6E8A-4147-A177-3AD203B41FA5}">
                      <a16:colId xmlns:a16="http://schemas.microsoft.com/office/drawing/2014/main" val="20003"/>
                    </a:ext>
                  </a:extLst>
                </a:gridCol>
                <a:gridCol w="1697113">
                  <a:extLst>
                    <a:ext uri="{9D8B030D-6E8A-4147-A177-3AD203B41FA5}">
                      <a16:colId xmlns:a16="http://schemas.microsoft.com/office/drawing/2014/main" val="3769011815"/>
                    </a:ext>
                  </a:extLst>
                </a:gridCol>
                <a:gridCol w="1697113">
                  <a:extLst>
                    <a:ext uri="{9D8B030D-6E8A-4147-A177-3AD203B41FA5}">
                      <a16:colId xmlns:a16="http://schemas.microsoft.com/office/drawing/2014/main" val="20004"/>
                    </a:ext>
                  </a:extLst>
                </a:gridCol>
              </a:tblGrid>
              <a:tr h="303039">
                <a:tc gridSpan="6">
                  <a:txBody>
                    <a:bodyPr/>
                    <a:lstStyle/>
                    <a:p>
                      <a:pPr algn="ctr"/>
                      <a:r>
                        <a:rPr lang="en-US" sz="1100" dirty="0"/>
                        <a:t>COMPLIANCE</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303039">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SOX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GLBA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IRA Rating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3400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841557449"/>
              </p:ext>
            </p:extLst>
          </p:nvPr>
        </p:nvGraphicFramePr>
        <p:xfrm>
          <a:off x="498491" y="3155319"/>
          <a:ext cx="9530879" cy="1594406"/>
        </p:xfrm>
        <a:graphic>
          <a:graphicData uri="http://schemas.openxmlformats.org/drawingml/2006/table">
            <a:tbl>
              <a:tblPr firstRow="1" bandRow="1">
                <a:tableStyleId>{6E25E649-3F16-4E02-A733-19D2CDBF48F0}</a:tableStyleId>
              </a:tblPr>
              <a:tblGrid>
                <a:gridCol w="1161239">
                  <a:extLst>
                    <a:ext uri="{9D8B030D-6E8A-4147-A177-3AD203B41FA5}">
                      <a16:colId xmlns:a16="http://schemas.microsoft.com/office/drawing/2014/main" val="20000"/>
                    </a:ext>
                  </a:extLst>
                </a:gridCol>
                <a:gridCol w="1609562">
                  <a:extLst>
                    <a:ext uri="{9D8B030D-6E8A-4147-A177-3AD203B41FA5}">
                      <a16:colId xmlns:a16="http://schemas.microsoft.com/office/drawing/2014/main" val="20001"/>
                    </a:ext>
                  </a:extLst>
                </a:gridCol>
                <a:gridCol w="1746478">
                  <a:extLst>
                    <a:ext uri="{9D8B030D-6E8A-4147-A177-3AD203B41FA5}">
                      <a16:colId xmlns:a16="http://schemas.microsoft.com/office/drawing/2014/main" val="20002"/>
                    </a:ext>
                  </a:extLst>
                </a:gridCol>
                <a:gridCol w="1610976">
                  <a:extLst>
                    <a:ext uri="{9D8B030D-6E8A-4147-A177-3AD203B41FA5}">
                      <a16:colId xmlns:a16="http://schemas.microsoft.com/office/drawing/2014/main" val="20003"/>
                    </a:ext>
                  </a:extLst>
                </a:gridCol>
                <a:gridCol w="1701312">
                  <a:extLst>
                    <a:ext uri="{9D8B030D-6E8A-4147-A177-3AD203B41FA5}">
                      <a16:colId xmlns:a16="http://schemas.microsoft.com/office/drawing/2014/main" val="20004"/>
                    </a:ext>
                  </a:extLst>
                </a:gridCol>
                <a:gridCol w="1701312">
                  <a:extLst>
                    <a:ext uri="{9D8B030D-6E8A-4147-A177-3AD203B41FA5}">
                      <a16:colId xmlns:a16="http://schemas.microsoft.com/office/drawing/2014/main" val="20005"/>
                    </a:ext>
                  </a:extLst>
                </a:gridCol>
              </a:tblGrid>
              <a:tr h="303039">
                <a:tc gridSpan="5">
                  <a:txBody>
                    <a:bodyPr/>
                    <a:lstStyle/>
                    <a:p>
                      <a:pPr algn="ctr"/>
                      <a:r>
                        <a:rPr lang="en-US" sz="1100" dirty="0"/>
                        <a:t>                                                 DATA</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dirty="0"/>
                    </a:p>
                  </a:txBody>
                  <a:tcPr marL="68580" marR="68580" marT="34290" marB="34290"/>
                </a:tc>
                <a:extLst>
                  <a:ext uri="{0D108BD9-81ED-4DB2-BD59-A6C34878D82A}">
                    <a16:rowId xmlns:a16="http://schemas.microsoft.com/office/drawing/2014/main" val="10000"/>
                  </a:ext>
                </a:extLst>
              </a:tr>
              <a:tr h="344531">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Data Classification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NPPI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Data Migration</a:t>
                      </a:r>
                      <a:r>
                        <a:rPr lang="en-US" sz="1100" b="1" baseline="0" dirty="0"/>
                        <a:t> Required</a:t>
                      </a:r>
                    </a:p>
                    <a:p>
                      <a:pPr algn="ctr"/>
                      <a:r>
                        <a:rPr lang="en-US" sz="1100" b="1" baseline="0" dirty="0"/>
                        <a:t>Explain Process</a:t>
                      </a:r>
                      <a:endParaRPr lang="en-US" sz="11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dirty="0"/>
                        <a:t>PRO Data</a:t>
                      </a:r>
                      <a:r>
                        <a:rPr lang="en-US" sz="1100" b="1" baseline="0" dirty="0"/>
                        <a:t> in Non-PRO Environment </a:t>
                      </a:r>
                      <a:endParaRPr lang="en-US" sz="1100" b="1" dirty="0"/>
                    </a:p>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08414">
                <a:tc>
                  <a:txBody>
                    <a:bodyPr/>
                    <a:lstStyle/>
                    <a:p>
                      <a:endParaRPr lang="en-US" sz="800" i="1" dirty="0">
                        <a:solidFill>
                          <a:srgbClr val="00B050"/>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sp>
        <p:nvSpPr>
          <p:cNvPr id="3" name="Marcador de texto 5">
            <a:extLst>
              <a:ext uri="{FF2B5EF4-FFF2-40B4-BE49-F238E27FC236}">
                <a16:creationId xmlns:a16="http://schemas.microsoft.com/office/drawing/2014/main" id="{6FF78DBF-EC17-D6E1-03E7-9E6EE4B418F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428902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B2E3C4-CAB4-56F5-EB24-B60301472A38}"/>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Hosting details – fill out the table for each new application </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23</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graphicFrame>
        <p:nvGraphicFramePr>
          <p:cNvPr id="3" name="Table 2">
            <a:extLst>
              <a:ext uri="{FF2B5EF4-FFF2-40B4-BE49-F238E27FC236}">
                <a16:creationId xmlns:a16="http://schemas.microsoft.com/office/drawing/2014/main" id="{8A83A3E4-827B-12B5-C07A-F2EC19D0329A}"/>
              </a:ext>
            </a:extLst>
          </p:cNvPr>
          <p:cNvGraphicFramePr>
            <a:graphicFrameLocks noGrp="1"/>
          </p:cNvGraphicFramePr>
          <p:nvPr>
            <p:extLst>
              <p:ext uri="{D42A27DB-BD31-4B8C-83A1-F6EECF244321}">
                <p14:modId xmlns:p14="http://schemas.microsoft.com/office/powerpoint/2010/main" val="979362394"/>
              </p:ext>
            </p:extLst>
          </p:nvPr>
        </p:nvGraphicFramePr>
        <p:xfrm>
          <a:off x="630871" y="1327448"/>
          <a:ext cx="8199934" cy="2826812"/>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900" dirty="0"/>
                        <a:t>Application </a:t>
                      </a:r>
                      <a:r>
                        <a:rPr lang="en-US" sz="900" baseline="0" dirty="0"/>
                        <a:t>Identification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dirty="0"/>
                        <a:t>MEGA</a:t>
                      </a:r>
                      <a:r>
                        <a:rPr lang="en-US" sz="800" baseline="0" dirty="0"/>
                        <a:t> Id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dirty="0"/>
                        <a:t>Application Name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On</a:t>
                      </a:r>
                      <a:r>
                        <a:rPr lang="en-US" sz="800" baseline="0" dirty="0"/>
                        <a:t> Premises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r>
                        <a:rPr lang="en-US" sz="800" dirty="0"/>
                        <a:t>Service</a:t>
                      </a:r>
                      <a:r>
                        <a:rPr lang="en-US" sz="800" baseline="0" dirty="0"/>
                        <a:t> Model</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IaaS/SaaS/PaaS   /    IaaS affiliate/SaaS affiliate/PaaS affiliate</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199141">
                <a:tc>
                  <a:txBody>
                    <a:bodyPr/>
                    <a:lstStyle/>
                    <a:p>
                      <a:r>
                        <a:rPr lang="en-US" sz="800" dirty="0"/>
                        <a:t>Application</a:t>
                      </a:r>
                      <a:r>
                        <a:rPr lang="en-US" sz="800" baseline="0" dirty="0"/>
                        <a:t>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800" dirty="0"/>
                        <a:t>Hosting</a:t>
                      </a:r>
                      <a:r>
                        <a:rPr lang="en-US" sz="800" baseline="0" dirty="0"/>
                        <a:t> Entity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Vendor</a:t>
                      </a:r>
                      <a:r>
                        <a:rPr lang="en-US" sz="800" baseline="0" dirty="0"/>
                        <a:t> Service ID (</a:t>
                      </a:r>
                      <a:r>
                        <a:rPr lang="en-US" sz="800" baseline="0" dirty="0" err="1"/>
                        <a:t>Hiperos</a:t>
                      </a:r>
                      <a:r>
                        <a:rPr lang="en-US" sz="800" baseline="0" dirty="0"/>
                        <a: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BIA RTO / BIA RPO </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i="1" dirty="0">
                          <a:solidFill>
                            <a:schemeClr val="bg1">
                              <a:lumMod val="50000"/>
                            </a:schemeClr>
                          </a:solidFill>
                        </a:rPr>
                        <a:t>This it the Business Requirement – it should be defined in Business Requirement Document (BRD)</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51534740"/>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Licenses Ownership (Corporate - SHUSA-SBNA-SC-SIS-SBNY</a:t>
                      </a:r>
                      <a:r>
                        <a:rPr lang="en-US" sz="800" baseline="0" dirty="0"/>
                        <a:t>-BSI)</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r>
                        <a:rPr lang="en-US" sz="800" dirty="0"/>
                        <a:t>Hosting</a:t>
                      </a:r>
                      <a:r>
                        <a:rPr lang="en-US" sz="800" baseline="0" dirty="0"/>
                        <a:t> Service</a:t>
                      </a:r>
                      <a:r>
                        <a:rPr lang="en-US" sz="800" dirty="0"/>
                        <a:t> (4</a:t>
                      </a:r>
                      <a:r>
                        <a:rPr lang="en-US" sz="800" baseline="30000" dirty="0"/>
                        <a:t>th</a:t>
                      </a:r>
                      <a:r>
                        <a:rPr lang="en-US" sz="800" baseline="0" dirty="0"/>
                        <a:t> PARTY)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182880">
                <a:tc>
                  <a:txBody>
                    <a:bodyPr/>
                    <a:lstStyle/>
                    <a:p>
                      <a:r>
                        <a:rPr lang="en-US" sz="800" baseline="0" dirty="0"/>
                        <a:t>Data Location (Region and Zone)</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r>
                        <a:rPr lang="en-US" sz="800" dirty="0"/>
                        <a:t>DR Location (Region and Zone)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60440939"/>
                  </a:ext>
                </a:extLst>
              </a:tr>
              <a:tr h="182880">
                <a:tc>
                  <a:txBody>
                    <a:bodyPr/>
                    <a:lstStyle/>
                    <a:p>
                      <a:r>
                        <a:rPr lang="en-US" sz="800" dirty="0"/>
                        <a:t>Application Resiliency checked by Engineering Team</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Application Level / Database Level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14864225"/>
                  </a:ext>
                </a:extLst>
              </a:tr>
            </a:tbl>
          </a:graphicData>
        </a:graphic>
      </p:graphicFrame>
      <p:graphicFrame>
        <p:nvGraphicFramePr>
          <p:cNvPr id="4" name="Table 3">
            <a:extLst>
              <a:ext uri="{FF2B5EF4-FFF2-40B4-BE49-F238E27FC236}">
                <a16:creationId xmlns:a16="http://schemas.microsoft.com/office/drawing/2014/main" id="{15C54CB7-F562-790E-BEF9-0D5686CA07C3}"/>
              </a:ext>
            </a:extLst>
          </p:cNvPr>
          <p:cNvGraphicFramePr>
            <a:graphicFrameLocks noGrp="1"/>
          </p:cNvGraphicFramePr>
          <p:nvPr>
            <p:extLst>
              <p:ext uri="{D42A27DB-BD31-4B8C-83A1-F6EECF244321}">
                <p14:modId xmlns:p14="http://schemas.microsoft.com/office/powerpoint/2010/main" val="3677052031"/>
              </p:ext>
            </p:extLst>
          </p:nvPr>
        </p:nvGraphicFramePr>
        <p:xfrm>
          <a:off x="624950" y="4304468"/>
          <a:ext cx="8199934" cy="211074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128810">
                <a:tc gridSpan="2">
                  <a:txBody>
                    <a:bodyPr/>
                    <a:lstStyle/>
                    <a:p>
                      <a:pPr algn="ctr"/>
                      <a:r>
                        <a:rPr lang="en-US" sz="900" dirty="0"/>
                        <a:t>Cloud</a:t>
                      </a:r>
                      <a:r>
                        <a:rPr lang="en-US" sz="900" baseline="0" dirty="0"/>
                        <a:t> Deployment Information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baseline="0" dirty="0"/>
                        <a:t>Cloud  Deployment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baseline="0" dirty="0"/>
                        <a:t>Cloud Deployment Model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Santander Cloud Landing Zone (Entity and Region)</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97264614"/>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aseline="0" dirty="0"/>
                        <a:t>Cloud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587796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Tenancy Model</a:t>
                      </a: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at rest Encryption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in Transit Encryption Method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Key</a:t>
                      </a:r>
                      <a:r>
                        <a:rPr lang="en-US" sz="800" baseline="0" dirty="0"/>
                        <a:t> Management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aseline="0" dirty="0"/>
                        <a:t>None-KMS-HSM</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Santander</a:t>
                      </a:r>
                      <a:r>
                        <a:rPr lang="en-US" sz="800" baseline="0" dirty="0"/>
                        <a:t> Control Keys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bl>
          </a:graphicData>
        </a:graphic>
      </p:graphicFrame>
      <p:sp>
        <p:nvSpPr>
          <p:cNvPr id="8" name="Marcador de texto 5">
            <a:extLst>
              <a:ext uri="{FF2B5EF4-FFF2-40B4-BE49-F238E27FC236}">
                <a16:creationId xmlns:a16="http://schemas.microsoft.com/office/drawing/2014/main" id="{9E286A39-BA15-9EF8-86E3-B94FBF5D3368}"/>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59158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908685-91A8-BA29-E1C4-0148C047303A}"/>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Security Details – fill out the table for each new application </a:t>
            </a:r>
          </a:p>
          <a:p>
            <a:pPr>
              <a:lnSpc>
                <a:spcPct val="107000"/>
              </a:lnSpc>
            </a:pPr>
            <a:r>
              <a:rPr lang="en-US" sz="1400" i="1" dirty="0">
                <a:solidFill>
                  <a:schemeClr val="bg1">
                    <a:lumMod val="65000"/>
                  </a:schemeClr>
                </a:solidFill>
              </a:rPr>
              <a:t>Insert Information Security Assessment Report (ISAR) Approved in this page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User Management</a:t>
            </a:r>
          </a:p>
          <a:p>
            <a:pPr>
              <a:lnSpc>
                <a:spcPct val="107000"/>
              </a:lnSpc>
            </a:pPr>
            <a:r>
              <a:rPr lang="en-US" sz="1400" i="1" dirty="0">
                <a:solidFill>
                  <a:schemeClr val="bg1">
                    <a:lumMod val="50000"/>
                  </a:schemeClr>
                </a:solidFill>
              </a:rPr>
              <a:t>Provide information related to user management.</a:t>
            </a: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24</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2.10 User Management</a:t>
            </a:r>
          </a:p>
        </p:txBody>
      </p:sp>
      <p:graphicFrame>
        <p:nvGraphicFramePr>
          <p:cNvPr id="8" name="Table 7">
            <a:extLst>
              <a:ext uri="{FF2B5EF4-FFF2-40B4-BE49-F238E27FC236}">
                <a16:creationId xmlns:a16="http://schemas.microsoft.com/office/drawing/2014/main" id="{013014F6-EF0C-171E-2295-7FE68E7DA5CD}"/>
              </a:ext>
            </a:extLst>
          </p:cNvPr>
          <p:cNvGraphicFramePr>
            <a:graphicFrameLocks noGrp="1"/>
          </p:cNvGraphicFramePr>
          <p:nvPr>
            <p:extLst>
              <p:ext uri="{D42A27DB-BD31-4B8C-83A1-F6EECF244321}">
                <p14:modId xmlns:p14="http://schemas.microsoft.com/office/powerpoint/2010/main" val="135118427"/>
              </p:ext>
            </p:extLst>
          </p:nvPr>
        </p:nvGraphicFramePr>
        <p:xfrm>
          <a:off x="530911" y="1503593"/>
          <a:ext cx="8199934" cy="115062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1100" baseline="0" dirty="0"/>
                        <a:t>APPLICATION SECURITY</a:t>
                      </a:r>
                      <a:endParaRPr lang="en-US" sz="11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1050" dirty="0"/>
                        <a:t>Types of Users</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(Admins, Back Office, Service Account, External Customers)</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1050" dirty="0"/>
                        <a:t>SAILPOINT</a:t>
                      </a:r>
                      <a:r>
                        <a:rPr lang="en-US" sz="1050" baseline="0" dirty="0"/>
                        <a:t> Integration</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SIEM Integration</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Audit</a:t>
                      </a:r>
                      <a:r>
                        <a:rPr lang="en-US" sz="1050" baseline="0" dirty="0"/>
                        <a:t> Log Feature Available</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bl>
          </a:graphicData>
        </a:graphic>
      </p:graphicFrame>
      <p:sp>
        <p:nvSpPr>
          <p:cNvPr id="3" name="Marcador de texto 5">
            <a:extLst>
              <a:ext uri="{FF2B5EF4-FFF2-40B4-BE49-F238E27FC236}">
                <a16:creationId xmlns:a16="http://schemas.microsoft.com/office/drawing/2014/main" id="{F64AE770-B160-F297-5F75-C5BEC751E80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7" name="Table 6">
            <a:extLst>
              <a:ext uri="{FF2B5EF4-FFF2-40B4-BE49-F238E27FC236}">
                <a16:creationId xmlns:a16="http://schemas.microsoft.com/office/drawing/2014/main" id="{D299CAA0-2C52-6CB3-8DE7-2EF5E6F82111}"/>
              </a:ext>
            </a:extLst>
          </p:cNvPr>
          <p:cNvGraphicFramePr>
            <a:graphicFrameLocks noGrp="1"/>
          </p:cNvGraphicFramePr>
          <p:nvPr>
            <p:extLst>
              <p:ext uri="{D42A27DB-BD31-4B8C-83A1-F6EECF244321}">
                <p14:modId xmlns:p14="http://schemas.microsoft.com/office/powerpoint/2010/main" val="2349548959"/>
              </p:ext>
            </p:extLst>
          </p:nvPr>
        </p:nvGraphicFramePr>
        <p:xfrm>
          <a:off x="530911" y="3641345"/>
          <a:ext cx="9696822" cy="2108200"/>
        </p:xfrm>
        <a:graphic>
          <a:graphicData uri="http://schemas.openxmlformats.org/drawingml/2006/table">
            <a:tbl>
              <a:tblPr firstRow="1" bandRow="1">
                <a:tableStyleId>{6E25E649-3F16-4E02-A733-19D2CDBF48F0}</a:tableStyleId>
              </a:tblPr>
              <a:tblGrid>
                <a:gridCol w="3763327">
                  <a:extLst>
                    <a:ext uri="{9D8B030D-6E8A-4147-A177-3AD203B41FA5}">
                      <a16:colId xmlns:a16="http://schemas.microsoft.com/office/drawing/2014/main" val="20000"/>
                    </a:ext>
                  </a:extLst>
                </a:gridCol>
                <a:gridCol w="2910579">
                  <a:extLst>
                    <a:ext uri="{9D8B030D-6E8A-4147-A177-3AD203B41FA5}">
                      <a16:colId xmlns:a16="http://schemas.microsoft.com/office/drawing/2014/main" val="20001"/>
                    </a:ext>
                  </a:extLst>
                </a:gridCol>
                <a:gridCol w="3022916">
                  <a:extLst>
                    <a:ext uri="{9D8B030D-6E8A-4147-A177-3AD203B41FA5}">
                      <a16:colId xmlns:a16="http://schemas.microsoft.com/office/drawing/2014/main" val="3143499232"/>
                    </a:ext>
                  </a:extLst>
                </a:gridCol>
              </a:tblGrid>
              <a:tr h="370840">
                <a:tc>
                  <a:txBody>
                    <a:bodyPr/>
                    <a:lstStyle/>
                    <a:p>
                      <a:pPr algn="ctr"/>
                      <a:r>
                        <a:rPr lang="en-US" sz="1100" dirty="0"/>
                        <a:t>User Identification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User Locality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List all the user groups who will access the systems. </a:t>
                      </a:r>
                      <a:r>
                        <a:rPr lang="en-US" sz="1200" baseline="0" dirty="0"/>
                        <a:t>(</a:t>
                      </a:r>
                      <a:r>
                        <a:rPr lang="en-US" sz="1200" baseline="0" dirty="0" err="1"/>
                        <a:t>i.e</a:t>
                      </a:r>
                      <a:r>
                        <a:rPr lang="en-US" sz="1200" baseline="0" dirty="0"/>
                        <a:t> Branch Executives, Branch Tellers, Branch Managers, Back Office Employees, Underwriters, Customers,) </a:t>
                      </a:r>
                      <a:r>
                        <a:rPr lang="en-US" sz="1200" dirty="0"/>
                        <a:t>Identify</a:t>
                      </a:r>
                      <a:r>
                        <a:rPr lang="en-US" sz="1200" baseline="0" dirty="0"/>
                        <a:t> connectivity requirements to help determine user profiles. Confirm whether there are any network latency or security concerns. </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t>List the locations of the users who will access the systems. (i.e. Department, Branches, Corporate Buildings, Contact Center, Entity, and geographics globally in addition to the internet access.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SSO (Ping Federate), Active Directory, </a:t>
                      </a:r>
                      <a:r>
                        <a:rPr lang="en-US" sz="1200" dirty="0" err="1"/>
                        <a:t>AzureAD</a:t>
                      </a:r>
                      <a:r>
                        <a:rPr lang="en-US" sz="1200" dirty="0"/>
                        <a:t>, Local Credential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236852"/>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04741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8387516"/>
                  </a:ext>
                </a:extLst>
              </a:tr>
            </a:tbl>
          </a:graphicData>
        </a:graphic>
      </p:graphicFrame>
    </p:spTree>
    <p:extLst>
      <p:ext uri="{BB962C8B-B14F-4D97-AF65-F5344CB8AC3E}">
        <p14:creationId xmlns:p14="http://schemas.microsoft.com/office/powerpoint/2010/main" val="2838140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25</a:t>
            </a:fld>
            <a:endParaRPr lang="es-ES" dirty="0"/>
          </a:p>
        </p:txBody>
      </p:sp>
      <p:sp>
        <p:nvSpPr>
          <p:cNvPr id="6" name="Título 1">
            <a:extLst>
              <a:ext uri="{FF2B5EF4-FFF2-40B4-BE49-F238E27FC236}">
                <a16:creationId xmlns:a16="http://schemas.microsoft.com/office/drawing/2014/main" id="{08B82717-FF2A-08A5-1E99-9D0E7B471AF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2.11 Security Architecture Diagram - Target</a:t>
            </a:r>
          </a:p>
        </p:txBody>
      </p:sp>
      <p:sp>
        <p:nvSpPr>
          <p:cNvPr id="3" name="Marcador de texto 5">
            <a:extLst>
              <a:ext uri="{FF2B5EF4-FFF2-40B4-BE49-F238E27FC236}">
                <a16:creationId xmlns:a16="http://schemas.microsoft.com/office/drawing/2014/main" id="{456262B4-9237-ADA8-2469-1180F2FEFA9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4" name="Marcador de número de diapositiva 1">
            <a:extLst>
              <a:ext uri="{FF2B5EF4-FFF2-40B4-BE49-F238E27FC236}">
                <a16:creationId xmlns:a16="http://schemas.microsoft.com/office/drawing/2014/main" id="{5DE80791-8133-B2CF-1F34-590B40DB993D}"/>
              </a:ext>
            </a:extLst>
          </p:cNvPr>
          <p:cNvSpPr txBox="1">
            <a:spLocks/>
          </p:cNvSpPr>
          <p:nvPr/>
        </p:nvSpPr>
        <p:spPr>
          <a:xfrm>
            <a:off x="8730845" y="6209602"/>
            <a:ext cx="2743200" cy="365125"/>
          </a:xfrm>
          <a:prstGeom prst="rect">
            <a:avLst/>
          </a:prstGeom>
        </p:spPr>
        <p:txBody>
          <a:bodyPr vert="horz" lIns="91440" tIns="45720" rIns="91440" bIns="45720" rtlCol="0" anchor="ctr"/>
          <a:lstStyle>
            <a:defPPr>
              <a:defRPr lang="es-ES"/>
            </a:defPPr>
            <a:lvl1pPr marL="0" algn="r" defTabSz="914400" rtl="0" eaLnBrk="1" latinLnBrk="0" hangingPunct="1">
              <a:defRPr sz="975"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pPr/>
              <a:t>25</a:t>
            </a:fld>
            <a:endParaRPr lang="es-ES" dirty="0"/>
          </a:p>
        </p:txBody>
      </p:sp>
      <p:sp>
        <p:nvSpPr>
          <p:cNvPr id="5" name="Rectángulo 4">
            <a:extLst>
              <a:ext uri="{FF2B5EF4-FFF2-40B4-BE49-F238E27FC236}">
                <a16:creationId xmlns:a16="http://schemas.microsoft.com/office/drawing/2014/main" id="{54EC0BDE-E6B5-8910-7240-A48D250A94A5}"/>
              </a:ext>
            </a:extLst>
          </p:cNvPr>
          <p:cNvSpPr/>
          <p:nvPr/>
        </p:nvSpPr>
        <p:spPr>
          <a:xfrm>
            <a:off x="2853939" y="2237116"/>
            <a:ext cx="724972" cy="8740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Rectángulo 6">
            <a:extLst>
              <a:ext uri="{FF2B5EF4-FFF2-40B4-BE49-F238E27FC236}">
                <a16:creationId xmlns:a16="http://schemas.microsoft.com/office/drawing/2014/main" id="{704D3EB4-6AC2-782E-4221-F81F80729047}"/>
              </a:ext>
            </a:extLst>
          </p:cNvPr>
          <p:cNvSpPr/>
          <p:nvPr/>
        </p:nvSpPr>
        <p:spPr>
          <a:xfrm>
            <a:off x="6313773" y="1262417"/>
            <a:ext cx="5796000" cy="428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9700" indent="-139700" algn="just">
              <a:spcAft>
                <a:spcPts val="200"/>
              </a:spcAft>
              <a:buAutoNum type="arabicPeriod"/>
            </a:pPr>
            <a:r>
              <a:rPr lang="es-ES" sz="850" b="1" dirty="0">
                <a:solidFill>
                  <a:schemeClr val="tx1"/>
                </a:solidFill>
                <a:latin typeface="Aptos" panose="020B0004020202020204" pitchFamily="34" charset="0"/>
              </a:rPr>
              <a:t>T24 – Medea </a:t>
            </a:r>
            <a:r>
              <a:rPr lang="es-ES" sz="850" dirty="0">
                <a:solidFill>
                  <a:schemeClr val="tx1"/>
                </a:solidFill>
                <a:latin typeface="Aptos" panose="020B0004020202020204" pitchFamily="34" charset="0"/>
              </a:rPr>
              <a:t>: Daily – in batch by EOD. </a:t>
            </a:r>
          </a:p>
          <a:p>
            <a:pPr marL="358775" lvl="1"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Existing connection. No new files. Only incremental information in existing files. </a:t>
            </a:r>
          </a:p>
          <a:p>
            <a:pPr marL="358775" lvl="1"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 </a:t>
            </a:r>
            <a:r>
              <a:rPr lang="es-ES" sz="850" dirty="0">
                <a:solidFill>
                  <a:schemeClr val="tx1"/>
                </a:solidFill>
                <a:latin typeface="Aptos" panose="020B0004020202020204" pitchFamily="34" charset="0"/>
              </a:rPr>
              <a:t>Information sent to Medea for PnL calculation/ recognition and Client statment purposes.  </a:t>
            </a:r>
          </a:p>
          <a:p>
            <a:pPr marL="228600" indent="-228600" algn="just">
              <a:spcAft>
                <a:spcPts val="200"/>
              </a:spcAft>
              <a:buAutoNum type="arabicPeriod"/>
            </a:pPr>
            <a:endParaRPr lang="es-ES" sz="300" dirty="0">
              <a:solidFill>
                <a:schemeClr val="tx1"/>
              </a:solidFill>
              <a:latin typeface="Aptos" panose="020B0004020202020204" pitchFamily="34" charset="0"/>
            </a:endParaRPr>
          </a:p>
          <a:p>
            <a:pPr marL="139700" indent="-139700" algn="just">
              <a:spcAft>
                <a:spcPts val="200"/>
              </a:spcAft>
              <a:buAutoNum type="arabicPeriod"/>
            </a:pPr>
            <a:r>
              <a:rPr lang="es-ES" sz="850" b="1" dirty="0">
                <a:solidFill>
                  <a:schemeClr val="tx1"/>
                </a:solidFill>
                <a:latin typeface="Aptos" panose="020B0004020202020204" pitchFamily="34" charset="0"/>
              </a:rPr>
              <a:t>T24 – Murex 3 Latam</a:t>
            </a:r>
            <a:r>
              <a:rPr lang="es-ES" sz="850" dirty="0">
                <a:solidFill>
                  <a:schemeClr val="tx1"/>
                </a:solidFill>
                <a:latin typeface="Aptos" panose="020B0004020202020204" pitchFamily="34" charset="0"/>
              </a:rPr>
              <a:t>: Daily – in bacth by EOD, </a:t>
            </a:r>
          </a:p>
          <a:p>
            <a:pPr marL="358775" lvl="1"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Confidential information. Non PPI information (non-sensible info). Only trading info.</a:t>
            </a:r>
          </a:p>
          <a:p>
            <a:pPr marL="358775" lvl="1"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 </a:t>
            </a:r>
            <a:r>
              <a:rPr lang="es-ES" sz="850" dirty="0">
                <a:solidFill>
                  <a:schemeClr val="tx1"/>
                </a:solidFill>
                <a:latin typeface="Aptos" panose="020B0004020202020204" pitchFamily="34" charset="0"/>
              </a:rPr>
              <a:t>Aditional information for NDF (in same way as FX Spot, FX Forward and FX Swap) is sent to MX3 Latam by using a call to SCIB API. Call is REST HTTPS with JWT/Oauth2. Then Murex send the ACK to T24 (via IIB – API Connect)  and there is a recon report confirming that ACK has been received for all contracts. In case of any mismatch, MO received the alert and proceed with the remediation. Any fail on this process does not make any impact in the client.</a:t>
            </a:r>
          </a:p>
          <a:p>
            <a:pPr marL="228600" indent="-228600" algn="just">
              <a:spcAft>
                <a:spcPts val="200"/>
              </a:spcAft>
              <a:buAutoNum type="arabicPeriod"/>
            </a:pPr>
            <a:endParaRPr lang="es-ES" sz="300" dirty="0">
              <a:solidFill>
                <a:schemeClr val="tx1"/>
              </a:solidFill>
              <a:latin typeface="Aptos" panose="020B0004020202020204" pitchFamily="34" charset="0"/>
            </a:endParaRPr>
          </a:p>
          <a:p>
            <a:pPr marL="139700" indent="-139700" algn="just">
              <a:spcAft>
                <a:spcPts val="200"/>
              </a:spcAft>
              <a:buAutoNum type="arabicPeriod"/>
            </a:pPr>
            <a:r>
              <a:rPr lang="es-ES" sz="850" b="1" dirty="0">
                <a:solidFill>
                  <a:schemeClr val="tx1"/>
                </a:solidFill>
                <a:latin typeface="Aptos" panose="020B0004020202020204" pitchFamily="34" charset="0"/>
              </a:rPr>
              <a:t>T24 – DTTC: </a:t>
            </a:r>
            <a:r>
              <a:rPr lang="es-ES" sz="850" dirty="0">
                <a:solidFill>
                  <a:schemeClr val="tx1"/>
                </a:solidFill>
                <a:latin typeface="Aptos" panose="020B0004020202020204" pitchFamily="34" charset="0"/>
              </a:rPr>
              <a:t>Daily, via SFTP, through MIA RELAY online and in batch by EOD.  </a:t>
            </a:r>
          </a:p>
          <a:p>
            <a:pPr marL="358775"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Confidential information. Non PPI information (non-sensible info). Only trading info.</a:t>
            </a:r>
          </a:p>
          <a:p>
            <a:pPr marL="358775"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a:t>
            </a:r>
            <a:r>
              <a:rPr lang="es-ES" sz="850" dirty="0">
                <a:solidFill>
                  <a:schemeClr val="tx1"/>
                </a:solidFill>
                <a:latin typeface="Aptos" panose="020B0004020202020204" pitchFamily="34" charset="0"/>
              </a:rPr>
              <a:t>: Trading information for NDF (in similar way as FX) will be automatically uploaded by T24 into DTCC to meet Dood Frank regulatory requirements. Automatic uploading will be done by using existing connection made in the past for FX, for same purpose. This existing connnection only requires updating in terms of port opening and servers. </a:t>
            </a:r>
          </a:p>
          <a:p>
            <a:pPr marL="228600" indent="-228600" algn="just">
              <a:spcAft>
                <a:spcPts val="200"/>
              </a:spcAft>
              <a:buAutoNum type="arabicPeriod"/>
            </a:pPr>
            <a:endParaRPr lang="es-ES" sz="300" dirty="0">
              <a:solidFill>
                <a:schemeClr val="tx1"/>
              </a:solidFill>
              <a:latin typeface="Aptos" panose="020B0004020202020204" pitchFamily="34" charset="0"/>
            </a:endParaRPr>
          </a:p>
          <a:p>
            <a:pPr marL="139700" indent="-139700" algn="just">
              <a:spcAft>
                <a:spcPts val="200"/>
              </a:spcAft>
              <a:buAutoNum type="arabicPeriod"/>
            </a:pPr>
            <a:r>
              <a:rPr lang="es-ES" sz="850" b="1" dirty="0" err="1">
                <a:solidFill>
                  <a:schemeClr val="tx1"/>
                </a:solidFill>
                <a:latin typeface="Aptos" panose="020B0004020202020204" pitchFamily="34" charset="0"/>
              </a:rPr>
              <a:t>Asset</a:t>
            </a:r>
            <a:r>
              <a:rPr lang="es-ES" sz="850" b="1" dirty="0">
                <a:solidFill>
                  <a:schemeClr val="tx1"/>
                </a:solidFill>
                <a:latin typeface="Aptos" panose="020B0004020202020204" pitchFamily="34" charset="0"/>
              </a:rPr>
              <a:t> Control – T24: </a:t>
            </a:r>
            <a:r>
              <a:rPr lang="es-ES" sz="850" dirty="0">
                <a:solidFill>
                  <a:schemeClr val="tx1"/>
                </a:solidFill>
                <a:latin typeface="Aptos" panose="020B0004020202020204" pitchFamily="34" charset="0"/>
              </a:rPr>
              <a:t>Daily by EOD , In bacth, via SFTP trhough MIA RELAY</a:t>
            </a:r>
          </a:p>
          <a:p>
            <a:pPr marL="358775"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Confidential information. Non PPI information (non-sensible info). Only Market info (rates).  Only Reception in BSI It is considered confidential since there are some process in Global to ensure this info is accurate. </a:t>
            </a:r>
          </a:p>
          <a:p>
            <a:pPr marL="358775"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a:t>
            </a:r>
            <a:r>
              <a:rPr lang="es-ES" sz="850" dirty="0">
                <a:solidFill>
                  <a:schemeClr val="tx1"/>
                </a:solidFill>
                <a:latin typeface="Aptos" panose="020B0004020202020204" pitchFamily="34" charset="0"/>
              </a:rPr>
              <a:t>: </a:t>
            </a:r>
            <a:r>
              <a:rPr lang="en-US" sz="850" dirty="0">
                <a:solidFill>
                  <a:schemeClr val="tx1"/>
                </a:solidFill>
                <a:latin typeface="Aptos" panose="020B0004020202020204" pitchFamily="34" charset="0"/>
              </a:rPr>
              <a:t>BSI Miami require to received Fixing rates from Asset Control group system using existing connectivity made for FX. For FX, BSI is receiving FWD rates that are needed for MTM valuation .Due to the nature of the product, NDF requires FWD rates for MTM valuation (same as FX) but also Fixing rates that is a key input used to calculate settlement. Fixing rates will be delivered by Asset Control to BSI by sending a new file built for this purpose and using existing connectivity (nothing required in terms of connection). Note that, although this fixing date to be received is critical for Settelment process there will be a complementary control to mitigate the risk that will ensure process not fail. Control will be automatic and will identify any missing Fixing rates when expected, so Product support team can fill in the data manually in the system to cover the issue.  ownership to input this data in the system manually.</a:t>
            </a:r>
          </a:p>
        </p:txBody>
      </p:sp>
      <p:sp>
        <p:nvSpPr>
          <p:cNvPr id="8" name="Elipse 7">
            <a:extLst>
              <a:ext uri="{FF2B5EF4-FFF2-40B4-BE49-F238E27FC236}">
                <a16:creationId xmlns:a16="http://schemas.microsoft.com/office/drawing/2014/main" id="{5ADA51A4-7B5D-D479-FF3B-B7C3A466A3CE}"/>
              </a:ext>
            </a:extLst>
          </p:cNvPr>
          <p:cNvSpPr/>
          <p:nvPr/>
        </p:nvSpPr>
        <p:spPr>
          <a:xfrm>
            <a:off x="6329337" y="1308009"/>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1</a:t>
            </a:r>
          </a:p>
        </p:txBody>
      </p:sp>
      <p:sp>
        <p:nvSpPr>
          <p:cNvPr id="9" name="Elipse 8">
            <a:extLst>
              <a:ext uri="{FF2B5EF4-FFF2-40B4-BE49-F238E27FC236}">
                <a16:creationId xmlns:a16="http://schemas.microsoft.com/office/drawing/2014/main" id="{18B51B6D-4870-76C3-FC31-CBA10C63676E}"/>
              </a:ext>
            </a:extLst>
          </p:cNvPr>
          <p:cNvSpPr/>
          <p:nvPr/>
        </p:nvSpPr>
        <p:spPr>
          <a:xfrm>
            <a:off x="6330816" y="1857374"/>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2</a:t>
            </a:r>
          </a:p>
        </p:txBody>
      </p:sp>
      <p:pic>
        <p:nvPicPr>
          <p:cNvPr id="10" name="Picture 3">
            <a:extLst>
              <a:ext uri="{FF2B5EF4-FFF2-40B4-BE49-F238E27FC236}">
                <a16:creationId xmlns:a16="http://schemas.microsoft.com/office/drawing/2014/main" id="{C1F54096-7215-3F45-396F-8ABB24769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95" y="2082704"/>
            <a:ext cx="6185777" cy="327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Elipse 10">
            <a:extLst>
              <a:ext uri="{FF2B5EF4-FFF2-40B4-BE49-F238E27FC236}">
                <a16:creationId xmlns:a16="http://schemas.microsoft.com/office/drawing/2014/main" id="{484F15DC-5E6A-66C3-3BCA-59AF843A30C3}"/>
              </a:ext>
            </a:extLst>
          </p:cNvPr>
          <p:cNvSpPr/>
          <p:nvPr/>
        </p:nvSpPr>
        <p:spPr>
          <a:xfrm>
            <a:off x="6329337" y="291322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3</a:t>
            </a:r>
          </a:p>
        </p:txBody>
      </p:sp>
      <p:sp>
        <p:nvSpPr>
          <p:cNvPr id="12" name="Elipse 11">
            <a:extLst>
              <a:ext uri="{FF2B5EF4-FFF2-40B4-BE49-F238E27FC236}">
                <a16:creationId xmlns:a16="http://schemas.microsoft.com/office/drawing/2014/main" id="{6C80AD3B-CC60-8F0D-D41D-EEAB15EEECF4}"/>
              </a:ext>
            </a:extLst>
          </p:cNvPr>
          <p:cNvSpPr/>
          <p:nvPr/>
        </p:nvSpPr>
        <p:spPr>
          <a:xfrm>
            <a:off x="6329337" y="383717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4</a:t>
            </a:r>
          </a:p>
        </p:txBody>
      </p:sp>
      <p:sp>
        <p:nvSpPr>
          <p:cNvPr id="13" name="Rectángulo redondeado 136">
            <a:extLst>
              <a:ext uri="{FF2B5EF4-FFF2-40B4-BE49-F238E27FC236}">
                <a16:creationId xmlns:a16="http://schemas.microsoft.com/office/drawing/2014/main" id="{1ED4BD2F-41D6-42B5-CFD9-CDEAD494A160}"/>
              </a:ext>
            </a:extLst>
          </p:cNvPr>
          <p:cNvSpPr/>
          <p:nvPr/>
        </p:nvSpPr>
        <p:spPr>
          <a:xfrm>
            <a:off x="1696368" y="3836735"/>
            <a:ext cx="669600" cy="167400"/>
          </a:xfrm>
          <a:prstGeom prst="roundRect">
            <a:avLst/>
          </a:prstGeom>
          <a:solidFill>
            <a:srgbClr val="ED7D31">
              <a:lumMod val="75000"/>
            </a:srgbClr>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Asset control</a:t>
            </a:r>
          </a:p>
        </p:txBody>
      </p:sp>
      <p:cxnSp>
        <p:nvCxnSpPr>
          <p:cNvPr id="14" name="Conector: angular 61">
            <a:extLst>
              <a:ext uri="{FF2B5EF4-FFF2-40B4-BE49-F238E27FC236}">
                <a16:creationId xmlns:a16="http://schemas.microsoft.com/office/drawing/2014/main" id="{137B62D8-4A48-E1D7-A9AF-44B6F3ED2212}"/>
              </a:ext>
            </a:extLst>
          </p:cNvPr>
          <p:cNvCxnSpPr>
            <a:cxnSpLocks/>
            <a:stCxn id="13" idx="3"/>
          </p:cNvCxnSpPr>
          <p:nvPr/>
        </p:nvCxnSpPr>
        <p:spPr>
          <a:xfrm flipV="1">
            <a:off x="2365968" y="3111127"/>
            <a:ext cx="142134" cy="809308"/>
          </a:xfrm>
          <a:prstGeom prst="bentConnector2">
            <a:avLst/>
          </a:prstGeom>
          <a:noFill/>
          <a:ln w="12700" cap="flat" cmpd="sng" algn="ctr">
            <a:solidFill>
              <a:sysClr val="windowText" lastClr="000000"/>
            </a:solidFill>
            <a:prstDash val="solid"/>
            <a:miter lim="800000"/>
            <a:tailEnd type="triangle"/>
          </a:ln>
          <a:effectLst/>
        </p:spPr>
      </p:cxnSp>
      <p:sp>
        <p:nvSpPr>
          <p:cNvPr id="15" name="Rectángulo: esquinas redondeadas 155">
            <a:extLst>
              <a:ext uri="{FF2B5EF4-FFF2-40B4-BE49-F238E27FC236}">
                <a16:creationId xmlns:a16="http://schemas.microsoft.com/office/drawing/2014/main" id="{8BE94DA0-BA19-D27B-AAB2-5C33CAF27247}"/>
              </a:ext>
            </a:extLst>
          </p:cNvPr>
          <p:cNvSpPr/>
          <p:nvPr/>
        </p:nvSpPr>
        <p:spPr>
          <a:xfrm rot="16200000">
            <a:off x="-217865" y="1616889"/>
            <a:ext cx="828000" cy="142134"/>
          </a:xfrm>
          <a:prstGeom prst="round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prstClr val="black"/>
                </a:solidFill>
                <a:effectLst/>
                <a:uLnTx/>
                <a:uFillTx/>
                <a:latin typeface="Santander Headline" panose="020B0504020201020104"/>
                <a:ea typeface="+mn-ea"/>
                <a:cs typeface="+mn-cs"/>
              </a:rPr>
              <a:t>DTCC: TPP</a:t>
            </a:r>
          </a:p>
        </p:txBody>
      </p:sp>
      <p:grpSp>
        <p:nvGrpSpPr>
          <p:cNvPr id="16" name="Group 451">
            <a:extLst>
              <a:ext uri="{FF2B5EF4-FFF2-40B4-BE49-F238E27FC236}">
                <a16:creationId xmlns:a16="http://schemas.microsoft.com/office/drawing/2014/main" id="{6336AA60-F57A-8381-4659-6C0CA99D857E}"/>
              </a:ext>
            </a:extLst>
          </p:cNvPr>
          <p:cNvGrpSpPr/>
          <p:nvPr/>
        </p:nvGrpSpPr>
        <p:grpSpPr>
          <a:xfrm>
            <a:off x="758953" y="3053376"/>
            <a:ext cx="424650" cy="300452"/>
            <a:chOff x="2191304" y="1913029"/>
            <a:chExt cx="479696" cy="471836"/>
          </a:xfrm>
        </p:grpSpPr>
        <p:grpSp>
          <p:nvGrpSpPr>
            <p:cNvPr id="17" name="Group 452">
              <a:extLst>
                <a:ext uri="{FF2B5EF4-FFF2-40B4-BE49-F238E27FC236}">
                  <a16:creationId xmlns:a16="http://schemas.microsoft.com/office/drawing/2014/main" id="{48FFE7D0-4883-CFFD-FE6C-2DD92AD570A7}"/>
                </a:ext>
              </a:extLst>
            </p:cNvPr>
            <p:cNvGrpSpPr/>
            <p:nvPr/>
          </p:nvGrpSpPr>
          <p:grpSpPr>
            <a:xfrm>
              <a:off x="2269548" y="1913029"/>
              <a:ext cx="324000" cy="324000"/>
              <a:chOff x="2636740" y="1297247"/>
              <a:chExt cx="420431" cy="392424"/>
            </a:xfrm>
          </p:grpSpPr>
          <p:sp>
            <p:nvSpPr>
              <p:cNvPr id="19" name="Oval 48">
                <a:extLst>
                  <a:ext uri="{FF2B5EF4-FFF2-40B4-BE49-F238E27FC236}">
                    <a16:creationId xmlns:a16="http://schemas.microsoft.com/office/drawing/2014/main" id="{008A4573-CBA5-0A03-F5EE-E4333D843713}"/>
                  </a:ext>
                </a:extLst>
              </p:cNvPr>
              <p:cNvSpPr>
                <a:spLocks noChangeArrowheads="1"/>
              </p:cNvSpPr>
              <p:nvPr/>
            </p:nvSpPr>
            <p:spPr bwMode="auto">
              <a:xfrm>
                <a:off x="2679790" y="1297247"/>
                <a:ext cx="334332" cy="321148"/>
              </a:xfrm>
              <a:prstGeom prst="ellipse">
                <a:avLst/>
              </a:prstGeom>
              <a:solidFill>
                <a:srgbClr val="D2ACBE"/>
              </a:solidFill>
              <a:ln>
                <a:noFill/>
              </a:ln>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0" name="Freeform 49">
                <a:extLst>
                  <a:ext uri="{FF2B5EF4-FFF2-40B4-BE49-F238E27FC236}">
                    <a16:creationId xmlns:a16="http://schemas.microsoft.com/office/drawing/2014/main" id="{253ED40E-6ED6-5BB4-8836-534E834283C5}"/>
                  </a:ext>
                </a:extLst>
              </p:cNvPr>
              <p:cNvSpPr>
                <a:spLocks/>
              </p:cNvSpPr>
              <p:nvPr/>
            </p:nvSpPr>
            <p:spPr bwMode="auto">
              <a:xfrm>
                <a:off x="2883107" y="1339114"/>
                <a:ext cx="3333" cy="3448"/>
              </a:xfrm>
              <a:custGeom>
                <a:avLst/>
                <a:gdLst>
                  <a:gd name="T0" fmla="*/ 0 w 7"/>
                  <a:gd name="T1" fmla="*/ 0 h 8"/>
                  <a:gd name="T2" fmla="*/ 0 w 7"/>
                  <a:gd name="T3" fmla="*/ 1 h 8"/>
                  <a:gd name="T4" fmla="*/ 1 w 7"/>
                  <a:gd name="T5" fmla="*/ 2 h 8"/>
                  <a:gd name="T6" fmla="*/ 7 w 7"/>
                  <a:gd name="T7" fmla="*/ 8 h 8"/>
                  <a:gd name="T8" fmla="*/ 0 w 7"/>
                  <a:gd name="T9" fmla="*/ 0 h 8"/>
                </a:gdLst>
                <a:ahLst/>
                <a:cxnLst>
                  <a:cxn ang="0">
                    <a:pos x="T0" y="T1"/>
                  </a:cxn>
                  <a:cxn ang="0">
                    <a:pos x="T2" y="T3"/>
                  </a:cxn>
                  <a:cxn ang="0">
                    <a:pos x="T4" y="T5"/>
                  </a:cxn>
                  <a:cxn ang="0">
                    <a:pos x="T6" y="T7"/>
                  </a:cxn>
                  <a:cxn ang="0">
                    <a:pos x="T8" y="T9"/>
                  </a:cxn>
                </a:cxnLst>
                <a:rect l="0" t="0" r="r" b="b"/>
                <a:pathLst>
                  <a:path w="7" h="8">
                    <a:moveTo>
                      <a:pt x="0" y="0"/>
                    </a:moveTo>
                    <a:cubicBezTo>
                      <a:pt x="0" y="1"/>
                      <a:pt x="0" y="1"/>
                      <a:pt x="0" y="1"/>
                    </a:cubicBezTo>
                    <a:cubicBezTo>
                      <a:pt x="0" y="1"/>
                      <a:pt x="0" y="2"/>
                      <a:pt x="1" y="2"/>
                    </a:cubicBezTo>
                    <a:cubicBezTo>
                      <a:pt x="3" y="4"/>
                      <a:pt x="5" y="6"/>
                      <a:pt x="7" y="8"/>
                    </a:cubicBezTo>
                    <a:cubicBezTo>
                      <a:pt x="0" y="0"/>
                      <a:pt x="0" y="0"/>
                      <a:pt x="0" y="0"/>
                    </a:cubicBezTo>
                  </a:path>
                </a:pathLst>
              </a:custGeom>
              <a:solidFill>
                <a:srgbClr val="FF6E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1" name="Freeform 51">
                <a:extLst>
                  <a:ext uri="{FF2B5EF4-FFF2-40B4-BE49-F238E27FC236}">
                    <a16:creationId xmlns:a16="http://schemas.microsoft.com/office/drawing/2014/main" id="{C70FC881-9D01-28B3-4E0F-0112C526421D}"/>
                  </a:ext>
                </a:extLst>
              </p:cNvPr>
              <p:cNvSpPr>
                <a:spLocks/>
              </p:cNvSpPr>
              <p:nvPr/>
            </p:nvSpPr>
            <p:spPr bwMode="auto">
              <a:xfrm>
                <a:off x="2775423" y="1327047"/>
                <a:ext cx="142040" cy="204412"/>
              </a:xfrm>
              <a:custGeom>
                <a:avLst/>
                <a:gdLst>
                  <a:gd name="T0" fmla="*/ 284 w 306"/>
                  <a:gd name="T1" fmla="*/ 383 h 458"/>
                  <a:gd name="T2" fmla="*/ 283 w 306"/>
                  <a:gd name="T3" fmla="*/ 386 h 458"/>
                  <a:gd name="T4" fmla="*/ 276 w 306"/>
                  <a:gd name="T5" fmla="*/ 410 h 458"/>
                  <a:gd name="T6" fmla="*/ 262 w 306"/>
                  <a:gd name="T7" fmla="*/ 441 h 458"/>
                  <a:gd name="T8" fmla="*/ 253 w 306"/>
                  <a:gd name="T9" fmla="*/ 450 h 458"/>
                  <a:gd name="T10" fmla="*/ 228 w 306"/>
                  <a:gd name="T11" fmla="*/ 458 h 458"/>
                  <a:gd name="T12" fmla="*/ 79 w 306"/>
                  <a:gd name="T13" fmla="*/ 458 h 458"/>
                  <a:gd name="T14" fmla="*/ 54 w 306"/>
                  <a:gd name="T15" fmla="*/ 450 h 458"/>
                  <a:gd name="T16" fmla="*/ 46 w 306"/>
                  <a:gd name="T17" fmla="*/ 441 h 458"/>
                  <a:gd name="T18" fmla="*/ 31 w 306"/>
                  <a:gd name="T19" fmla="*/ 410 h 458"/>
                  <a:gd name="T20" fmla="*/ 24 w 306"/>
                  <a:gd name="T21" fmla="*/ 386 h 458"/>
                  <a:gd name="T22" fmla="*/ 24 w 306"/>
                  <a:gd name="T23" fmla="*/ 383 h 458"/>
                  <a:gd name="T24" fmla="*/ 60 w 306"/>
                  <a:gd name="T25" fmla="*/ 43 h 458"/>
                  <a:gd name="T26" fmla="*/ 154 w 306"/>
                  <a:gd name="T27" fmla="*/ 0 h 458"/>
                  <a:gd name="T28" fmla="*/ 233 w 306"/>
                  <a:gd name="T29" fmla="*/ 29 h 458"/>
                  <a:gd name="T30" fmla="*/ 247 w 306"/>
                  <a:gd name="T31" fmla="*/ 43 h 458"/>
                  <a:gd name="T32" fmla="*/ 252 w 306"/>
                  <a:gd name="T33" fmla="*/ 49 h 458"/>
                  <a:gd name="T34" fmla="*/ 284 w 306"/>
                  <a:gd name="T35" fmla="*/ 383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458">
                    <a:moveTo>
                      <a:pt x="284" y="383"/>
                    </a:moveTo>
                    <a:cubicBezTo>
                      <a:pt x="284" y="384"/>
                      <a:pt x="283" y="385"/>
                      <a:pt x="283" y="386"/>
                    </a:cubicBezTo>
                    <a:cubicBezTo>
                      <a:pt x="281" y="394"/>
                      <a:pt x="279" y="402"/>
                      <a:pt x="276" y="410"/>
                    </a:cubicBezTo>
                    <a:cubicBezTo>
                      <a:pt x="272" y="423"/>
                      <a:pt x="268" y="433"/>
                      <a:pt x="262" y="441"/>
                    </a:cubicBezTo>
                    <a:cubicBezTo>
                      <a:pt x="259" y="445"/>
                      <a:pt x="256" y="448"/>
                      <a:pt x="253" y="450"/>
                    </a:cubicBezTo>
                    <a:cubicBezTo>
                      <a:pt x="246" y="455"/>
                      <a:pt x="238" y="458"/>
                      <a:pt x="228" y="458"/>
                    </a:cubicBezTo>
                    <a:cubicBezTo>
                      <a:pt x="79" y="458"/>
                      <a:pt x="79" y="458"/>
                      <a:pt x="79" y="458"/>
                    </a:cubicBezTo>
                    <a:cubicBezTo>
                      <a:pt x="69" y="458"/>
                      <a:pt x="61" y="455"/>
                      <a:pt x="54" y="450"/>
                    </a:cubicBezTo>
                    <a:cubicBezTo>
                      <a:pt x="51" y="447"/>
                      <a:pt x="48" y="445"/>
                      <a:pt x="46" y="441"/>
                    </a:cubicBezTo>
                    <a:cubicBezTo>
                      <a:pt x="40" y="433"/>
                      <a:pt x="35" y="423"/>
                      <a:pt x="31" y="410"/>
                    </a:cubicBezTo>
                    <a:cubicBezTo>
                      <a:pt x="29" y="402"/>
                      <a:pt x="26" y="394"/>
                      <a:pt x="24" y="386"/>
                    </a:cubicBezTo>
                    <a:cubicBezTo>
                      <a:pt x="24" y="385"/>
                      <a:pt x="24" y="384"/>
                      <a:pt x="24" y="383"/>
                    </a:cubicBezTo>
                    <a:cubicBezTo>
                      <a:pt x="0" y="280"/>
                      <a:pt x="7" y="98"/>
                      <a:pt x="60" y="43"/>
                    </a:cubicBezTo>
                    <a:cubicBezTo>
                      <a:pt x="82" y="20"/>
                      <a:pt x="109" y="0"/>
                      <a:pt x="154" y="0"/>
                    </a:cubicBezTo>
                    <a:cubicBezTo>
                      <a:pt x="189" y="0"/>
                      <a:pt x="214" y="13"/>
                      <a:pt x="233" y="29"/>
                    </a:cubicBezTo>
                    <a:cubicBezTo>
                      <a:pt x="238" y="33"/>
                      <a:pt x="243" y="38"/>
                      <a:pt x="247" y="43"/>
                    </a:cubicBezTo>
                    <a:cubicBezTo>
                      <a:pt x="249" y="44"/>
                      <a:pt x="251" y="47"/>
                      <a:pt x="252" y="49"/>
                    </a:cubicBezTo>
                    <a:cubicBezTo>
                      <a:pt x="301" y="110"/>
                      <a:pt x="306" y="284"/>
                      <a:pt x="284" y="383"/>
                    </a:cubicBezTo>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2" name="Freeform 52">
                <a:extLst>
                  <a:ext uri="{FF2B5EF4-FFF2-40B4-BE49-F238E27FC236}">
                    <a16:creationId xmlns:a16="http://schemas.microsoft.com/office/drawing/2014/main" id="{A20FBFC8-D499-4022-9522-BD469A486CFE}"/>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close/>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3" name="Freeform 53">
                <a:extLst>
                  <a:ext uri="{FF2B5EF4-FFF2-40B4-BE49-F238E27FC236}">
                    <a16:creationId xmlns:a16="http://schemas.microsoft.com/office/drawing/2014/main" id="{D0BDF523-4B50-A4B3-5642-14335D263A54}"/>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4" name="Freeform 54">
                <a:extLst>
                  <a:ext uri="{FF2B5EF4-FFF2-40B4-BE49-F238E27FC236}">
                    <a16:creationId xmlns:a16="http://schemas.microsoft.com/office/drawing/2014/main" id="{D8DB565E-97C9-B41F-B62F-343743123A5A}"/>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close/>
                  </a:path>
                </a:pathLst>
              </a:custGeom>
              <a:solidFill>
                <a:srgbClr val="3A1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5" name="Freeform 55">
                <a:extLst>
                  <a:ext uri="{FF2B5EF4-FFF2-40B4-BE49-F238E27FC236}">
                    <a16:creationId xmlns:a16="http://schemas.microsoft.com/office/drawing/2014/main" id="{30779903-D7AF-16AF-EB4E-6A9B12AE021C}"/>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6" name="Freeform 56">
                <a:extLst>
                  <a:ext uri="{FF2B5EF4-FFF2-40B4-BE49-F238E27FC236}">
                    <a16:creationId xmlns:a16="http://schemas.microsoft.com/office/drawing/2014/main" id="{D83A5C3B-9C05-1C9B-B748-0B6D9F006C88}"/>
                  </a:ext>
                </a:extLst>
              </p:cNvPr>
              <p:cNvSpPr>
                <a:spLocks/>
              </p:cNvSpPr>
              <p:nvPr/>
            </p:nvSpPr>
            <p:spPr bwMode="auto">
              <a:xfrm>
                <a:off x="2828239" y="1475553"/>
                <a:ext cx="37176" cy="18225"/>
              </a:xfrm>
              <a:custGeom>
                <a:avLst/>
                <a:gdLst>
                  <a:gd name="T0" fmla="*/ 0 w 80"/>
                  <a:gd name="T1" fmla="*/ 0 h 41"/>
                  <a:gd name="T2" fmla="*/ 0 w 80"/>
                  <a:gd name="T3" fmla="*/ 17 h 41"/>
                  <a:gd name="T4" fmla="*/ 80 w 80"/>
                  <a:gd name="T5" fmla="*/ 41 h 41"/>
                  <a:gd name="T6" fmla="*/ 80 w 80"/>
                  <a:gd name="T7" fmla="*/ 1 h 41"/>
                  <a:gd name="T8" fmla="*/ 40 w 80"/>
                  <a:gd name="T9" fmla="*/ 16 h 41"/>
                  <a:gd name="T10" fmla="*/ 40 w 80"/>
                  <a:gd name="T11" fmla="*/ 16 h 41"/>
                  <a:gd name="T12" fmla="*/ 40 w 80"/>
                  <a:gd name="T13" fmla="*/ 16 h 41"/>
                  <a:gd name="T14" fmla="*/ 0 w 80"/>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41">
                    <a:moveTo>
                      <a:pt x="0" y="0"/>
                    </a:moveTo>
                    <a:cubicBezTo>
                      <a:pt x="0" y="17"/>
                      <a:pt x="0" y="17"/>
                      <a:pt x="0" y="17"/>
                    </a:cubicBezTo>
                    <a:cubicBezTo>
                      <a:pt x="80" y="41"/>
                      <a:pt x="80" y="41"/>
                      <a:pt x="80" y="41"/>
                    </a:cubicBezTo>
                    <a:cubicBezTo>
                      <a:pt x="80" y="1"/>
                      <a:pt x="80" y="1"/>
                      <a:pt x="80" y="1"/>
                    </a:cubicBezTo>
                    <a:cubicBezTo>
                      <a:pt x="67" y="10"/>
                      <a:pt x="53" y="16"/>
                      <a:pt x="40" y="16"/>
                    </a:cubicBezTo>
                    <a:cubicBezTo>
                      <a:pt x="40" y="16"/>
                      <a:pt x="40" y="16"/>
                      <a:pt x="40" y="16"/>
                    </a:cubicBezTo>
                    <a:cubicBezTo>
                      <a:pt x="40" y="16"/>
                      <a:pt x="40" y="16"/>
                      <a:pt x="40" y="16"/>
                    </a:cubicBezTo>
                    <a:cubicBezTo>
                      <a:pt x="27" y="16"/>
                      <a:pt x="13" y="10"/>
                      <a:pt x="0" y="0"/>
                    </a:cubicBezTo>
                  </a:path>
                </a:pathLst>
              </a:custGeom>
              <a:solidFill>
                <a:srgbClr val="EDA3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7" name="Forma libre 704">
                <a:extLst>
                  <a:ext uri="{FF2B5EF4-FFF2-40B4-BE49-F238E27FC236}">
                    <a16:creationId xmlns:a16="http://schemas.microsoft.com/office/drawing/2014/main" id="{F40BF5AB-D2F2-EB01-5668-D7AE565D1675}"/>
                  </a:ext>
                </a:extLst>
              </p:cNvPr>
              <p:cNvSpPr>
                <a:spLocks noChangeArrowheads="1"/>
              </p:cNvSpPr>
              <p:nvPr/>
            </p:nvSpPr>
            <p:spPr bwMode="auto">
              <a:xfrm>
                <a:off x="2809267" y="1536138"/>
                <a:ext cx="74866" cy="82257"/>
              </a:xfrm>
              <a:custGeom>
                <a:avLst/>
                <a:gdLst>
                  <a:gd name="connsiteX0" fmla="*/ 0 w 463550"/>
                  <a:gd name="connsiteY0" fmla="*/ 0 h 530225"/>
                  <a:gd name="connsiteX1" fmla="*/ 463550 w 463550"/>
                  <a:gd name="connsiteY1" fmla="*/ 0 h 530225"/>
                  <a:gd name="connsiteX2" fmla="*/ 463550 w 463550"/>
                  <a:gd name="connsiteY2" fmla="*/ 503645 h 530225"/>
                  <a:gd name="connsiteX3" fmla="*/ 441961 w 463550"/>
                  <a:gd name="connsiteY3" fmla="*/ 509197 h 530225"/>
                  <a:gd name="connsiteX4" fmla="*/ 233362 w 463550"/>
                  <a:gd name="connsiteY4" fmla="*/ 530225 h 530225"/>
                  <a:gd name="connsiteX5" fmla="*/ 24763 w 463550"/>
                  <a:gd name="connsiteY5" fmla="*/ 509197 h 530225"/>
                  <a:gd name="connsiteX6" fmla="*/ 0 w 463550"/>
                  <a:gd name="connsiteY6" fmla="*/ 502829 h 53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550" h="530225">
                    <a:moveTo>
                      <a:pt x="0" y="0"/>
                    </a:moveTo>
                    <a:lnTo>
                      <a:pt x="463550" y="0"/>
                    </a:lnTo>
                    <a:lnTo>
                      <a:pt x="463550" y="503645"/>
                    </a:lnTo>
                    <a:lnTo>
                      <a:pt x="441961" y="509197"/>
                    </a:lnTo>
                    <a:cubicBezTo>
                      <a:pt x="374581" y="522984"/>
                      <a:pt x="304817" y="530225"/>
                      <a:pt x="233362" y="530225"/>
                    </a:cubicBezTo>
                    <a:cubicBezTo>
                      <a:pt x="161907" y="530225"/>
                      <a:pt x="92143" y="522984"/>
                      <a:pt x="24763" y="509197"/>
                    </a:cubicBezTo>
                    <a:lnTo>
                      <a:pt x="0" y="502829"/>
                    </a:lnTo>
                    <a:close/>
                  </a:path>
                </a:pathLst>
              </a:custGeom>
              <a:solidFill>
                <a:srgbClr val="F080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28" name="Forma libre 706">
                <a:extLst>
                  <a:ext uri="{FF2B5EF4-FFF2-40B4-BE49-F238E27FC236}">
                    <a16:creationId xmlns:a16="http://schemas.microsoft.com/office/drawing/2014/main" id="{171E4CF1-BD25-1071-29F9-9EE991C6A19C}"/>
                  </a:ext>
                </a:extLst>
              </p:cNvPr>
              <p:cNvSpPr>
                <a:spLocks/>
              </p:cNvSpPr>
              <p:nvPr/>
            </p:nvSpPr>
            <p:spPr bwMode="auto">
              <a:xfrm>
                <a:off x="2761108" y="1493778"/>
                <a:ext cx="67132" cy="123550"/>
              </a:xfrm>
              <a:custGeom>
                <a:avLst/>
                <a:gdLst>
                  <a:gd name="connsiteX0" fmla="*/ 415660 w 415660"/>
                  <a:gd name="connsiteY0" fmla="*/ 0 h 796396"/>
                  <a:gd name="connsiteX1" fmla="*/ 415660 w 415660"/>
                  <a:gd name="connsiteY1" fmla="*/ 115150 h 796396"/>
                  <a:gd name="connsiteX2" fmla="*/ 415660 w 415660"/>
                  <a:gd name="connsiteY2" fmla="*/ 169846 h 796396"/>
                  <a:gd name="connsiteX3" fmla="*/ 415660 w 415660"/>
                  <a:gd name="connsiteY3" fmla="*/ 703548 h 796396"/>
                  <a:gd name="connsiteX4" fmla="*/ 415660 w 415660"/>
                  <a:gd name="connsiteY4" fmla="*/ 796396 h 796396"/>
                  <a:gd name="connsiteX5" fmla="*/ 322948 w 415660"/>
                  <a:gd name="connsiteY5" fmla="*/ 782247 h 796396"/>
                  <a:gd name="connsiteX6" fmla="*/ 38181 w 415660"/>
                  <a:gd name="connsiteY6" fmla="*/ 678350 h 796396"/>
                  <a:gd name="connsiteX7" fmla="*/ 0 w 415660"/>
                  <a:gd name="connsiteY7" fmla="*/ 655154 h 796396"/>
                  <a:gd name="connsiteX8" fmla="*/ 1225 w 415660"/>
                  <a:gd name="connsiteY8" fmla="*/ 594820 h 796396"/>
                  <a:gd name="connsiteX9" fmla="*/ 8042 w 415660"/>
                  <a:gd name="connsiteY9" fmla="*/ 426054 h 796396"/>
                  <a:gd name="connsiteX10" fmla="*/ 8042 w 415660"/>
                  <a:gd name="connsiteY10" fmla="*/ 420297 h 796396"/>
                  <a:gd name="connsiteX11" fmla="*/ 131476 w 415660"/>
                  <a:gd name="connsiteY11" fmla="*/ 86362 h 796396"/>
                  <a:gd name="connsiteX12" fmla="*/ 401307 w 415660"/>
                  <a:gd name="connsiteY12" fmla="*/ 5758 h 796396"/>
                  <a:gd name="connsiteX13" fmla="*/ 415660 w 415660"/>
                  <a:gd name="connsiteY13" fmla="*/ 0 h 79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5660" h="796396">
                    <a:moveTo>
                      <a:pt x="415660" y="0"/>
                    </a:moveTo>
                    <a:cubicBezTo>
                      <a:pt x="415660" y="0"/>
                      <a:pt x="415660" y="0"/>
                      <a:pt x="415660" y="115150"/>
                    </a:cubicBezTo>
                    <a:lnTo>
                      <a:pt x="415660" y="169846"/>
                    </a:lnTo>
                    <a:cubicBezTo>
                      <a:pt x="415660" y="169846"/>
                      <a:pt x="415660" y="169846"/>
                      <a:pt x="415660" y="703548"/>
                    </a:cubicBezTo>
                    <a:lnTo>
                      <a:pt x="415660" y="796396"/>
                    </a:lnTo>
                    <a:lnTo>
                      <a:pt x="322948" y="782247"/>
                    </a:lnTo>
                    <a:cubicBezTo>
                      <a:pt x="221880" y="761565"/>
                      <a:pt x="126177" y="726152"/>
                      <a:pt x="38181" y="678350"/>
                    </a:cubicBezTo>
                    <a:lnTo>
                      <a:pt x="0" y="655154"/>
                    </a:lnTo>
                    <a:lnTo>
                      <a:pt x="1225" y="594820"/>
                    </a:lnTo>
                    <a:cubicBezTo>
                      <a:pt x="3019" y="514575"/>
                      <a:pt x="5172" y="443327"/>
                      <a:pt x="8042" y="426054"/>
                    </a:cubicBezTo>
                    <a:cubicBezTo>
                      <a:pt x="8042" y="426054"/>
                      <a:pt x="8042" y="426054"/>
                      <a:pt x="8042" y="420297"/>
                    </a:cubicBezTo>
                    <a:cubicBezTo>
                      <a:pt x="19524" y="313783"/>
                      <a:pt x="33877" y="178482"/>
                      <a:pt x="131476" y="86362"/>
                    </a:cubicBezTo>
                    <a:cubicBezTo>
                      <a:pt x="208981" y="8636"/>
                      <a:pt x="318061" y="5758"/>
                      <a:pt x="401307" y="5758"/>
                    </a:cubicBezTo>
                    <a:cubicBezTo>
                      <a:pt x="407048" y="2879"/>
                      <a:pt x="409919" y="2879"/>
                      <a:pt x="41566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29" name="Freeform 60">
                <a:extLst>
                  <a:ext uri="{FF2B5EF4-FFF2-40B4-BE49-F238E27FC236}">
                    <a16:creationId xmlns:a16="http://schemas.microsoft.com/office/drawing/2014/main" id="{BA6E30DE-32B2-2A1D-83FC-EFE9AB7126AD}"/>
                  </a:ext>
                </a:extLst>
              </p:cNvPr>
              <p:cNvSpPr>
                <a:spLocks/>
              </p:cNvSpPr>
              <p:nvPr/>
            </p:nvSpPr>
            <p:spPr bwMode="auto">
              <a:xfrm>
                <a:off x="2794909" y="1347242"/>
                <a:ext cx="104094" cy="135453"/>
              </a:xfrm>
              <a:custGeom>
                <a:avLst/>
                <a:gdLst>
                  <a:gd name="T0" fmla="*/ 204 w 224"/>
                  <a:gd name="T1" fmla="*/ 141 h 304"/>
                  <a:gd name="T2" fmla="*/ 204 w 224"/>
                  <a:gd name="T3" fmla="*/ 100 h 304"/>
                  <a:gd name="T4" fmla="*/ 112 w 224"/>
                  <a:gd name="T5" fmla="*/ 0 h 304"/>
                  <a:gd name="T6" fmla="*/ 21 w 224"/>
                  <a:gd name="T7" fmla="*/ 100 h 304"/>
                  <a:gd name="T8" fmla="*/ 21 w 224"/>
                  <a:gd name="T9" fmla="*/ 141 h 304"/>
                  <a:gd name="T10" fmla="*/ 0 w 224"/>
                  <a:gd name="T11" fmla="*/ 161 h 304"/>
                  <a:gd name="T12" fmla="*/ 0 w 224"/>
                  <a:gd name="T13" fmla="*/ 182 h 304"/>
                  <a:gd name="T14" fmla="*/ 21 w 224"/>
                  <a:gd name="T15" fmla="*/ 202 h 304"/>
                  <a:gd name="T16" fmla="*/ 112 w 224"/>
                  <a:gd name="T17" fmla="*/ 304 h 304"/>
                  <a:gd name="T18" fmla="*/ 204 w 224"/>
                  <a:gd name="T19" fmla="*/ 202 h 304"/>
                  <a:gd name="T20" fmla="*/ 224 w 224"/>
                  <a:gd name="T21" fmla="*/ 182 h 304"/>
                  <a:gd name="T22" fmla="*/ 224 w 224"/>
                  <a:gd name="T23" fmla="*/ 161 h 304"/>
                  <a:gd name="T24" fmla="*/ 204 w 224"/>
                  <a:gd name="T25" fmla="*/ 141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304">
                    <a:moveTo>
                      <a:pt x="204" y="141"/>
                    </a:moveTo>
                    <a:cubicBezTo>
                      <a:pt x="204" y="100"/>
                      <a:pt x="204" y="100"/>
                      <a:pt x="204" y="100"/>
                    </a:cubicBezTo>
                    <a:cubicBezTo>
                      <a:pt x="204" y="55"/>
                      <a:pt x="153" y="0"/>
                      <a:pt x="112" y="0"/>
                    </a:cubicBezTo>
                    <a:cubicBezTo>
                      <a:pt x="72" y="0"/>
                      <a:pt x="21" y="55"/>
                      <a:pt x="21" y="100"/>
                    </a:cubicBezTo>
                    <a:cubicBezTo>
                      <a:pt x="21" y="141"/>
                      <a:pt x="21" y="141"/>
                      <a:pt x="21" y="141"/>
                    </a:cubicBezTo>
                    <a:cubicBezTo>
                      <a:pt x="9" y="141"/>
                      <a:pt x="0" y="150"/>
                      <a:pt x="0" y="161"/>
                    </a:cubicBezTo>
                    <a:cubicBezTo>
                      <a:pt x="0" y="182"/>
                      <a:pt x="0" y="182"/>
                      <a:pt x="0" y="182"/>
                    </a:cubicBezTo>
                    <a:cubicBezTo>
                      <a:pt x="0" y="193"/>
                      <a:pt x="9" y="202"/>
                      <a:pt x="21" y="202"/>
                    </a:cubicBezTo>
                    <a:cubicBezTo>
                      <a:pt x="21" y="246"/>
                      <a:pt x="72" y="304"/>
                      <a:pt x="112" y="304"/>
                    </a:cubicBezTo>
                    <a:cubicBezTo>
                      <a:pt x="153" y="304"/>
                      <a:pt x="204" y="246"/>
                      <a:pt x="204" y="202"/>
                    </a:cubicBezTo>
                    <a:cubicBezTo>
                      <a:pt x="215" y="202"/>
                      <a:pt x="224" y="193"/>
                      <a:pt x="224" y="182"/>
                    </a:cubicBezTo>
                    <a:cubicBezTo>
                      <a:pt x="224" y="161"/>
                      <a:pt x="224" y="161"/>
                      <a:pt x="224" y="161"/>
                    </a:cubicBezTo>
                    <a:cubicBezTo>
                      <a:pt x="224" y="150"/>
                      <a:pt x="215" y="141"/>
                      <a:pt x="204" y="141"/>
                    </a:cubicBezTo>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0" name="Freeform 61">
                <a:extLst>
                  <a:ext uri="{FF2B5EF4-FFF2-40B4-BE49-F238E27FC236}">
                    <a16:creationId xmlns:a16="http://schemas.microsoft.com/office/drawing/2014/main" id="{A5CAD731-9EED-26E3-A5B4-31DD699C8C0D}"/>
                  </a:ext>
                </a:extLst>
              </p:cNvPr>
              <p:cNvSpPr>
                <a:spLocks noEditPoints="1"/>
              </p:cNvSpPr>
              <p:nvPr/>
            </p:nvSpPr>
            <p:spPr bwMode="auto">
              <a:xfrm>
                <a:off x="2846956" y="1347242"/>
                <a:ext cx="52047" cy="128804"/>
              </a:xfrm>
              <a:custGeom>
                <a:avLst/>
                <a:gdLst>
                  <a:gd name="T0" fmla="*/ 91 w 112"/>
                  <a:gd name="T1" fmla="*/ 214 h 289"/>
                  <a:gd name="T2" fmla="*/ 40 w 112"/>
                  <a:gd name="T3" fmla="*/ 289 h 289"/>
                  <a:gd name="T4" fmla="*/ 40 w 112"/>
                  <a:gd name="T5" fmla="*/ 289 h 289"/>
                  <a:gd name="T6" fmla="*/ 91 w 112"/>
                  <a:gd name="T7" fmla="*/ 214 h 289"/>
                  <a:gd name="T8" fmla="*/ 0 w 112"/>
                  <a:gd name="T9" fmla="*/ 0 h 289"/>
                  <a:gd name="T10" fmla="*/ 0 w 112"/>
                  <a:gd name="T11" fmla="*/ 0 h 289"/>
                  <a:gd name="T12" fmla="*/ 92 w 112"/>
                  <a:gd name="T13" fmla="*/ 100 h 289"/>
                  <a:gd name="T14" fmla="*/ 92 w 112"/>
                  <a:gd name="T15" fmla="*/ 141 h 289"/>
                  <a:gd name="T16" fmla="*/ 112 w 112"/>
                  <a:gd name="T17" fmla="*/ 161 h 289"/>
                  <a:gd name="T18" fmla="*/ 112 w 112"/>
                  <a:gd name="T19" fmla="*/ 182 h 289"/>
                  <a:gd name="T20" fmla="*/ 112 w 112"/>
                  <a:gd name="T21" fmla="*/ 182 h 289"/>
                  <a:gd name="T22" fmla="*/ 112 w 112"/>
                  <a:gd name="T23" fmla="*/ 161 h 289"/>
                  <a:gd name="T24" fmla="*/ 92 w 112"/>
                  <a:gd name="T25" fmla="*/ 141 h 289"/>
                  <a:gd name="T26" fmla="*/ 92 w 112"/>
                  <a:gd name="T27" fmla="*/ 100 h 289"/>
                  <a:gd name="T28" fmla="*/ 0 w 112"/>
                  <a:gd name="T29"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289">
                    <a:moveTo>
                      <a:pt x="91" y="214"/>
                    </a:moveTo>
                    <a:cubicBezTo>
                      <a:pt x="86" y="242"/>
                      <a:pt x="64" y="271"/>
                      <a:pt x="40" y="289"/>
                    </a:cubicBezTo>
                    <a:cubicBezTo>
                      <a:pt x="40" y="289"/>
                      <a:pt x="40" y="289"/>
                      <a:pt x="40" y="289"/>
                    </a:cubicBezTo>
                    <a:cubicBezTo>
                      <a:pt x="64" y="271"/>
                      <a:pt x="86" y="242"/>
                      <a:pt x="91" y="214"/>
                    </a:cubicBezTo>
                    <a:moveTo>
                      <a:pt x="0" y="0"/>
                    </a:moveTo>
                    <a:cubicBezTo>
                      <a:pt x="0" y="0"/>
                      <a:pt x="0" y="0"/>
                      <a:pt x="0" y="0"/>
                    </a:cubicBezTo>
                    <a:cubicBezTo>
                      <a:pt x="41" y="0"/>
                      <a:pt x="92" y="55"/>
                      <a:pt x="92" y="100"/>
                    </a:cubicBezTo>
                    <a:cubicBezTo>
                      <a:pt x="92" y="141"/>
                      <a:pt x="92" y="141"/>
                      <a:pt x="92" y="141"/>
                    </a:cubicBezTo>
                    <a:cubicBezTo>
                      <a:pt x="103" y="141"/>
                      <a:pt x="112" y="150"/>
                      <a:pt x="112" y="161"/>
                    </a:cubicBezTo>
                    <a:cubicBezTo>
                      <a:pt x="112" y="182"/>
                      <a:pt x="112" y="182"/>
                      <a:pt x="112" y="182"/>
                    </a:cubicBezTo>
                    <a:cubicBezTo>
                      <a:pt x="112" y="182"/>
                      <a:pt x="112" y="182"/>
                      <a:pt x="112" y="182"/>
                    </a:cubicBezTo>
                    <a:cubicBezTo>
                      <a:pt x="112" y="161"/>
                      <a:pt x="112" y="161"/>
                      <a:pt x="112" y="161"/>
                    </a:cubicBezTo>
                    <a:cubicBezTo>
                      <a:pt x="112" y="150"/>
                      <a:pt x="103" y="141"/>
                      <a:pt x="92" y="141"/>
                    </a:cubicBezTo>
                    <a:cubicBezTo>
                      <a:pt x="92" y="100"/>
                      <a:pt x="92" y="100"/>
                      <a:pt x="92" y="100"/>
                    </a:cubicBezTo>
                    <a:cubicBezTo>
                      <a:pt x="92" y="55"/>
                      <a:pt x="41" y="0"/>
                      <a:pt x="0" y="0"/>
                    </a:cubicBezTo>
                  </a:path>
                </a:pathLst>
              </a:custGeom>
              <a:solidFill>
                <a:srgbClr val="3A1E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1" name="Freeform 62">
                <a:extLst>
                  <a:ext uri="{FF2B5EF4-FFF2-40B4-BE49-F238E27FC236}">
                    <a16:creationId xmlns:a16="http://schemas.microsoft.com/office/drawing/2014/main" id="{AF0A1164-8CE2-562F-BDDA-4AC727EA1CC8}"/>
                  </a:ext>
                </a:extLst>
              </p:cNvPr>
              <p:cNvSpPr>
                <a:spLocks/>
              </p:cNvSpPr>
              <p:nvPr/>
            </p:nvSpPr>
            <p:spPr bwMode="auto">
              <a:xfrm>
                <a:off x="2846956" y="1476046"/>
                <a:ext cx="18460" cy="6650"/>
              </a:xfrm>
              <a:custGeom>
                <a:avLst/>
                <a:gdLst>
                  <a:gd name="T0" fmla="*/ 40 w 40"/>
                  <a:gd name="T1" fmla="*/ 0 h 15"/>
                  <a:gd name="T2" fmla="*/ 0 w 40"/>
                  <a:gd name="T3" fmla="*/ 15 h 15"/>
                  <a:gd name="T4" fmla="*/ 0 w 40"/>
                  <a:gd name="T5" fmla="*/ 15 h 15"/>
                  <a:gd name="T6" fmla="*/ 40 w 40"/>
                  <a:gd name="T7" fmla="*/ 0 h 15"/>
                  <a:gd name="T8" fmla="*/ 40 w 40"/>
                  <a:gd name="T9" fmla="*/ 0 h 15"/>
                </a:gdLst>
                <a:ahLst/>
                <a:cxnLst>
                  <a:cxn ang="0">
                    <a:pos x="T0" y="T1"/>
                  </a:cxn>
                  <a:cxn ang="0">
                    <a:pos x="T2" y="T3"/>
                  </a:cxn>
                  <a:cxn ang="0">
                    <a:pos x="T4" y="T5"/>
                  </a:cxn>
                  <a:cxn ang="0">
                    <a:pos x="T6" y="T7"/>
                  </a:cxn>
                  <a:cxn ang="0">
                    <a:pos x="T8" y="T9"/>
                  </a:cxn>
                </a:cxnLst>
                <a:rect l="0" t="0" r="r" b="b"/>
                <a:pathLst>
                  <a:path w="40" h="15">
                    <a:moveTo>
                      <a:pt x="40" y="0"/>
                    </a:moveTo>
                    <a:cubicBezTo>
                      <a:pt x="27" y="9"/>
                      <a:pt x="13" y="15"/>
                      <a:pt x="0" y="15"/>
                    </a:cubicBezTo>
                    <a:cubicBezTo>
                      <a:pt x="0" y="15"/>
                      <a:pt x="0" y="15"/>
                      <a:pt x="0" y="15"/>
                    </a:cubicBezTo>
                    <a:cubicBezTo>
                      <a:pt x="13" y="15"/>
                      <a:pt x="27" y="9"/>
                      <a:pt x="40" y="0"/>
                    </a:cubicBezTo>
                    <a:cubicBezTo>
                      <a:pt x="40" y="0"/>
                      <a:pt x="40" y="0"/>
                      <a:pt x="40" y="0"/>
                    </a:cubicBezTo>
                  </a:path>
                </a:pathLst>
              </a:custGeom>
              <a:solidFill>
                <a:srgbClr val="E789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2" name="Freeform 63">
                <a:extLst>
                  <a:ext uri="{FF2B5EF4-FFF2-40B4-BE49-F238E27FC236}">
                    <a16:creationId xmlns:a16="http://schemas.microsoft.com/office/drawing/2014/main" id="{F6C38C5B-2D89-0F1B-FD7F-99F2EBCA0C02}"/>
                  </a:ext>
                </a:extLst>
              </p:cNvPr>
              <p:cNvSpPr>
                <a:spLocks/>
              </p:cNvSpPr>
              <p:nvPr/>
            </p:nvSpPr>
            <p:spPr bwMode="auto">
              <a:xfrm>
                <a:off x="2837726" y="1347242"/>
                <a:ext cx="61277" cy="135453"/>
              </a:xfrm>
              <a:custGeom>
                <a:avLst/>
                <a:gdLst>
                  <a:gd name="T0" fmla="*/ 20 w 132"/>
                  <a:gd name="T1" fmla="*/ 0 h 304"/>
                  <a:gd name="T2" fmla="*/ 20 w 132"/>
                  <a:gd name="T3" fmla="*/ 162 h 304"/>
                  <a:gd name="T4" fmla="*/ 0 w 132"/>
                  <a:gd name="T5" fmla="*/ 226 h 304"/>
                  <a:gd name="T6" fmla="*/ 20 w 132"/>
                  <a:gd name="T7" fmla="*/ 230 h 304"/>
                  <a:gd name="T8" fmla="*/ 20 w 132"/>
                  <a:gd name="T9" fmla="*/ 304 h 304"/>
                  <a:gd name="T10" fmla="*/ 60 w 132"/>
                  <a:gd name="T11" fmla="*/ 289 h 304"/>
                  <a:gd name="T12" fmla="*/ 60 w 132"/>
                  <a:gd name="T13" fmla="*/ 289 h 304"/>
                  <a:gd name="T14" fmla="*/ 111 w 132"/>
                  <a:gd name="T15" fmla="*/ 214 h 304"/>
                  <a:gd name="T16" fmla="*/ 112 w 132"/>
                  <a:gd name="T17" fmla="*/ 202 h 304"/>
                  <a:gd name="T18" fmla="*/ 132 w 132"/>
                  <a:gd name="T19" fmla="*/ 182 h 304"/>
                  <a:gd name="T20" fmla="*/ 132 w 132"/>
                  <a:gd name="T21" fmla="*/ 161 h 304"/>
                  <a:gd name="T22" fmla="*/ 112 w 132"/>
                  <a:gd name="T23" fmla="*/ 141 h 304"/>
                  <a:gd name="T24" fmla="*/ 112 w 132"/>
                  <a:gd name="T25" fmla="*/ 100 h 304"/>
                  <a:gd name="T26" fmla="*/ 20 w 132"/>
                  <a:gd name="T27"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304">
                    <a:moveTo>
                      <a:pt x="20" y="0"/>
                    </a:moveTo>
                    <a:cubicBezTo>
                      <a:pt x="20" y="162"/>
                      <a:pt x="20" y="162"/>
                      <a:pt x="20" y="162"/>
                    </a:cubicBezTo>
                    <a:cubicBezTo>
                      <a:pt x="5" y="193"/>
                      <a:pt x="0" y="226"/>
                      <a:pt x="0" y="226"/>
                    </a:cubicBezTo>
                    <a:cubicBezTo>
                      <a:pt x="20" y="230"/>
                      <a:pt x="20" y="230"/>
                      <a:pt x="20" y="230"/>
                    </a:cubicBezTo>
                    <a:cubicBezTo>
                      <a:pt x="20" y="304"/>
                      <a:pt x="20" y="304"/>
                      <a:pt x="20" y="304"/>
                    </a:cubicBezTo>
                    <a:cubicBezTo>
                      <a:pt x="33" y="304"/>
                      <a:pt x="47" y="298"/>
                      <a:pt x="60" y="289"/>
                    </a:cubicBezTo>
                    <a:cubicBezTo>
                      <a:pt x="60" y="289"/>
                      <a:pt x="60" y="289"/>
                      <a:pt x="60" y="289"/>
                    </a:cubicBezTo>
                    <a:cubicBezTo>
                      <a:pt x="84" y="271"/>
                      <a:pt x="106" y="242"/>
                      <a:pt x="111" y="214"/>
                    </a:cubicBezTo>
                    <a:cubicBezTo>
                      <a:pt x="112" y="210"/>
                      <a:pt x="112" y="206"/>
                      <a:pt x="112" y="202"/>
                    </a:cubicBezTo>
                    <a:cubicBezTo>
                      <a:pt x="123" y="202"/>
                      <a:pt x="132" y="193"/>
                      <a:pt x="132" y="182"/>
                    </a:cubicBezTo>
                    <a:cubicBezTo>
                      <a:pt x="132" y="161"/>
                      <a:pt x="132" y="161"/>
                      <a:pt x="132" y="161"/>
                    </a:cubicBezTo>
                    <a:cubicBezTo>
                      <a:pt x="132" y="150"/>
                      <a:pt x="123" y="141"/>
                      <a:pt x="112" y="141"/>
                    </a:cubicBezTo>
                    <a:cubicBezTo>
                      <a:pt x="112" y="100"/>
                      <a:pt x="112" y="100"/>
                      <a:pt x="112" y="100"/>
                    </a:cubicBezTo>
                    <a:cubicBezTo>
                      <a:pt x="112" y="55"/>
                      <a:pt x="61" y="0"/>
                      <a:pt x="20" y="0"/>
                    </a:cubicBezTo>
                  </a:path>
                </a:pathLst>
              </a:custGeom>
              <a:solidFill>
                <a:srgbClr val="EFAB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3" name="Freeform 64">
                <a:extLst>
                  <a:ext uri="{FF2B5EF4-FFF2-40B4-BE49-F238E27FC236}">
                    <a16:creationId xmlns:a16="http://schemas.microsoft.com/office/drawing/2014/main" id="{E5746935-5058-2D96-1BAC-4010F44E89B8}"/>
                  </a:ext>
                </a:extLst>
              </p:cNvPr>
              <p:cNvSpPr>
                <a:spLocks/>
              </p:cNvSpPr>
              <p:nvPr/>
            </p:nvSpPr>
            <p:spPr bwMode="auto">
              <a:xfrm>
                <a:off x="2786448" y="1336406"/>
                <a:ext cx="120760" cy="77578"/>
              </a:xfrm>
              <a:custGeom>
                <a:avLst/>
                <a:gdLst>
                  <a:gd name="T0" fmla="*/ 183 w 260"/>
                  <a:gd name="T1" fmla="*/ 129 h 174"/>
                  <a:gd name="T2" fmla="*/ 201 w 260"/>
                  <a:gd name="T3" fmla="*/ 159 h 174"/>
                  <a:gd name="T4" fmla="*/ 134 w 260"/>
                  <a:gd name="T5" fmla="*/ 117 h 174"/>
                  <a:gd name="T6" fmla="*/ 151 w 260"/>
                  <a:gd name="T7" fmla="*/ 147 h 174"/>
                  <a:gd name="T8" fmla="*/ 130 w 260"/>
                  <a:gd name="T9" fmla="*/ 135 h 174"/>
                  <a:gd name="T10" fmla="*/ 91 w 260"/>
                  <a:gd name="T11" fmla="*/ 96 h 174"/>
                  <a:gd name="T12" fmla="*/ 30 w 260"/>
                  <a:gd name="T13" fmla="*/ 174 h 174"/>
                  <a:gd name="T14" fmla="*/ 130 w 260"/>
                  <a:gd name="T15" fmla="*/ 0 h 174"/>
                  <a:gd name="T16" fmla="*/ 230 w 260"/>
                  <a:gd name="T17" fmla="*/ 174 h 174"/>
                  <a:gd name="T18" fmla="*/ 183 w 260"/>
                  <a:gd name="T19" fmla="*/ 12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0" h="174">
                    <a:moveTo>
                      <a:pt x="183" y="129"/>
                    </a:moveTo>
                    <a:cubicBezTo>
                      <a:pt x="186" y="138"/>
                      <a:pt x="192" y="151"/>
                      <a:pt x="201" y="159"/>
                    </a:cubicBezTo>
                    <a:cubicBezTo>
                      <a:pt x="174" y="152"/>
                      <a:pt x="150" y="136"/>
                      <a:pt x="134" y="117"/>
                    </a:cubicBezTo>
                    <a:cubicBezTo>
                      <a:pt x="135" y="127"/>
                      <a:pt x="142" y="138"/>
                      <a:pt x="151" y="147"/>
                    </a:cubicBezTo>
                    <a:cubicBezTo>
                      <a:pt x="144" y="144"/>
                      <a:pt x="137" y="140"/>
                      <a:pt x="130" y="135"/>
                    </a:cubicBezTo>
                    <a:cubicBezTo>
                      <a:pt x="115" y="124"/>
                      <a:pt x="101" y="110"/>
                      <a:pt x="91" y="96"/>
                    </a:cubicBezTo>
                    <a:cubicBezTo>
                      <a:pt x="75" y="128"/>
                      <a:pt x="50" y="173"/>
                      <a:pt x="30" y="174"/>
                    </a:cubicBezTo>
                    <a:cubicBezTo>
                      <a:pt x="3" y="119"/>
                      <a:pt x="0" y="0"/>
                      <a:pt x="130" y="0"/>
                    </a:cubicBezTo>
                    <a:cubicBezTo>
                      <a:pt x="260" y="0"/>
                      <a:pt x="240" y="135"/>
                      <a:pt x="230" y="174"/>
                    </a:cubicBezTo>
                    <a:cubicBezTo>
                      <a:pt x="207" y="156"/>
                      <a:pt x="190" y="138"/>
                      <a:pt x="183" y="129"/>
                    </a:cubicBezTo>
                    <a:close/>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4" name="Rectángulo 271">
                <a:extLst>
                  <a:ext uri="{FF2B5EF4-FFF2-40B4-BE49-F238E27FC236}">
                    <a16:creationId xmlns:a16="http://schemas.microsoft.com/office/drawing/2014/main" id="{79657BAB-89AA-DF33-0A86-7243E7FB34B0}"/>
                  </a:ext>
                </a:extLst>
              </p:cNvPr>
              <p:cNvSpPr/>
              <p:nvPr/>
            </p:nvSpPr>
            <p:spPr>
              <a:xfrm>
                <a:off x="2636740" y="1592426"/>
                <a:ext cx="420431" cy="97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s-ES" sz="1200" dirty="0">
                  <a:solidFill>
                    <a:prstClr val="black"/>
                  </a:solidFill>
                  <a:latin typeface="Arial" panose="020B0604020202020204" pitchFamily="34" charset="0"/>
                  <a:cs typeface="Arial" panose="020B0604020202020204" pitchFamily="34" charset="0"/>
                </a:endParaRPr>
              </a:p>
            </p:txBody>
          </p:sp>
          <p:sp>
            <p:nvSpPr>
              <p:cNvPr id="35" name="Forma libre 717">
                <a:extLst>
                  <a:ext uri="{FF2B5EF4-FFF2-40B4-BE49-F238E27FC236}">
                    <a16:creationId xmlns:a16="http://schemas.microsoft.com/office/drawing/2014/main" id="{009CE766-418E-1CAF-A75B-C0D8B07F762D}"/>
                  </a:ext>
                </a:extLst>
              </p:cNvPr>
              <p:cNvSpPr>
                <a:spLocks/>
              </p:cNvSpPr>
              <p:nvPr/>
            </p:nvSpPr>
            <p:spPr bwMode="auto">
              <a:xfrm>
                <a:off x="2843775" y="1379618"/>
                <a:ext cx="81623" cy="100368"/>
              </a:xfrm>
              <a:custGeom>
                <a:avLst/>
                <a:gdLst>
                  <a:gd name="connsiteX0" fmla="*/ 326430 w 514112"/>
                  <a:gd name="connsiteY0" fmla="*/ 0 h 658129"/>
                  <a:gd name="connsiteX1" fmla="*/ 422781 w 514112"/>
                  <a:gd name="connsiteY1" fmla="*/ 0 h 658129"/>
                  <a:gd name="connsiteX2" fmla="*/ 453111 w 514112"/>
                  <a:gd name="connsiteY2" fmla="*/ 5180 h 658129"/>
                  <a:gd name="connsiteX3" fmla="*/ 514112 w 514112"/>
                  <a:gd name="connsiteY3" fmla="*/ 95855 h 658129"/>
                  <a:gd name="connsiteX4" fmla="*/ 514112 w 514112"/>
                  <a:gd name="connsiteY4" fmla="*/ 170347 h 658129"/>
                  <a:gd name="connsiteX5" fmla="*/ 514112 w 514112"/>
                  <a:gd name="connsiteY5" fmla="*/ 201426 h 658129"/>
                  <a:gd name="connsiteX6" fmla="*/ 514111 w 514112"/>
                  <a:gd name="connsiteY6" fmla="*/ 201426 h 658129"/>
                  <a:gd name="connsiteX7" fmla="*/ 514111 w 514112"/>
                  <a:gd name="connsiteY7" fmla="*/ 214976 h 658129"/>
                  <a:gd name="connsiteX8" fmla="*/ 514111 w 514112"/>
                  <a:gd name="connsiteY8" fmla="*/ 319607 h 658129"/>
                  <a:gd name="connsiteX9" fmla="*/ 417715 w 514112"/>
                  <a:gd name="connsiteY9" fmla="*/ 416327 h 658129"/>
                  <a:gd name="connsiteX10" fmla="*/ 401649 w 514112"/>
                  <a:gd name="connsiteY10" fmla="*/ 416327 h 658129"/>
                  <a:gd name="connsiteX11" fmla="*/ 144594 w 514112"/>
                  <a:gd name="connsiteY11" fmla="*/ 642009 h 658129"/>
                  <a:gd name="connsiteX12" fmla="*/ 112462 w 514112"/>
                  <a:gd name="connsiteY12" fmla="*/ 658129 h 658129"/>
                  <a:gd name="connsiteX13" fmla="*/ 48198 w 514112"/>
                  <a:gd name="connsiteY13" fmla="*/ 658129 h 658129"/>
                  <a:gd name="connsiteX14" fmla="*/ 0 w 514112"/>
                  <a:gd name="connsiteY14" fmla="*/ 609769 h 658129"/>
                  <a:gd name="connsiteX15" fmla="*/ 48198 w 514112"/>
                  <a:gd name="connsiteY15" fmla="*/ 577529 h 658129"/>
                  <a:gd name="connsiteX16" fmla="*/ 112462 w 514112"/>
                  <a:gd name="connsiteY16" fmla="*/ 577529 h 658129"/>
                  <a:gd name="connsiteX17" fmla="*/ 144594 w 514112"/>
                  <a:gd name="connsiteY17" fmla="*/ 577529 h 658129"/>
                  <a:gd name="connsiteX18" fmla="*/ 337385 w 514112"/>
                  <a:gd name="connsiteY18" fmla="*/ 448568 h 658129"/>
                  <a:gd name="connsiteX19" fmla="*/ 337385 w 514112"/>
                  <a:gd name="connsiteY19" fmla="*/ 416327 h 658129"/>
                  <a:gd name="connsiteX20" fmla="*/ 321319 w 514112"/>
                  <a:gd name="connsiteY20" fmla="*/ 319607 h 658129"/>
                  <a:gd name="connsiteX21" fmla="*/ 321319 w 514112"/>
                  <a:gd name="connsiteY21" fmla="*/ 174526 h 658129"/>
                  <a:gd name="connsiteX22" fmla="*/ 321319 w 514112"/>
                  <a:gd name="connsiteY22" fmla="*/ 156391 h 658129"/>
                  <a:gd name="connsiteX23" fmla="*/ 321319 w 514112"/>
                  <a:gd name="connsiteY23" fmla="*/ 145442 h 658129"/>
                  <a:gd name="connsiteX24" fmla="*/ 321320 w 514112"/>
                  <a:gd name="connsiteY24" fmla="*/ 145442 h 658129"/>
                  <a:gd name="connsiteX25" fmla="*/ 321320 w 514112"/>
                  <a:gd name="connsiteY25" fmla="*/ 136858 h 658129"/>
                  <a:gd name="connsiteX26" fmla="*/ 321320 w 514112"/>
                  <a:gd name="connsiteY26" fmla="*/ 95855 h 658129"/>
                  <a:gd name="connsiteX27" fmla="*/ 318245 w 514112"/>
                  <a:gd name="connsiteY27" fmla="*/ 646 h 65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4112" h="658129">
                    <a:moveTo>
                      <a:pt x="326430" y="0"/>
                    </a:moveTo>
                    <a:lnTo>
                      <a:pt x="422781" y="0"/>
                    </a:lnTo>
                    <a:lnTo>
                      <a:pt x="453111" y="5180"/>
                    </a:lnTo>
                    <a:cubicBezTo>
                      <a:pt x="487001" y="17270"/>
                      <a:pt x="514112" y="47495"/>
                      <a:pt x="514112" y="95855"/>
                    </a:cubicBezTo>
                    <a:cubicBezTo>
                      <a:pt x="514112" y="124065"/>
                      <a:pt x="514112" y="148749"/>
                      <a:pt x="514112" y="170347"/>
                    </a:cubicBezTo>
                    <a:lnTo>
                      <a:pt x="514112" y="201426"/>
                    </a:lnTo>
                    <a:lnTo>
                      <a:pt x="514111" y="201426"/>
                    </a:lnTo>
                    <a:lnTo>
                      <a:pt x="514111" y="214976"/>
                    </a:lnTo>
                    <a:cubicBezTo>
                      <a:pt x="514111" y="242911"/>
                      <a:pt x="514111" y="277292"/>
                      <a:pt x="514111" y="319607"/>
                    </a:cubicBezTo>
                    <a:cubicBezTo>
                      <a:pt x="514111" y="384087"/>
                      <a:pt x="465913" y="416327"/>
                      <a:pt x="417715" y="416327"/>
                    </a:cubicBezTo>
                    <a:cubicBezTo>
                      <a:pt x="417715" y="416327"/>
                      <a:pt x="417715" y="416327"/>
                      <a:pt x="401649" y="416327"/>
                    </a:cubicBezTo>
                    <a:cubicBezTo>
                      <a:pt x="385583" y="513048"/>
                      <a:pt x="321319" y="625889"/>
                      <a:pt x="144594" y="642009"/>
                    </a:cubicBezTo>
                    <a:cubicBezTo>
                      <a:pt x="128528" y="658129"/>
                      <a:pt x="128528" y="658129"/>
                      <a:pt x="112462" y="658129"/>
                    </a:cubicBezTo>
                    <a:cubicBezTo>
                      <a:pt x="112462" y="658129"/>
                      <a:pt x="112462" y="658129"/>
                      <a:pt x="48198" y="658129"/>
                    </a:cubicBezTo>
                    <a:cubicBezTo>
                      <a:pt x="32132" y="658129"/>
                      <a:pt x="0" y="625889"/>
                      <a:pt x="0" y="609769"/>
                    </a:cubicBezTo>
                    <a:cubicBezTo>
                      <a:pt x="0" y="593649"/>
                      <a:pt x="32132" y="577529"/>
                      <a:pt x="48198" y="577529"/>
                    </a:cubicBezTo>
                    <a:cubicBezTo>
                      <a:pt x="48198" y="577529"/>
                      <a:pt x="48198" y="577529"/>
                      <a:pt x="112462" y="577529"/>
                    </a:cubicBezTo>
                    <a:cubicBezTo>
                      <a:pt x="128528" y="577529"/>
                      <a:pt x="144594" y="577529"/>
                      <a:pt x="144594" y="577529"/>
                    </a:cubicBezTo>
                    <a:cubicBezTo>
                      <a:pt x="257056" y="577529"/>
                      <a:pt x="305253" y="496928"/>
                      <a:pt x="337385" y="448568"/>
                    </a:cubicBezTo>
                    <a:cubicBezTo>
                      <a:pt x="337385" y="432448"/>
                      <a:pt x="337385" y="432448"/>
                      <a:pt x="337385" y="416327"/>
                    </a:cubicBezTo>
                    <a:cubicBezTo>
                      <a:pt x="273122" y="416327"/>
                      <a:pt x="321319" y="384087"/>
                      <a:pt x="321319" y="319607"/>
                    </a:cubicBezTo>
                    <a:cubicBezTo>
                      <a:pt x="321319" y="319607"/>
                      <a:pt x="321319" y="319607"/>
                      <a:pt x="321319" y="174526"/>
                    </a:cubicBezTo>
                    <a:cubicBezTo>
                      <a:pt x="321319" y="166466"/>
                      <a:pt x="321319" y="162436"/>
                      <a:pt x="321319" y="156391"/>
                    </a:cubicBezTo>
                    <a:lnTo>
                      <a:pt x="321319" y="145442"/>
                    </a:lnTo>
                    <a:lnTo>
                      <a:pt x="321320" y="145442"/>
                    </a:lnTo>
                    <a:lnTo>
                      <a:pt x="321320" y="136858"/>
                    </a:lnTo>
                    <a:cubicBezTo>
                      <a:pt x="321320" y="95855"/>
                      <a:pt x="321320" y="95855"/>
                      <a:pt x="321320" y="95855"/>
                    </a:cubicBezTo>
                    <a:cubicBezTo>
                      <a:pt x="321320" y="39435"/>
                      <a:pt x="284419" y="7699"/>
                      <a:pt x="318245" y="646"/>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36" name="Forma libre 718">
                <a:extLst>
                  <a:ext uri="{FF2B5EF4-FFF2-40B4-BE49-F238E27FC236}">
                    <a16:creationId xmlns:a16="http://schemas.microsoft.com/office/drawing/2014/main" id="{A96CCF8F-D349-D574-E096-3AFB3129E469}"/>
                  </a:ext>
                </a:extLst>
              </p:cNvPr>
              <p:cNvSpPr>
                <a:spLocks/>
              </p:cNvSpPr>
              <p:nvPr/>
            </p:nvSpPr>
            <p:spPr bwMode="auto">
              <a:xfrm flipH="1">
                <a:off x="2771069" y="1379618"/>
                <a:ext cx="33364" cy="63004"/>
              </a:xfrm>
              <a:custGeom>
                <a:avLst/>
                <a:gdLst>
                  <a:gd name="connsiteX0" fmla="*/ 118813 w 210144"/>
                  <a:gd name="connsiteY0" fmla="*/ 0 h 413127"/>
                  <a:gd name="connsiteX1" fmla="*/ 22462 w 210144"/>
                  <a:gd name="connsiteY1" fmla="*/ 0 h 413127"/>
                  <a:gd name="connsiteX2" fmla="*/ 14277 w 210144"/>
                  <a:gd name="connsiteY2" fmla="*/ 646 h 413127"/>
                  <a:gd name="connsiteX3" fmla="*/ 17352 w 210144"/>
                  <a:gd name="connsiteY3" fmla="*/ 95855 h 413127"/>
                  <a:gd name="connsiteX4" fmla="*/ 17352 w 210144"/>
                  <a:gd name="connsiteY4" fmla="*/ 136858 h 413127"/>
                  <a:gd name="connsiteX5" fmla="*/ 17352 w 210144"/>
                  <a:gd name="connsiteY5" fmla="*/ 145442 h 413127"/>
                  <a:gd name="connsiteX6" fmla="*/ 17351 w 210144"/>
                  <a:gd name="connsiteY6" fmla="*/ 145442 h 413127"/>
                  <a:gd name="connsiteX7" fmla="*/ 17351 w 210144"/>
                  <a:gd name="connsiteY7" fmla="*/ 156391 h 413127"/>
                  <a:gd name="connsiteX8" fmla="*/ 17351 w 210144"/>
                  <a:gd name="connsiteY8" fmla="*/ 174526 h 413127"/>
                  <a:gd name="connsiteX9" fmla="*/ 17351 w 210144"/>
                  <a:gd name="connsiteY9" fmla="*/ 319607 h 413127"/>
                  <a:gd name="connsiteX10" fmla="*/ 3796 w 210144"/>
                  <a:gd name="connsiteY10" fmla="*/ 410282 h 413127"/>
                  <a:gd name="connsiteX11" fmla="*/ 10372 w 210144"/>
                  <a:gd name="connsiteY11" fmla="*/ 413127 h 413127"/>
                  <a:gd name="connsiteX12" fmla="*/ 132484 w 210144"/>
                  <a:gd name="connsiteY12" fmla="*/ 413127 h 413127"/>
                  <a:gd name="connsiteX13" fmla="*/ 149142 w 210144"/>
                  <a:gd name="connsiteY13" fmla="*/ 410282 h 413127"/>
                  <a:gd name="connsiteX14" fmla="*/ 210143 w 210144"/>
                  <a:gd name="connsiteY14" fmla="*/ 319607 h 413127"/>
                  <a:gd name="connsiteX15" fmla="*/ 210143 w 210144"/>
                  <a:gd name="connsiteY15" fmla="*/ 214976 h 413127"/>
                  <a:gd name="connsiteX16" fmla="*/ 210143 w 210144"/>
                  <a:gd name="connsiteY16" fmla="*/ 201426 h 413127"/>
                  <a:gd name="connsiteX17" fmla="*/ 210144 w 210144"/>
                  <a:gd name="connsiteY17" fmla="*/ 201426 h 413127"/>
                  <a:gd name="connsiteX18" fmla="*/ 210144 w 210144"/>
                  <a:gd name="connsiteY18" fmla="*/ 170347 h 413127"/>
                  <a:gd name="connsiteX19" fmla="*/ 210144 w 210144"/>
                  <a:gd name="connsiteY19" fmla="*/ 95855 h 413127"/>
                  <a:gd name="connsiteX20" fmla="*/ 149143 w 210144"/>
                  <a:gd name="connsiteY20" fmla="*/ 5180 h 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0144" h="413127">
                    <a:moveTo>
                      <a:pt x="118813" y="0"/>
                    </a:moveTo>
                    <a:lnTo>
                      <a:pt x="22462" y="0"/>
                    </a:lnTo>
                    <a:lnTo>
                      <a:pt x="14277" y="646"/>
                    </a:lnTo>
                    <a:cubicBezTo>
                      <a:pt x="-19549" y="7699"/>
                      <a:pt x="17352" y="39435"/>
                      <a:pt x="17352" y="95855"/>
                    </a:cubicBezTo>
                    <a:cubicBezTo>
                      <a:pt x="17352" y="95855"/>
                      <a:pt x="17352" y="95855"/>
                      <a:pt x="17352" y="136858"/>
                    </a:cubicBezTo>
                    <a:lnTo>
                      <a:pt x="17352" y="145442"/>
                    </a:lnTo>
                    <a:lnTo>
                      <a:pt x="17351" y="145442"/>
                    </a:lnTo>
                    <a:lnTo>
                      <a:pt x="17351" y="156391"/>
                    </a:lnTo>
                    <a:cubicBezTo>
                      <a:pt x="17351" y="162436"/>
                      <a:pt x="17351" y="166466"/>
                      <a:pt x="17351" y="174526"/>
                    </a:cubicBezTo>
                    <a:cubicBezTo>
                      <a:pt x="17351" y="319607"/>
                      <a:pt x="17351" y="319607"/>
                      <a:pt x="17351" y="319607"/>
                    </a:cubicBezTo>
                    <a:cubicBezTo>
                      <a:pt x="17351" y="367967"/>
                      <a:pt x="-9760" y="398192"/>
                      <a:pt x="3796" y="410282"/>
                    </a:cubicBezTo>
                    <a:lnTo>
                      <a:pt x="10372" y="413127"/>
                    </a:lnTo>
                    <a:lnTo>
                      <a:pt x="132484" y="413127"/>
                    </a:lnTo>
                    <a:lnTo>
                      <a:pt x="149142" y="410282"/>
                    </a:lnTo>
                    <a:cubicBezTo>
                      <a:pt x="183032" y="398192"/>
                      <a:pt x="210143" y="367967"/>
                      <a:pt x="210143" y="319607"/>
                    </a:cubicBezTo>
                    <a:cubicBezTo>
                      <a:pt x="210143" y="277292"/>
                      <a:pt x="210143" y="242911"/>
                      <a:pt x="210143" y="214976"/>
                    </a:cubicBezTo>
                    <a:lnTo>
                      <a:pt x="210143" y="201426"/>
                    </a:lnTo>
                    <a:lnTo>
                      <a:pt x="210144" y="201426"/>
                    </a:lnTo>
                    <a:lnTo>
                      <a:pt x="210144" y="170347"/>
                    </a:lnTo>
                    <a:cubicBezTo>
                      <a:pt x="210144" y="148749"/>
                      <a:pt x="210144" y="124065"/>
                      <a:pt x="210144" y="95855"/>
                    </a:cubicBezTo>
                    <a:cubicBezTo>
                      <a:pt x="210144" y="47495"/>
                      <a:pt x="183033" y="17270"/>
                      <a:pt x="149143" y="5180"/>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37" name="Forma libre 719">
                <a:extLst>
                  <a:ext uri="{FF2B5EF4-FFF2-40B4-BE49-F238E27FC236}">
                    <a16:creationId xmlns:a16="http://schemas.microsoft.com/office/drawing/2014/main" id="{B304A56E-B2E2-4006-07AB-961437967AEE}"/>
                  </a:ext>
                </a:extLst>
              </p:cNvPr>
              <p:cNvSpPr>
                <a:spLocks/>
              </p:cNvSpPr>
              <p:nvPr/>
            </p:nvSpPr>
            <p:spPr bwMode="auto">
              <a:xfrm>
                <a:off x="2865416" y="1493778"/>
                <a:ext cx="66763" cy="123587"/>
              </a:xfrm>
              <a:custGeom>
                <a:avLst/>
                <a:gdLst>
                  <a:gd name="connsiteX0" fmla="*/ 0 w 413379"/>
                  <a:gd name="connsiteY0" fmla="*/ 0 h 796638"/>
                  <a:gd name="connsiteX1" fmla="*/ 14397 w 413379"/>
                  <a:gd name="connsiteY1" fmla="*/ 5758 h 796638"/>
                  <a:gd name="connsiteX2" fmla="*/ 282181 w 413379"/>
                  <a:gd name="connsiteY2" fmla="*/ 86362 h 796638"/>
                  <a:gd name="connsiteX3" fmla="*/ 405995 w 413379"/>
                  <a:gd name="connsiteY3" fmla="*/ 420297 h 796638"/>
                  <a:gd name="connsiteX4" fmla="*/ 405995 w 413379"/>
                  <a:gd name="connsiteY4" fmla="*/ 426054 h 796638"/>
                  <a:gd name="connsiteX5" fmla="*/ 411754 w 413379"/>
                  <a:gd name="connsiteY5" fmla="*/ 594820 h 796638"/>
                  <a:gd name="connsiteX6" fmla="*/ 413379 w 413379"/>
                  <a:gd name="connsiteY6" fmla="*/ 657504 h 796638"/>
                  <a:gd name="connsiteX7" fmla="*/ 379066 w 413379"/>
                  <a:gd name="connsiteY7" fmla="*/ 678350 h 796638"/>
                  <a:gd name="connsiteX8" fmla="*/ 94299 w 413379"/>
                  <a:gd name="connsiteY8" fmla="*/ 782247 h 796638"/>
                  <a:gd name="connsiteX9" fmla="*/ 0 w 413379"/>
                  <a:gd name="connsiteY9" fmla="*/ 796638 h 796638"/>
                  <a:gd name="connsiteX10" fmla="*/ 0 w 413379"/>
                  <a:gd name="connsiteY10" fmla="*/ 774753 h 796638"/>
                  <a:gd name="connsiteX11" fmla="*/ 0 w 413379"/>
                  <a:gd name="connsiteY11" fmla="*/ 5758 h 796638"/>
                  <a:gd name="connsiteX12" fmla="*/ 0 w 413379"/>
                  <a:gd name="connsiteY12" fmla="*/ 0 h 79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3379" h="796638">
                    <a:moveTo>
                      <a:pt x="0" y="0"/>
                    </a:moveTo>
                    <a:cubicBezTo>
                      <a:pt x="5759" y="2879"/>
                      <a:pt x="8638" y="2879"/>
                      <a:pt x="14397" y="5758"/>
                    </a:cubicBezTo>
                    <a:cubicBezTo>
                      <a:pt x="95020" y="5758"/>
                      <a:pt x="204437" y="11515"/>
                      <a:pt x="282181" y="86362"/>
                    </a:cubicBezTo>
                    <a:cubicBezTo>
                      <a:pt x="377201" y="178482"/>
                      <a:pt x="394478" y="313783"/>
                      <a:pt x="405995" y="420297"/>
                    </a:cubicBezTo>
                    <a:cubicBezTo>
                      <a:pt x="405995" y="420297"/>
                      <a:pt x="405995" y="420297"/>
                      <a:pt x="405995" y="426054"/>
                    </a:cubicBezTo>
                    <a:cubicBezTo>
                      <a:pt x="407435" y="443327"/>
                      <a:pt x="409595" y="514575"/>
                      <a:pt x="411754" y="594820"/>
                    </a:cubicBezTo>
                    <a:lnTo>
                      <a:pt x="413379" y="657504"/>
                    </a:lnTo>
                    <a:lnTo>
                      <a:pt x="379066" y="678350"/>
                    </a:lnTo>
                    <a:cubicBezTo>
                      <a:pt x="291070" y="726152"/>
                      <a:pt x="195367" y="761565"/>
                      <a:pt x="94299" y="782247"/>
                    </a:cubicBezTo>
                    <a:lnTo>
                      <a:pt x="0" y="796638"/>
                    </a:lnTo>
                    <a:lnTo>
                      <a:pt x="0" y="774753"/>
                    </a:lnTo>
                    <a:cubicBezTo>
                      <a:pt x="0" y="703403"/>
                      <a:pt x="0" y="513136"/>
                      <a:pt x="0" y="5758"/>
                    </a:cubicBezTo>
                    <a:cubicBezTo>
                      <a:pt x="0" y="5758"/>
                      <a:pt x="0" y="5758"/>
                      <a:pt x="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grpSp>
        <p:sp>
          <p:nvSpPr>
            <p:cNvPr id="18" name="Text Box 53">
              <a:extLst>
                <a:ext uri="{FF2B5EF4-FFF2-40B4-BE49-F238E27FC236}">
                  <a16:creationId xmlns:a16="http://schemas.microsoft.com/office/drawing/2014/main" id="{6B04C54C-037A-8820-B2C0-6DF73875DC3E}"/>
                </a:ext>
              </a:extLst>
            </p:cNvPr>
            <p:cNvSpPr txBox="1">
              <a:spLocks noChangeArrowheads="1"/>
            </p:cNvSpPr>
            <p:nvPr/>
          </p:nvSpPr>
          <p:spPr bwMode="auto">
            <a:xfrm>
              <a:off x="2191304" y="2200199"/>
              <a:ext cx="479696" cy="184666"/>
            </a:xfrm>
            <a:prstGeom prst="rect">
              <a:avLst/>
            </a:prstGeom>
            <a:noFill/>
            <a:ln w="9525">
              <a:noFill/>
              <a:miter lim="800000"/>
              <a:headEnd/>
              <a:tailEnd/>
            </a:ln>
            <a:effectLst>
              <a:prstShdw prst="shdw17" dist="17961" dir="2700000">
                <a:srgbClr val="4A060C"/>
              </a:prstShdw>
            </a:effectLst>
          </p:spPr>
          <p:txBody>
            <a:bodyPr wrap="square" lIns="0" tIns="0" rIns="0" bIns="0">
              <a:spAutoFit/>
            </a:bodyPr>
            <a:lstStyle/>
            <a:p>
              <a:pPr marL="0" marR="0" lvl="0" indent="0" algn="ctr" defTabSz="671513" eaLnBrk="1" fontAlgn="auto" latinLnBrk="0" hangingPunct="1">
                <a:lnSpc>
                  <a:spcPct val="100000"/>
                </a:lnSpc>
                <a:spcBef>
                  <a:spcPct val="50000"/>
                </a:spcBef>
                <a:spcAft>
                  <a:spcPts val="0"/>
                </a:spcAft>
                <a:buClrTx/>
                <a:buSzTx/>
                <a:buFontTx/>
                <a:buNone/>
                <a:tabLst/>
                <a:defRPr/>
              </a:pPr>
              <a:r>
                <a:rPr lang="en-US" sz="600" kern="0" dirty="0">
                  <a:solidFill>
                    <a:srgbClr val="000000"/>
                  </a:solidFill>
                  <a:latin typeface="Santander Text" panose="020B0504020201020104" pitchFamily="34" charset="0"/>
                  <a:cs typeface="Calibri" pitchFamily="34" charset="0"/>
                </a:rPr>
                <a:t>Product Support</a:t>
              </a:r>
              <a:endParaRPr kumimoji="0" lang="en-US" sz="600" b="0" i="0" u="none" strike="noStrike" kern="0" cap="none" spc="0" normalizeH="0" baseline="0" noProof="0" dirty="0">
                <a:ln>
                  <a:noFill/>
                </a:ln>
                <a:solidFill>
                  <a:srgbClr val="000000"/>
                </a:solidFill>
                <a:effectLst/>
                <a:uLnTx/>
                <a:uFillTx/>
                <a:latin typeface="Santander Text" panose="020B0504020201020104" pitchFamily="34" charset="0"/>
                <a:cs typeface="Calibri" pitchFamily="34" charset="0"/>
              </a:endParaRPr>
            </a:p>
          </p:txBody>
        </p:sp>
      </p:grpSp>
      <p:sp>
        <p:nvSpPr>
          <p:cNvPr id="38" name="Rectángulo 1">
            <a:extLst>
              <a:ext uri="{FF2B5EF4-FFF2-40B4-BE49-F238E27FC236}">
                <a16:creationId xmlns:a16="http://schemas.microsoft.com/office/drawing/2014/main" id="{11EA8438-7EBC-45D7-8FED-8C461A8A9509}"/>
              </a:ext>
            </a:extLst>
          </p:cNvPr>
          <p:cNvSpPr/>
          <p:nvPr/>
        </p:nvSpPr>
        <p:spPr>
          <a:xfrm>
            <a:off x="303185" y="1307242"/>
            <a:ext cx="5952427" cy="762671"/>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39" name="Rounded Rectangle 5">
            <a:extLst>
              <a:ext uri="{FF2B5EF4-FFF2-40B4-BE49-F238E27FC236}">
                <a16:creationId xmlns:a16="http://schemas.microsoft.com/office/drawing/2014/main" id="{21D9A35B-B267-A146-8D75-56F8A3B91242}"/>
              </a:ext>
            </a:extLst>
          </p:cNvPr>
          <p:cNvSpPr/>
          <p:nvPr/>
        </p:nvSpPr>
        <p:spPr>
          <a:xfrm>
            <a:off x="4579194" y="1394992"/>
            <a:ext cx="1457436" cy="588613"/>
          </a:xfrm>
          <a:prstGeom prst="roundRect">
            <a:avLst>
              <a:gd name="adj" fmla="val 5587"/>
            </a:avLst>
          </a:prstGeom>
          <a:solidFill>
            <a:srgbClr val="62B96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white"/>
              </a:solidFill>
              <a:effectLst/>
              <a:uLnTx/>
              <a:uFillTx/>
            </a:endParaRPr>
          </a:p>
        </p:txBody>
      </p:sp>
      <p:sp>
        <p:nvSpPr>
          <p:cNvPr id="40" name="Rectángulo redondeado 5">
            <a:extLst>
              <a:ext uri="{FF2B5EF4-FFF2-40B4-BE49-F238E27FC236}">
                <a16:creationId xmlns:a16="http://schemas.microsoft.com/office/drawing/2014/main" id="{D64C19FE-7A13-9632-56D3-D4FBEBFA14DE}"/>
              </a:ext>
            </a:extLst>
          </p:cNvPr>
          <p:cNvSpPr/>
          <p:nvPr/>
        </p:nvSpPr>
        <p:spPr>
          <a:xfrm rot="5400000">
            <a:off x="5095918" y="2335529"/>
            <a:ext cx="2114773" cy="142135"/>
          </a:xfrm>
          <a:prstGeom prst="roundRect">
            <a:avLst/>
          </a:prstGeom>
          <a:solidFill>
            <a:srgbClr val="62B967">
              <a:lumMod val="50000"/>
            </a:srgbClr>
          </a:solidFill>
          <a:ln w="9525" cap="rnd" cmpd="sng" algn="ctr">
            <a:solidFill>
              <a:srgbClr val="2C622F"/>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514350" eaLnBrk="1" fontAlgn="auto" latinLnBrk="0" hangingPunct="1">
              <a:lnSpc>
                <a:spcPct val="90000"/>
              </a:lnSpc>
              <a:spcBef>
                <a:spcPts val="0"/>
              </a:spcBef>
              <a:spcAft>
                <a:spcPts val="563"/>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Santander Text" panose="020B0504020201020104" pitchFamily="34" charset="0"/>
              </a:rPr>
              <a:t>Reporting</a:t>
            </a:r>
          </a:p>
        </p:txBody>
      </p:sp>
      <p:pic>
        <p:nvPicPr>
          <p:cNvPr id="41" name="Picture 2" descr="The DTCC - YouTube">
            <a:extLst>
              <a:ext uri="{FF2B5EF4-FFF2-40B4-BE49-F238E27FC236}">
                <a16:creationId xmlns:a16="http://schemas.microsoft.com/office/drawing/2014/main" id="{9218BD3D-77A3-A59E-25C6-303815CE3D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988" b="31377"/>
          <a:stretch>
            <a:fillRect/>
          </a:stretch>
        </p:blipFill>
        <p:spPr bwMode="auto">
          <a:xfrm>
            <a:off x="4877335" y="1519243"/>
            <a:ext cx="873808" cy="337595"/>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Conector: angular 61">
            <a:extLst>
              <a:ext uri="{FF2B5EF4-FFF2-40B4-BE49-F238E27FC236}">
                <a16:creationId xmlns:a16="http://schemas.microsoft.com/office/drawing/2014/main" id="{B86ABA48-1C97-BD19-B33A-E61848F104DA}"/>
              </a:ext>
            </a:extLst>
          </p:cNvPr>
          <p:cNvCxnSpPr>
            <a:cxnSpLocks/>
            <a:stCxn id="5" idx="0"/>
            <a:endCxn id="41" idx="1"/>
          </p:cNvCxnSpPr>
          <p:nvPr/>
        </p:nvCxnSpPr>
        <p:spPr>
          <a:xfrm rot="5400000" flipH="1" flipV="1">
            <a:off x="3772343" y="1132124"/>
            <a:ext cx="549075" cy="1660910"/>
          </a:xfrm>
          <a:prstGeom prst="bentConnector2">
            <a:avLst/>
          </a:prstGeom>
          <a:noFill/>
          <a:ln w="12700" cap="flat" cmpd="sng" algn="ctr">
            <a:solidFill>
              <a:sysClr val="windowText" lastClr="000000"/>
            </a:solidFill>
            <a:prstDash val="solid"/>
            <a:miter lim="800000"/>
            <a:tailEnd type="triangle"/>
          </a:ln>
          <a:effectLst/>
        </p:spPr>
      </p:cxnSp>
      <p:cxnSp>
        <p:nvCxnSpPr>
          <p:cNvPr id="43" name="Conector: angular 61">
            <a:extLst>
              <a:ext uri="{FF2B5EF4-FFF2-40B4-BE49-F238E27FC236}">
                <a16:creationId xmlns:a16="http://schemas.microsoft.com/office/drawing/2014/main" id="{5405A883-94AB-B1A7-7EA5-EE7BE991484F}"/>
              </a:ext>
            </a:extLst>
          </p:cNvPr>
          <p:cNvCxnSpPr>
            <a:cxnSpLocks/>
            <a:endCxn id="56" idx="3"/>
          </p:cNvCxnSpPr>
          <p:nvPr/>
        </p:nvCxnSpPr>
        <p:spPr>
          <a:xfrm rot="10800000" flipV="1">
            <a:off x="1494763" y="4301411"/>
            <a:ext cx="2283202" cy="318271"/>
          </a:xfrm>
          <a:prstGeom prst="bentConnector3">
            <a:avLst>
              <a:gd name="adj1" fmla="val 56130"/>
            </a:avLst>
          </a:prstGeom>
          <a:noFill/>
          <a:ln w="12700" cap="flat" cmpd="sng" algn="ctr">
            <a:solidFill>
              <a:sysClr val="windowText" lastClr="000000"/>
            </a:solidFill>
            <a:prstDash val="solid"/>
            <a:miter lim="800000"/>
            <a:tailEnd type="triangle"/>
          </a:ln>
          <a:effectLst/>
        </p:spPr>
      </p:cxnSp>
      <p:sp>
        <p:nvSpPr>
          <p:cNvPr id="44" name="Elipse 43">
            <a:extLst>
              <a:ext uri="{FF2B5EF4-FFF2-40B4-BE49-F238E27FC236}">
                <a16:creationId xmlns:a16="http://schemas.microsoft.com/office/drawing/2014/main" id="{C53E9EBA-5315-9D8D-EC82-889ECFF56F3C}"/>
              </a:ext>
            </a:extLst>
          </p:cNvPr>
          <p:cNvSpPr/>
          <p:nvPr/>
        </p:nvSpPr>
        <p:spPr>
          <a:xfrm>
            <a:off x="4399194" y="2606584"/>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1</a:t>
            </a:r>
          </a:p>
        </p:txBody>
      </p:sp>
      <p:sp>
        <p:nvSpPr>
          <p:cNvPr id="45" name="Elipse 44">
            <a:extLst>
              <a:ext uri="{FF2B5EF4-FFF2-40B4-BE49-F238E27FC236}">
                <a16:creationId xmlns:a16="http://schemas.microsoft.com/office/drawing/2014/main" id="{C92357EB-7E5D-A4E2-4719-DC9C22A54B9B}"/>
              </a:ext>
            </a:extLst>
          </p:cNvPr>
          <p:cNvSpPr/>
          <p:nvPr/>
        </p:nvSpPr>
        <p:spPr>
          <a:xfrm>
            <a:off x="3877784" y="3140669"/>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2</a:t>
            </a:r>
          </a:p>
        </p:txBody>
      </p:sp>
      <p:sp>
        <p:nvSpPr>
          <p:cNvPr id="46" name="Elipse 45">
            <a:extLst>
              <a:ext uri="{FF2B5EF4-FFF2-40B4-BE49-F238E27FC236}">
                <a16:creationId xmlns:a16="http://schemas.microsoft.com/office/drawing/2014/main" id="{4A277EAF-77EE-0B72-D86A-AF2ED4F64860}"/>
              </a:ext>
            </a:extLst>
          </p:cNvPr>
          <p:cNvSpPr/>
          <p:nvPr/>
        </p:nvSpPr>
        <p:spPr>
          <a:xfrm>
            <a:off x="3124041" y="1828949"/>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3</a:t>
            </a:r>
          </a:p>
        </p:txBody>
      </p:sp>
      <p:sp>
        <p:nvSpPr>
          <p:cNvPr id="47" name="Elipse 46">
            <a:extLst>
              <a:ext uri="{FF2B5EF4-FFF2-40B4-BE49-F238E27FC236}">
                <a16:creationId xmlns:a16="http://schemas.microsoft.com/office/drawing/2014/main" id="{B9CB77C2-55E1-B4DD-0D68-E7D2F1EB99D4}"/>
              </a:ext>
            </a:extLst>
          </p:cNvPr>
          <p:cNvSpPr/>
          <p:nvPr/>
        </p:nvSpPr>
        <p:spPr>
          <a:xfrm>
            <a:off x="2431468" y="3540116"/>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4</a:t>
            </a:r>
          </a:p>
        </p:txBody>
      </p:sp>
      <p:sp>
        <p:nvSpPr>
          <p:cNvPr id="48" name="Rectángulo 153">
            <a:extLst>
              <a:ext uri="{FF2B5EF4-FFF2-40B4-BE49-F238E27FC236}">
                <a16:creationId xmlns:a16="http://schemas.microsoft.com/office/drawing/2014/main" id="{7770692F-017F-D7BD-D73E-28CF056BC0BF}"/>
              </a:ext>
            </a:extLst>
          </p:cNvPr>
          <p:cNvSpPr/>
          <p:nvPr/>
        </p:nvSpPr>
        <p:spPr>
          <a:xfrm>
            <a:off x="339868" y="3577515"/>
            <a:ext cx="214412" cy="1624182"/>
          </a:xfrm>
          <a:prstGeom prst="rect">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49" name="Rectángulo redondeado 5">
            <a:extLst>
              <a:ext uri="{FF2B5EF4-FFF2-40B4-BE49-F238E27FC236}">
                <a16:creationId xmlns:a16="http://schemas.microsoft.com/office/drawing/2014/main" id="{19D758E7-85C8-D580-E796-85924D8CAB99}"/>
              </a:ext>
            </a:extLst>
          </p:cNvPr>
          <p:cNvSpPr/>
          <p:nvPr/>
        </p:nvSpPr>
        <p:spPr>
          <a:xfrm rot="5400000">
            <a:off x="5364219" y="4333444"/>
            <a:ext cx="1584000" cy="161631"/>
          </a:xfrm>
          <a:prstGeom prst="roundRect">
            <a:avLst/>
          </a:prstGeom>
          <a:solidFill>
            <a:srgbClr val="EB0000"/>
          </a:solidFill>
          <a:ln w="9525" cap="rnd" cmpd="sng" algn="ctr">
            <a:solidFill>
              <a:srgbClr val="EB0000"/>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defTabSz="514350">
              <a:lnSpc>
                <a:spcPct val="90000"/>
              </a:lnSpc>
              <a:spcAft>
                <a:spcPts val="563"/>
              </a:spcAft>
              <a:defRPr/>
            </a:pPr>
            <a:r>
              <a:rPr lang="en-US" sz="900" b="1" kern="0" dirty="0">
                <a:solidFill>
                  <a:srgbClr val="FFFFFF"/>
                </a:solidFill>
                <a:latin typeface="Santander Text" panose="020B0504020201020104" pitchFamily="34" charset="0"/>
              </a:rPr>
              <a:t>Risk</a:t>
            </a:r>
          </a:p>
        </p:txBody>
      </p:sp>
      <p:sp>
        <p:nvSpPr>
          <p:cNvPr id="50" name="Rectángulo 49">
            <a:extLst>
              <a:ext uri="{FF2B5EF4-FFF2-40B4-BE49-F238E27FC236}">
                <a16:creationId xmlns:a16="http://schemas.microsoft.com/office/drawing/2014/main" id="{E4AA9C00-1B17-6BBA-89AE-D37F544F857A}"/>
              </a:ext>
            </a:extLst>
          </p:cNvPr>
          <p:cNvSpPr/>
          <p:nvPr/>
        </p:nvSpPr>
        <p:spPr>
          <a:xfrm>
            <a:off x="69836" y="5558755"/>
            <a:ext cx="11997095" cy="1224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200"/>
              </a:spcAft>
            </a:pPr>
            <a:endParaRPr lang="en-US" sz="500" b="1" dirty="0">
              <a:solidFill>
                <a:schemeClr val="tx1"/>
              </a:solidFill>
              <a:latin typeface="Aptos" panose="020B0004020202020204" pitchFamily="34" charset="0"/>
            </a:endParaRPr>
          </a:p>
          <a:p>
            <a:pPr algn="just">
              <a:spcAft>
                <a:spcPts val="200"/>
              </a:spcAft>
            </a:pPr>
            <a:r>
              <a:rPr lang="es-ES" sz="900" dirty="0">
                <a:solidFill>
                  <a:schemeClr val="tx1"/>
                </a:solidFill>
                <a:latin typeface="Aptos" panose="020B0004020202020204" pitchFamily="34" charset="0"/>
              </a:rPr>
              <a:t>There is“De Minimis” threhold that BSI cannot exceed (Business limit agreed with SCIB Business and with Regulatory Compliance Global) that is calculated based on NDF activity. Due to that, consumption of lmit should be control to ensure 1) correct calculation and 2) Monitoring. To meet these two objectives, two new accesses are required for BSI Users (Product support team). </a:t>
            </a:r>
          </a:p>
          <a:p>
            <a:pPr algn="just">
              <a:spcAft>
                <a:spcPts val="200"/>
              </a:spcAft>
            </a:pPr>
            <a:endParaRPr lang="es-ES" sz="500" b="1" dirty="0">
              <a:solidFill>
                <a:schemeClr val="tx1"/>
              </a:solidFill>
              <a:latin typeface="Aptos" panose="020B0004020202020204" pitchFamily="34" charset="0"/>
            </a:endParaRPr>
          </a:p>
          <a:p>
            <a:pPr marL="228600" indent="-228600" algn="just">
              <a:spcAft>
                <a:spcPts val="200"/>
              </a:spcAft>
              <a:buAutoNum type="arabicPeriod"/>
            </a:pPr>
            <a:r>
              <a:rPr lang="es-ES" sz="900" b="1" dirty="0">
                <a:solidFill>
                  <a:schemeClr val="tx1"/>
                </a:solidFill>
                <a:latin typeface="Aptos" panose="020B0004020202020204" pitchFamily="34" charset="0"/>
              </a:rPr>
              <a:t>BSI user accessing to PIF: </a:t>
            </a:r>
            <a:r>
              <a:rPr lang="es-ES" sz="900" dirty="0">
                <a:solidFill>
                  <a:schemeClr val="tx1"/>
                </a:solidFill>
                <a:latin typeface="Aptos" panose="020B0004020202020204" pitchFamily="34" charset="0"/>
              </a:rPr>
              <a:t>BSI Users </a:t>
            </a:r>
            <a:r>
              <a:rPr lang="es-ES" sz="900" dirty="0" err="1">
                <a:solidFill>
                  <a:schemeClr val="tx1"/>
                </a:solidFill>
                <a:latin typeface="Aptos" panose="020B0004020202020204" pitchFamily="34" charset="0"/>
              </a:rPr>
              <a:t>uploads</a:t>
            </a:r>
            <a:r>
              <a:rPr lang="es-ES" sz="900" dirty="0">
                <a:solidFill>
                  <a:schemeClr val="tx1"/>
                </a:solidFill>
                <a:latin typeface="Aptos" panose="020B0004020202020204" pitchFamily="34" charset="0"/>
              </a:rPr>
              <a:t>  ONLY Murex </a:t>
            </a:r>
            <a:r>
              <a:rPr lang="es-ES" sz="900" dirty="0" err="1">
                <a:solidFill>
                  <a:schemeClr val="tx1"/>
                </a:solidFill>
                <a:latin typeface="Aptos" panose="020B0004020202020204" pitchFamily="34" charset="0"/>
              </a:rPr>
              <a:t>IDs</a:t>
            </a:r>
            <a:r>
              <a:rPr lang="es-ES" sz="900" dirty="0">
                <a:solidFill>
                  <a:schemeClr val="tx1"/>
                </a:solidFill>
                <a:latin typeface="Aptos" panose="020B0004020202020204" pitchFamily="34" charset="0"/>
              </a:rPr>
              <a:t> (No PPI info) </a:t>
            </a:r>
            <a:r>
              <a:rPr lang="es-ES" sz="900" dirty="0" err="1">
                <a:solidFill>
                  <a:schemeClr val="tx1"/>
                </a:solidFill>
                <a:latin typeface="Aptos" panose="020B0004020202020204" pitchFamily="34" charset="0"/>
              </a:rPr>
              <a:t>of</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trades</a:t>
            </a:r>
            <a:r>
              <a:rPr lang="es-ES" sz="900" dirty="0">
                <a:solidFill>
                  <a:schemeClr val="tx1"/>
                </a:solidFill>
                <a:latin typeface="Aptos" panose="020B0004020202020204" pitchFamily="34" charset="0"/>
              </a:rPr>
              <a:t> that should be removed (adjustment) from </a:t>
            </a:r>
            <a:r>
              <a:rPr lang="es-ES" sz="900" dirty="0" err="1">
                <a:solidFill>
                  <a:schemeClr val="tx1"/>
                </a:solidFill>
                <a:latin typeface="Aptos" panose="020B0004020202020204" pitchFamily="34" charset="0"/>
              </a:rPr>
              <a:t>Consumption</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calculations</a:t>
            </a:r>
            <a:r>
              <a:rPr lang="es-ES" sz="900" dirty="0">
                <a:solidFill>
                  <a:schemeClr val="tx1"/>
                </a:solidFill>
                <a:latin typeface="Aptos" panose="020B0004020202020204" pitchFamily="34" charset="0"/>
              </a:rPr>
              <a:t>. PIF </a:t>
            </a:r>
            <a:r>
              <a:rPr lang="es-ES" sz="900" dirty="0" err="1">
                <a:solidFill>
                  <a:schemeClr val="tx1"/>
                </a:solidFill>
                <a:latin typeface="Aptos" panose="020B0004020202020204" pitchFamily="34" charset="0"/>
              </a:rPr>
              <a:t>is</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part</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of</a:t>
            </a:r>
            <a:r>
              <a:rPr lang="es-ES" sz="900" dirty="0">
                <a:solidFill>
                  <a:schemeClr val="tx1"/>
                </a:solidFill>
                <a:latin typeface="Aptos" panose="020B0004020202020204" pitchFamily="34" charset="0"/>
              </a:rPr>
              <a:t> the </a:t>
            </a:r>
            <a:r>
              <a:rPr lang="es-ES" sz="900" dirty="0" err="1">
                <a:solidFill>
                  <a:schemeClr val="tx1"/>
                </a:solidFill>
                <a:latin typeface="Aptos" panose="020B0004020202020204" pitchFamily="34" charset="0"/>
              </a:rPr>
              <a:t>solution</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of</a:t>
            </a:r>
            <a:r>
              <a:rPr lang="es-ES" sz="900" dirty="0">
                <a:solidFill>
                  <a:schemeClr val="tx1"/>
                </a:solidFill>
                <a:latin typeface="Aptos" panose="020B0004020202020204" pitchFamily="34" charset="0"/>
              </a:rPr>
              <a:t> MOI </a:t>
            </a:r>
            <a:r>
              <a:rPr lang="es-ES" sz="900" dirty="0" err="1">
                <a:solidFill>
                  <a:schemeClr val="tx1"/>
                </a:solidFill>
                <a:latin typeface="Aptos" panose="020B0004020202020204" pitchFamily="34" charset="0"/>
              </a:rPr>
              <a:t>reports</a:t>
            </a:r>
            <a:r>
              <a:rPr lang="es-ES" sz="900" dirty="0">
                <a:solidFill>
                  <a:schemeClr val="tx1"/>
                </a:solidFill>
                <a:latin typeface="Aptos" panose="020B0004020202020204" pitchFamily="34" charset="0"/>
              </a:rPr>
              <a:t> in </a:t>
            </a:r>
            <a:r>
              <a:rPr lang="es-ES" sz="900" dirty="0" err="1">
                <a:solidFill>
                  <a:schemeClr val="tx1"/>
                </a:solidFill>
                <a:latin typeface="Aptos" panose="020B0004020202020204" pitchFamily="34" charset="0"/>
              </a:rPr>
              <a:t>bullet</a:t>
            </a:r>
            <a:r>
              <a:rPr lang="es-ES" sz="900" dirty="0">
                <a:solidFill>
                  <a:schemeClr val="tx1"/>
                </a:solidFill>
                <a:latin typeface="Aptos" panose="020B0004020202020204" pitchFamily="34" charset="0"/>
              </a:rPr>
              <a:t> 6) </a:t>
            </a:r>
            <a:r>
              <a:rPr lang="es-ES" sz="900" dirty="0" err="1">
                <a:solidFill>
                  <a:schemeClr val="tx1"/>
                </a:solidFill>
                <a:latin typeface="Aptos" panose="020B0004020202020204" pitchFamily="34" charset="0"/>
              </a:rPr>
              <a:t>below</a:t>
            </a:r>
            <a:r>
              <a:rPr lang="es-ES" sz="900" dirty="0">
                <a:solidFill>
                  <a:schemeClr val="tx1"/>
                </a:solidFill>
                <a:latin typeface="Aptos" panose="020B0004020202020204" pitchFamily="34" charset="0"/>
              </a:rPr>
              <a:t>. </a:t>
            </a:r>
          </a:p>
          <a:p>
            <a:pPr marL="265113" algn="just">
              <a:spcAft>
                <a:spcPts val="200"/>
              </a:spcAft>
            </a:pPr>
            <a:r>
              <a:rPr lang="es-ES" sz="800" dirty="0">
                <a:hlinkClick r:id="rId4" tooltip="http://rdamac.aacc.gs.corp/trdefi_ens/earestatico/trdefi_ens/btochanneldriver.ssobto?dse_operationname=inicioportal"/>
              </a:rPr>
              <a:t>https://rdamac.aacc.gs.corp/TRDEFI_ENS/EarEstatico/TRDEFI_ENS/BtoChannelDriver.ssobto?dse_operationName=inicioPortal</a:t>
            </a:r>
            <a:endParaRPr lang="es-ES" sz="800" dirty="0"/>
          </a:p>
          <a:p>
            <a:pPr marL="265113" algn="just">
              <a:spcAft>
                <a:spcPts val="200"/>
              </a:spcAft>
            </a:pPr>
            <a:endParaRPr lang="es-ES" sz="300" dirty="0">
              <a:solidFill>
                <a:schemeClr val="tx1"/>
              </a:solidFill>
              <a:latin typeface="Aptos" panose="020B0004020202020204" pitchFamily="34" charset="0"/>
            </a:endParaRPr>
          </a:p>
          <a:p>
            <a:pPr marL="228600" indent="-228600" algn="just">
              <a:spcAft>
                <a:spcPts val="200"/>
              </a:spcAft>
              <a:buFontTx/>
              <a:buAutoNum type="arabicPeriod"/>
            </a:pPr>
            <a:r>
              <a:rPr lang="es-ES" sz="900" b="1" dirty="0">
                <a:solidFill>
                  <a:schemeClr val="tx1"/>
                </a:solidFill>
                <a:latin typeface="Aptos" panose="020B0004020202020204" pitchFamily="34" charset="0"/>
              </a:rPr>
              <a:t>BSI usser accesing to MOI reports App (Santander Corporate App):</a:t>
            </a:r>
            <a:r>
              <a:rPr lang="es-ES" sz="900" dirty="0">
                <a:solidFill>
                  <a:schemeClr val="tx1"/>
                </a:solidFill>
                <a:latin typeface="Aptos" panose="020B0004020202020204" pitchFamily="34" charset="0"/>
              </a:rPr>
              <a:t>, Product support will require accesss to MOI reports, to visualize the limit consumpition after the adjusment to ensure it has been done correctly. MOI report is an existing app in the group (MEGA: 5975) currently used b SHUSA entitiies. BSI has been setup as consumer of this app. </a:t>
            </a:r>
          </a:p>
        </p:txBody>
      </p:sp>
      <p:sp>
        <p:nvSpPr>
          <p:cNvPr id="51" name="Rectángulo: esquinas redondeadas 155">
            <a:extLst>
              <a:ext uri="{FF2B5EF4-FFF2-40B4-BE49-F238E27FC236}">
                <a16:creationId xmlns:a16="http://schemas.microsoft.com/office/drawing/2014/main" id="{EBC50FD9-0E6F-8FAC-772F-BF2F755C7161}"/>
              </a:ext>
            </a:extLst>
          </p:cNvPr>
          <p:cNvSpPr/>
          <p:nvPr/>
        </p:nvSpPr>
        <p:spPr>
          <a:xfrm>
            <a:off x="10952617" y="1163601"/>
            <a:ext cx="103943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schemeClr val="bg1"/>
                </a:solidFill>
                <a:effectLst/>
                <a:uLnTx/>
                <a:uFillTx/>
                <a:latin typeface="Santander Headline" panose="020B0504020201020104"/>
                <a:ea typeface="+mn-ea"/>
                <a:cs typeface="+mn-cs"/>
              </a:rPr>
              <a:t>Connections</a:t>
            </a:r>
          </a:p>
        </p:txBody>
      </p:sp>
      <p:sp>
        <p:nvSpPr>
          <p:cNvPr id="52" name="Rectángulo: esquinas redondeadas 155">
            <a:extLst>
              <a:ext uri="{FF2B5EF4-FFF2-40B4-BE49-F238E27FC236}">
                <a16:creationId xmlns:a16="http://schemas.microsoft.com/office/drawing/2014/main" id="{7364751C-8214-F8F6-590E-EE78A06EDA32}"/>
              </a:ext>
            </a:extLst>
          </p:cNvPr>
          <p:cNvSpPr/>
          <p:nvPr/>
        </p:nvSpPr>
        <p:spPr>
          <a:xfrm>
            <a:off x="122339" y="5488283"/>
            <a:ext cx="1368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schemeClr val="bg1"/>
                </a:solidFill>
                <a:effectLst/>
                <a:uLnTx/>
                <a:uFillTx/>
                <a:latin typeface="Santander Headline" panose="020B0504020201020104"/>
                <a:ea typeface="+mn-ea"/>
                <a:cs typeface="+mn-cs"/>
              </a:rPr>
              <a:t>User´s accesses</a:t>
            </a:r>
          </a:p>
        </p:txBody>
      </p:sp>
      <p:sp>
        <p:nvSpPr>
          <p:cNvPr id="53" name="Elipse 52">
            <a:extLst>
              <a:ext uri="{FF2B5EF4-FFF2-40B4-BE49-F238E27FC236}">
                <a16:creationId xmlns:a16="http://schemas.microsoft.com/office/drawing/2014/main" id="{CFC66B8F-5B24-C051-AEED-476B454BDC74}"/>
              </a:ext>
            </a:extLst>
          </p:cNvPr>
          <p:cNvSpPr/>
          <p:nvPr/>
        </p:nvSpPr>
        <p:spPr>
          <a:xfrm>
            <a:off x="111196" y="6069054"/>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5</a:t>
            </a:r>
          </a:p>
        </p:txBody>
      </p:sp>
      <p:sp>
        <p:nvSpPr>
          <p:cNvPr id="54" name="Elipse 53">
            <a:extLst>
              <a:ext uri="{FF2B5EF4-FFF2-40B4-BE49-F238E27FC236}">
                <a16:creationId xmlns:a16="http://schemas.microsoft.com/office/drawing/2014/main" id="{F17AFB19-AB6D-C517-8447-8FD3A505B773}"/>
              </a:ext>
            </a:extLst>
          </p:cNvPr>
          <p:cNvSpPr/>
          <p:nvPr/>
        </p:nvSpPr>
        <p:spPr>
          <a:xfrm>
            <a:off x="106135" y="642486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6</a:t>
            </a:r>
          </a:p>
        </p:txBody>
      </p:sp>
      <p:sp>
        <p:nvSpPr>
          <p:cNvPr id="55" name="Rectángulo 54">
            <a:extLst>
              <a:ext uri="{FF2B5EF4-FFF2-40B4-BE49-F238E27FC236}">
                <a16:creationId xmlns:a16="http://schemas.microsoft.com/office/drawing/2014/main" id="{F0CAED91-0859-CC04-31A7-2E100D081850}"/>
              </a:ext>
            </a:extLst>
          </p:cNvPr>
          <p:cNvSpPr/>
          <p:nvPr/>
        </p:nvSpPr>
        <p:spPr>
          <a:xfrm>
            <a:off x="417358" y="3689761"/>
            <a:ext cx="1175644" cy="108694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Rectángulo redondeado 136">
            <a:extLst>
              <a:ext uri="{FF2B5EF4-FFF2-40B4-BE49-F238E27FC236}">
                <a16:creationId xmlns:a16="http://schemas.microsoft.com/office/drawing/2014/main" id="{6EC88CC3-CF62-639C-0A10-5D7C99F285CF}"/>
              </a:ext>
            </a:extLst>
          </p:cNvPr>
          <p:cNvSpPr/>
          <p:nvPr/>
        </p:nvSpPr>
        <p:spPr>
          <a:xfrm>
            <a:off x="825163" y="4535983"/>
            <a:ext cx="6696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MOI Reports</a:t>
            </a:r>
          </a:p>
        </p:txBody>
      </p:sp>
      <p:cxnSp>
        <p:nvCxnSpPr>
          <p:cNvPr id="57" name="Conector: angular 61">
            <a:extLst>
              <a:ext uri="{FF2B5EF4-FFF2-40B4-BE49-F238E27FC236}">
                <a16:creationId xmlns:a16="http://schemas.microsoft.com/office/drawing/2014/main" id="{6E2A5892-A3AA-D44B-1231-31E41436E44C}"/>
              </a:ext>
            </a:extLst>
          </p:cNvPr>
          <p:cNvCxnSpPr>
            <a:cxnSpLocks/>
            <a:stCxn id="19" idx="6"/>
            <a:endCxn id="56" idx="0"/>
          </p:cNvCxnSpPr>
          <p:nvPr/>
        </p:nvCxnSpPr>
        <p:spPr>
          <a:xfrm>
            <a:off x="1085670" y="3137797"/>
            <a:ext cx="74293" cy="1398186"/>
          </a:xfrm>
          <a:prstGeom prst="bentConnector2">
            <a:avLst/>
          </a:prstGeom>
          <a:noFill/>
          <a:ln w="12700" cap="flat" cmpd="sng" algn="ctr">
            <a:solidFill>
              <a:sysClr val="windowText" lastClr="000000"/>
            </a:solidFill>
            <a:prstDash val="solid"/>
            <a:miter lim="800000"/>
            <a:tailEnd type="triangle"/>
          </a:ln>
          <a:effectLst/>
        </p:spPr>
      </p:cxnSp>
      <p:sp>
        <p:nvSpPr>
          <p:cNvPr id="59" name="Rectángulo redondeado 136">
            <a:extLst>
              <a:ext uri="{FF2B5EF4-FFF2-40B4-BE49-F238E27FC236}">
                <a16:creationId xmlns:a16="http://schemas.microsoft.com/office/drawing/2014/main" id="{B7B1BB23-0BBD-96A8-F075-3425E6FBDAEB}"/>
              </a:ext>
            </a:extLst>
          </p:cNvPr>
          <p:cNvSpPr/>
          <p:nvPr/>
        </p:nvSpPr>
        <p:spPr>
          <a:xfrm>
            <a:off x="473344" y="3823887"/>
            <a:ext cx="5040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PIF</a:t>
            </a:r>
          </a:p>
        </p:txBody>
      </p:sp>
      <p:cxnSp>
        <p:nvCxnSpPr>
          <p:cNvPr id="60" name="Conector: angular 61">
            <a:extLst>
              <a:ext uri="{FF2B5EF4-FFF2-40B4-BE49-F238E27FC236}">
                <a16:creationId xmlns:a16="http://schemas.microsoft.com/office/drawing/2014/main" id="{24E9F837-D22F-D266-AEA9-2CC908F5CFAF}"/>
              </a:ext>
            </a:extLst>
          </p:cNvPr>
          <p:cNvCxnSpPr>
            <a:cxnSpLocks/>
            <a:stCxn id="59" idx="2"/>
            <a:endCxn id="56" idx="1"/>
          </p:cNvCxnSpPr>
          <p:nvPr/>
        </p:nvCxnSpPr>
        <p:spPr>
          <a:xfrm rot="16200000" flipH="1">
            <a:off x="461055" y="4255575"/>
            <a:ext cx="628396" cy="99819"/>
          </a:xfrm>
          <a:prstGeom prst="bentConnector2">
            <a:avLst/>
          </a:prstGeom>
          <a:noFill/>
          <a:ln w="12700" cap="flat" cmpd="sng" algn="ctr">
            <a:solidFill>
              <a:sysClr val="windowText" lastClr="000000"/>
            </a:solidFill>
            <a:prstDash val="solid"/>
            <a:miter lim="800000"/>
            <a:tailEnd type="triangle"/>
          </a:ln>
          <a:effectLst/>
        </p:spPr>
      </p:cxnSp>
      <p:cxnSp>
        <p:nvCxnSpPr>
          <p:cNvPr id="61" name="Conector: angular 61">
            <a:extLst>
              <a:ext uri="{FF2B5EF4-FFF2-40B4-BE49-F238E27FC236}">
                <a16:creationId xmlns:a16="http://schemas.microsoft.com/office/drawing/2014/main" id="{5F7273E0-669B-594E-C709-B91A8CF60D1F}"/>
              </a:ext>
            </a:extLst>
          </p:cNvPr>
          <p:cNvCxnSpPr>
            <a:cxnSpLocks/>
            <a:stCxn id="19" idx="2"/>
            <a:endCxn id="59" idx="0"/>
          </p:cNvCxnSpPr>
          <p:nvPr/>
        </p:nvCxnSpPr>
        <p:spPr>
          <a:xfrm rot="10800000" flipV="1">
            <a:off x="725345" y="3137797"/>
            <a:ext cx="132243" cy="686090"/>
          </a:xfrm>
          <a:prstGeom prst="bentConnector2">
            <a:avLst/>
          </a:prstGeom>
          <a:noFill/>
          <a:ln w="12700" cap="flat" cmpd="sng" algn="ctr">
            <a:solidFill>
              <a:sysClr val="windowText" lastClr="000000"/>
            </a:solidFill>
            <a:prstDash val="solid"/>
            <a:miter lim="800000"/>
            <a:tailEnd type="triangle"/>
          </a:ln>
          <a:effectLst/>
        </p:spPr>
      </p:cxnSp>
      <p:sp>
        <p:nvSpPr>
          <p:cNvPr id="62" name="Elipse 61">
            <a:extLst>
              <a:ext uri="{FF2B5EF4-FFF2-40B4-BE49-F238E27FC236}">
                <a16:creationId xmlns:a16="http://schemas.microsoft.com/office/drawing/2014/main" id="{9ADC7901-F0E8-C9B1-A697-CA55CEB3EAE4}"/>
              </a:ext>
            </a:extLst>
          </p:cNvPr>
          <p:cNvSpPr/>
          <p:nvPr/>
        </p:nvSpPr>
        <p:spPr>
          <a:xfrm>
            <a:off x="1072556" y="3509762"/>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6</a:t>
            </a:r>
          </a:p>
        </p:txBody>
      </p:sp>
      <p:sp>
        <p:nvSpPr>
          <p:cNvPr id="63" name="Elipse 62">
            <a:extLst>
              <a:ext uri="{FF2B5EF4-FFF2-40B4-BE49-F238E27FC236}">
                <a16:creationId xmlns:a16="http://schemas.microsoft.com/office/drawing/2014/main" id="{B19C68E7-B5FE-1A68-6328-0DA9F6B6F522}"/>
              </a:ext>
            </a:extLst>
          </p:cNvPr>
          <p:cNvSpPr/>
          <p:nvPr/>
        </p:nvSpPr>
        <p:spPr>
          <a:xfrm>
            <a:off x="561876" y="3249000"/>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5</a:t>
            </a:r>
          </a:p>
        </p:txBody>
      </p:sp>
      <p:sp>
        <p:nvSpPr>
          <p:cNvPr id="320" name="Rectángulo 319">
            <a:extLst>
              <a:ext uri="{FF2B5EF4-FFF2-40B4-BE49-F238E27FC236}">
                <a16:creationId xmlns:a16="http://schemas.microsoft.com/office/drawing/2014/main" id="{E3CF0494-23E8-1933-9892-B4F988EAC8DF}"/>
              </a:ext>
            </a:extLst>
          </p:cNvPr>
          <p:cNvSpPr/>
          <p:nvPr/>
        </p:nvSpPr>
        <p:spPr>
          <a:xfrm>
            <a:off x="250702" y="4779299"/>
            <a:ext cx="1484790" cy="237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i="1" dirty="0">
                <a:solidFill>
                  <a:schemeClr val="tx1"/>
                </a:solidFill>
              </a:rPr>
              <a:t>MOI </a:t>
            </a:r>
            <a:r>
              <a:rPr lang="es-ES" sz="700" i="1" dirty="0" err="1">
                <a:solidFill>
                  <a:schemeClr val="tx1"/>
                </a:solidFill>
              </a:rPr>
              <a:t>Reports</a:t>
            </a:r>
            <a:r>
              <a:rPr lang="es-ES" sz="700" i="1" dirty="0">
                <a:solidFill>
                  <a:schemeClr val="tx1"/>
                </a:solidFill>
              </a:rPr>
              <a:t>: MEGA: 5975</a:t>
            </a:r>
          </a:p>
          <a:p>
            <a:pPr algn="ctr"/>
            <a:r>
              <a:rPr lang="es-ES" sz="700" i="1" dirty="0">
                <a:solidFill>
                  <a:schemeClr val="tx1"/>
                </a:solidFill>
              </a:rPr>
              <a:t>BSI new </a:t>
            </a:r>
            <a:r>
              <a:rPr lang="es-ES" sz="700" i="1" dirty="0" err="1">
                <a:solidFill>
                  <a:schemeClr val="tx1"/>
                </a:solidFill>
              </a:rPr>
              <a:t>consumer</a:t>
            </a:r>
            <a:r>
              <a:rPr lang="es-ES" sz="700" i="1" dirty="0">
                <a:solidFill>
                  <a:schemeClr val="tx1"/>
                </a:solidFill>
              </a:rPr>
              <a:t> </a:t>
            </a:r>
          </a:p>
        </p:txBody>
      </p:sp>
      <p:sp>
        <p:nvSpPr>
          <p:cNvPr id="321" name="CuadroTexto 320">
            <a:extLst>
              <a:ext uri="{FF2B5EF4-FFF2-40B4-BE49-F238E27FC236}">
                <a16:creationId xmlns:a16="http://schemas.microsoft.com/office/drawing/2014/main" id="{1CB54E97-DE19-D360-4863-0A5DEEFF0635}"/>
              </a:ext>
            </a:extLst>
          </p:cNvPr>
          <p:cNvSpPr txBox="1"/>
          <p:nvPr/>
        </p:nvSpPr>
        <p:spPr>
          <a:xfrm>
            <a:off x="273228" y="980942"/>
            <a:ext cx="8350185" cy="276999"/>
          </a:xfrm>
          <a:prstGeom prst="rect">
            <a:avLst/>
          </a:prstGeom>
          <a:noFill/>
        </p:spPr>
        <p:txBody>
          <a:bodyPr wrap="square">
            <a:spAutoFit/>
          </a:bodyPr>
          <a:lstStyle/>
          <a:p>
            <a:r>
              <a:rPr lang="en-US" sz="1200" i="1" u="sng" dirty="0"/>
              <a:t>Functional description</a:t>
            </a:r>
            <a:endParaRPr lang="en-US" sz="1200" i="1" u="sng" dirty="0">
              <a:solidFill>
                <a:schemeClr val="bg1">
                  <a:lumMod val="65000"/>
                </a:schemeClr>
              </a:solidFill>
            </a:endParaRPr>
          </a:p>
        </p:txBody>
      </p:sp>
    </p:spTree>
    <p:extLst>
      <p:ext uri="{BB962C8B-B14F-4D97-AF65-F5344CB8AC3E}">
        <p14:creationId xmlns:p14="http://schemas.microsoft.com/office/powerpoint/2010/main" val="134734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87CD-2EF3-C647-0D76-5EAFE74F045B}"/>
            </a:ext>
          </a:extLst>
        </p:cNvPr>
        <p:cNvGrpSpPr/>
        <p:nvPr/>
      </p:nvGrpSpPr>
      <p:grpSpPr>
        <a:xfrm>
          <a:off x="0" y="0"/>
          <a:ext cx="0" cy="0"/>
          <a:chOff x="0" y="0"/>
          <a:chExt cx="0" cy="0"/>
        </a:xfrm>
      </p:grpSpPr>
      <p:sp>
        <p:nvSpPr>
          <p:cNvPr id="3" name="Marcador de texto 5">
            <a:extLst>
              <a:ext uri="{FF2B5EF4-FFF2-40B4-BE49-F238E27FC236}">
                <a16:creationId xmlns:a16="http://schemas.microsoft.com/office/drawing/2014/main" id="{DABBFB7C-BDA1-0F02-FC49-DA2C066A4A9A}"/>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385" name="Título 5">
            <a:extLst>
              <a:ext uri="{FF2B5EF4-FFF2-40B4-BE49-F238E27FC236}">
                <a16:creationId xmlns:a16="http://schemas.microsoft.com/office/drawing/2014/main" id="{91003A65-2D01-C1D9-178F-C99AE4DC87E5}"/>
              </a:ext>
            </a:extLst>
          </p:cNvPr>
          <p:cNvSpPr txBox="1">
            <a:spLocks/>
          </p:cNvSpPr>
          <p:nvPr/>
        </p:nvSpPr>
        <p:spPr>
          <a:xfrm>
            <a:off x="4029113" y="0"/>
            <a:ext cx="4750962" cy="1055253"/>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b="1" dirty="0"/>
              <a:t>Macro Architecture</a:t>
            </a:r>
            <a:endParaRPr lang="en-US" dirty="0"/>
          </a:p>
        </p:txBody>
      </p:sp>
      <p:sp>
        <p:nvSpPr>
          <p:cNvPr id="386" name="Rectangle 57">
            <a:extLst>
              <a:ext uri="{FF2B5EF4-FFF2-40B4-BE49-F238E27FC236}">
                <a16:creationId xmlns:a16="http://schemas.microsoft.com/office/drawing/2014/main" id="{57B742C8-6884-6BF0-FB5B-26F17C5BBEF9}"/>
              </a:ext>
            </a:extLst>
          </p:cNvPr>
          <p:cNvSpPr/>
          <p:nvPr/>
        </p:nvSpPr>
        <p:spPr>
          <a:xfrm>
            <a:off x="9672335" y="1309132"/>
            <a:ext cx="2445499" cy="3763474"/>
          </a:xfrm>
          <a:prstGeom prst="rect">
            <a:avLst/>
          </a:prstGeom>
          <a:solidFill>
            <a:schemeClr val="accent6">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87" name="Rectangle 53">
            <a:extLst>
              <a:ext uri="{FF2B5EF4-FFF2-40B4-BE49-F238E27FC236}">
                <a16:creationId xmlns:a16="http://schemas.microsoft.com/office/drawing/2014/main" id="{8E854EC6-F6DA-2138-E344-405B25E5A741}"/>
              </a:ext>
            </a:extLst>
          </p:cNvPr>
          <p:cNvSpPr/>
          <p:nvPr/>
        </p:nvSpPr>
        <p:spPr>
          <a:xfrm>
            <a:off x="74165" y="71481"/>
            <a:ext cx="9383203" cy="5001125"/>
          </a:xfrm>
          <a:prstGeom prst="rect">
            <a:avLst/>
          </a:prstGeom>
          <a:solidFill>
            <a:schemeClr val="bg1">
              <a:lumMod val="65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88" name="Rectangle 9">
            <a:extLst>
              <a:ext uri="{FF2B5EF4-FFF2-40B4-BE49-F238E27FC236}">
                <a16:creationId xmlns:a16="http://schemas.microsoft.com/office/drawing/2014/main" id="{FAB41DD5-CD42-979C-7C3F-7997C7B23EEF}"/>
              </a:ext>
            </a:extLst>
          </p:cNvPr>
          <p:cNvSpPr/>
          <p:nvPr/>
        </p:nvSpPr>
        <p:spPr>
          <a:xfrm>
            <a:off x="365760" y="209549"/>
            <a:ext cx="4985886" cy="475297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89" name="TextBox 19">
            <a:extLst>
              <a:ext uri="{FF2B5EF4-FFF2-40B4-BE49-F238E27FC236}">
                <a16:creationId xmlns:a16="http://schemas.microsoft.com/office/drawing/2014/main" id="{CCF3CD7F-B285-C008-DD3B-8AA608ED2DED}"/>
              </a:ext>
            </a:extLst>
          </p:cNvPr>
          <p:cNvSpPr txBox="1"/>
          <p:nvPr/>
        </p:nvSpPr>
        <p:spPr>
          <a:xfrm>
            <a:off x="74165" y="5248181"/>
            <a:ext cx="7694992" cy="746358"/>
          </a:xfrm>
          <a:prstGeom prst="rect">
            <a:avLst/>
          </a:prstGeom>
          <a:solidFill>
            <a:schemeClr val="bg2"/>
          </a:solidFill>
        </p:spPr>
        <p:txBody>
          <a:bodyPr wrap="square" rtlCol="0">
            <a:spAutoFit/>
          </a:bodyPr>
          <a:lstStyle/>
          <a:p>
            <a:pPr marL="228600" indent="-228600">
              <a:buFont typeface="+mj-lt"/>
              <a:buAutoNum type="arabicPeriod"/>
            </a:pPr>
            <a:endParaRPr lang="es-ES" sz="850" b="1" dirty="0"/>
          </a:p>
          <a:p>
            <a:pPr marL="228600" indent="-228600">
              <a:buFont typeface="+mj-lt"/>
              <a:buAutoNum type="arabicPeriod"/>
            </a:pPr>
            <a:r>
              <a:rPr lang="es-ES" sz="850" b="1" dirty="0"/>
              <a:t>Murex</a:t>
            </a:r>
            <a:r>
              <a:rPr lang="es-ES" sz="850" dirty="0"/>
              <a:t> call to an API deployes in API Connect.</a:t>
            </a:r>
          </a:p>
          <a:p>
            <a:pPr marL="228600" indent="-228600">
              <a:buFont typeface="+mj-lt"/>
              <a:buAutoNum type="arabicPeriod"/>
            </a:pPr>
            <a:r>
              <a:rPr lang="es-ES" sz="850" dirty="0"/>
              <a:t>API Connect receive the call in an HTTPs port.</a:t>
            </a:r>
          </a:p>
          <a:p>
            <a:pPr marL="228600" indent="-228600">
              <a:buFont typeface="+mj-lt"/>
              <a:buAutoNum type="arabicPeriod"/>
            </a:pPr>
            <a:r>
              <a:rPr lang="es-ES" sz="850" dirty="0"/>
              <a:t>It receives Murex’s payload, verifies the authentication and call the correspondent endpoint in IIB forwarding the Murex’s payload previously received.</a:t>
            </a:r>
          </a:p>
          <a:p>
            <a:pPr marL="228600" indent="-228600">
              <a:buFont typeface="+mj-lt"/>
              <a:buAutoNum type="arabicPeriod"/>
            </a:pPr>
            <a:r>
              <a:rPr lang="es-ES" sz="850" dirty="0"/>
              <a:t>IIB/ACE updates in NDF table located in T24 by using IF adapter</a:t>
            </a:r>
          </a:p>
        </p:txBody>
      </p:sp>
      <p:cxnSp>
        <p:nvCxnSpPr>
          <p:cNvPr id="390" name="Connector: Elbow 44">
            <a:extLst>
              <a:ext uri="{FF2B5EF4-FFF2-40B4-BE49-F238E27FC236}">
                <a16:creationId xmlns:a16="http://schemas.microsoft.com/office/drawing/2014/main" id="{AD1FD2F9-6747-D487-FB14-F51F947183B5}"/>
              </a:ext>
            </a:extLst>
          </p:cNvPr>
          <p:cNvCxnSpPr>
            <a:cxnSpLocks/>
          </p:cNvCxnSpPr>
          <p:nvPr/>
        </p:nvCxnSpPr>
        <p:spPr>
          <a:xfrm rot="10800000">
            <a:off x="854762" y="2004136"/>
            <a:ext cx="5562080" cy="2124110"/>
          </a:xfrm>
          <a:prstGeom prst="bentConnector3">
            <a:avLst>
              <a:gd name="adj1" fmla="val 100005"/>
            </a:avLst>
          </a:prstGeom>
          <a:ln>
            <a:tailEnd type="triangle"/>
          </a:ln>
        </p:spPr>
        <p:style>
          <a:lnRef idx="2">
            <a:schemeClr val="dk1"/>
          </a:lnRef>
          <a:fillRef idx="0">
            <a:schemeClr val="dk1"/>
          </a:fillRef>
          <a:effectRef idx="1">
            <a:schemeClr val="dk1"/>
          </a:effectRef>
          <a:fontRef idx="minor">
            <a:schemeClr val="tx1"/>
          </a:fontRef>
        </p:style>
      </p:cxnSp>
      <p:sp>
        <p:nvSpPr>
          <p:cNvPr id="391" name="Flowchart: Predefined Process 23">
            <a:extLst>
              <a:ext uri="{FF2B5EF4-FFF2-40B4-BE49-F238E27FC236}">
                <a16:creationId xmlns:a16="http://schemas.microsoft.com/office/drawing/2014/main" id="{80DDE50C-67EB-F3D3-B937-FC4844097A6E}"/>
              </a:ext>
            </a:extLst>
          </p:cNvPr>
          <p:cNvSpPr/>
          <p:nvPr/>
        </p:nvSpPr>
        <p:spPr>
          <a:xfrm>
            <a:off x="6416842" y="3794200"/>
            <a:ext cx="1033112" cy="616017"/>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IIB/ACE</a:t>
            </a:r>
            <a:endParaRPr lang="en-US" sz="800" dirty="0">
              <a:solidFill>
                <a:schemeClr val="tx1"/>
              </a:solidFill>
            </a:endParaRPr>
          </a:p>
        </p:txBody>
      </p:sp>
      <p:sp>
        <p:nvSpPr>
          <p:cNvPr id="392" name="Rectangle: Rounded Corners 3">
            <a:extLst>
              <a:ext uri="{FF2B5EF4-FFF2-40B4-BE49-F238E27FC236}">
                <a16:creationId xmlns:a16="http://schemas.microsoft.com/office/drawing/2014/main" id="{E7DF639C-4883-B400-9A26-9707141D2E34}"/>
              </a:ext>
            </a:extLst>
          </p:cNvPr>
          <p:cNvSpPr/>
          <p:nvPr/>
        </p:nvSpPr>
        <p:spPr>
          <a:xfrm>
            <a:off x="724619" y="1390651"/>
            <a:ext cx="1233577" cy="61766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ND. DEAL</a:t>
            </a:r>
            <a:endParaRPr lang="en-US" sz="800" dirty="0">
              <a:solidFill>
                <a:schemeClr val="tx1"/>
              </a:solidFill>
            </a:endParaRPr>
          </a:p>
        </p:txBody>
      </p:sp>
      <p:sp>
        <p:nvSpPr>
          <p:cNvPr id="393" name="Oval 4">
            <a:extLst>
              <a:ext uri="{FF2B5EF4-FFF2-40B4-BE49-F238E27FC236}">
                <a16:creationId xmlns:a16="http://schemas.microsoft.com/office/drawing/2014/main" id="{15CFC1CA-9E10-D89A-F246-15B44C21025D}"/>
              </a:ext>
            </a:extLst>
          </p:cNvPr>
          <p:cNvSpPr/>
          <p:nvPr/>
        </p:nvSpPr>
        <p:spPr>
          <a:xfrm>
            <a:off x="2587928" y="1364371"/>
            <a:ext cx="940278" cy="66186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BATCH SERVICE</a:t>
            </a:r>
            <a:endParaRPr lang="en-US" sz="800" dirty="0">
              <a:solidFill>
                <a:schemeClr val="tx1"/>
              </a:solidFill>
            </a:endParaRPr>
          </a:p>
        </p:txBody>
      </p:sp>
      <p:cxnSp>
        <p:nvCxnSpPr>
          <p:cNvPr id="394" name="Straight Arrow Connector 6">
            <a:extLst>
              <a:ext uri="{FF2B5EF4-FFF2-40B4-BE49-F238E27FC236}">
                <a16:creationId xmlns:a16="http://schemas.microsoft.com/office/drawing/2014/main" id="{404AFD80-29C2-E34A-29EA-11BA1B3DE6BB}"/>
              </a:ext>
            </a:extLst>
          </p:cNvPr>
          <p:cNvCxnSpPr>
            <a:cxnSpLocks/>
            <a:stCxn id="393" idx="2"/>
            <a:endCxn id="392" idx="3"/>
          </p:cNvCxnSpPr>
          <p:nvPr/>
        </p:nvCxnSpPr>
        <p:spPr>
          <a:xfrm flipH="1">
            <a:off x="1958196" y="1695306"/>
            <a:ext cx="629732" cy="41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95" name="Left Brace 7">
            <a:extLst>
              <a:ext uri="{FF2B5EF4-FFF2-40B4-BE49-F238E27FC236}">
                <a16:creationId xmlns:a16="http://schemas.microsoft.com/office/drawing/2014/main" id="{1AC9A16B-13DF-5EF0-7B6E-75BA5C058ED8}"/>
              </a:ext>
            </a:extLst>
          </p:cNvPr>
          <p:cNvSpPr/>
          <p:nvPr/>
        </p:nvSpPr>
        <p:spPr>
          <a:xfrm>
            <a:off x="3579965" y="1352199"/>
            <a:ext cx="111124" cy="69910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1600" dirty="0"/>
          </a:p>
        </p:txBody>
      </p:sp>
      <p:sp>
        <p:nvSpPr>
          <p:cNvPr id="396" name="TextBox 8">
            <a:extLst>
              <a:ext uri="{FF2B5EF4-FFF2-40B4-BE49-F238E27FC236}">
                <a16:creationId xmlns:a16="http://schemas.microsoft.com/office/drawing/2014/main" id="{3A8CAC23-5BBD-E0F6-1BD5-C11C36A74A6B}"/>
              </a:ext>
            </a:extLst>
          </p:cNvPr>
          <p:cNvSpPr txBox="1"/>
          <p:nvPr/>
        </p:nvSpPr>
        <p:spPr>
          <a:xfrm>
            <a:off x="3691088" y="1477687"/>
            <a:ext cx="1306363" cy="415498"/>
          </a:xfrm>
          <a:prstGeom prst="rect">
            <a:avLst/>
          </a:prstGeom>
          <a:noFill/>
        </p:spPr>
        <p:txBody>
          <a:bodyPr wrap="square" rtlCol="0">
            <a:spAutoFit/>
          </a:bodyPr>
          <a:lstStyle/>
          <a:p>
            <a:r>
              <a:rPr lang="es-ES" sz="700" dirty="0"/>
              <a:t>SELECT NDF</a:t>
            </a:r>
          </a:p>
          <a:p>
            <a:r>
              <a:rPr lang="es-ES" sz="700" dirty="0"/>
              <a:t>DO MAPPING</a:t>
            </a:r>
          </a:p>
          <a:p>
            <a:r>
              <a:rPr lang="es-ES" sz="700" dirty="0"/>
              <a:t>GENERATE JSON MSG</a:t>
            </a:r>
            <a:endParaRPr lang="en-US" sz="700" dirty="0"/>
          </a:p>
        </p:txBody>
      </p:sp>
      <p:sp>
        <p:nvSpPr>
          <p:cNvPr id="397" name="TextBox 10">
            <a:extLst>
              <a:ext uri="{FF2B5EF4-FFF2-40B4-BE49-F238E27FC236}">
                <a16:creationId xmlns:a16="http://schemas.microsoft.com/office/drawing/2014/main" id="{7D78891B-54D4-006C-03E2-BBC3A8F63B04}"/>
              </a:ext>
            </a:extLst>
          </p:cNvPr>
          <p:cNvSpPr txBox="1"/>
          <p:nvPr/>
        </p:nvSpPr>
        <p:spPr>
          <a:xfrm>
            <a:off x="4917707" y="175360"/>
            <a:ext cx="503821" cy="276999"/>
          </a:xfrm>
          <a:prstGeom prst="rect">
            <a:avLst/>
          </a:prstGeom>
          <a:noFill/>
        </p:spPr>
        <p:txBody>
          <a:bodyPr wrap="square" rtlCol="0">
            <a:spAutoFit/>
          </a:bodyPr>
          <a:lstStyle/>
          <a:p>
            <a:r>
              <a:rPr lang="es-ES" sz="1200" b="1" dirty="0"/>
              <a:t>T24</a:t>
            </a:r>
            <a:endParaRPr lang="en-US" sz="1200" b="1" dirty="0"/>
          </a:p>
        </p:txBody>
      </p:sp>
      <p:sp>
        <p:nvSpPr>
          <p:cNvPr id="398" name="Oval 11">
            <a:extLst>
              <a:ext uri="{FF2B5EF4-FFF2-40B4-BE49-F238E27FC236}">
                <a16:creationId xmlns:a16="http://schemas.microsoft.com/office/drawing/2014/main" id="{78344D05-68EA-CD76-4292-F390FA70667B}"/>
              </a:ext>
            </a:extLst>
          </p:cNvPr>
          <p:cNvSpPr/>
          <p:nvPr/>
        </p:nvSpPr>
        <p:spPr>
          <a:xfrm>
            <a:off x="2587928" y="2682606"/>
            <a:ext cx="940278" cy="87126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DO</a:t>
            </a:r>
          </a:p>
          <a:p>
            <a:pPr algn="ctr"/>
            <a:r>
              <a:rPr lang="es-ES" sz="800" dirty="0">
                <a:solidFill>
                  <a:schemeClr val="tx1"/>
                </a:solidFill>
              </a:rPr>
              <a:t>HTTPS</a:t>
            </a:r>
          </a:p>
          <a:p>
            <a:pPr algn="ctr"/>
            <a:r>
              <a:rPr lang="es-ES" sz="800" dirty="0">
                <a:solidFill>
                  <a:schemeClr val="tx1"/>
                </a:solidFill>
              </a:rPr>
              <a:t>POST</a:t>
            </a:r>
            <a:endParaRPr lang="en-US" sz="800" dirty="0">
              <a:solidFill>
                <a:schemeClr val="tx1"/>
              </a:solidFill>
            </a:endParaRPr>
          </a:p>
        </p:txBody>
      </p:sp>
      <p:sp>
        <p:nvSpPr>
          <p:cNvPr id="399" name="Left Brace 12">
            <a:extLst>
              <a:ext uri="{FF2B5EF4-FFF2-40B4-BE49-F238E27FC236}">
                <a16:creationId xmlns:a16="http://schemas.microsoft.com/office/drawing/2014/main" id="{634936ED-F166-1E2E-73E9-48BD56B6F74C}"/>
              </a:ext>
            </a:extLst>
          </p:cNvPr>
          <p:cNvSpPr/>
          <p:nvPr/>
        </p:nvSpPr>
        <p:spPr>
          <a:xfrm>
            <a:off x="3563960" y="2634692"/>
            <a:ext cx="128435" cy="36933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1600" dirty="0"/>
          </a:p>
        </p:txBody>
      </p:sp>
      <p:sp>
        <p:nvSpPr>
          <p:cNvPr id="400" name="TextBox 13">
            <a:extLst>
              <a:ext uri="{FF2B5EF4-FFF2-40B4-BE49-F238E27FC236}">
                <a16:creationId xmlns:a16="http://schemas.microsoft.com/office/drawing/2014/main" id="{B011813B-2A07-809B-EDE4-F8AF3E86F928}"/>
              </a:ext>
            </a:extLst>
          </p:cNvPr>
          <p:cNvSpPr txBox="1"/>
          <p:nvPr/>
        </p:nvSpPr>
        <p:spPr>
          <a:xfrm>
            <a:off x="3653485" y="2654146"/>
            <a:ext cx="1306363" cy="307777"/>
          </a:xfrm>
          <a:prstGeom prst="rect">
            <a:avLst/>
          </a:prstGeom>
          <a:noFill/>
        </p:spPr>
        <p:txBody>
          <a:bodyPr wrap="square" rtlCol="0">
            <a:spAutoFit/>
          </a:bodyPr>
          <a:lstStyle/>
          <a:p>
            <a:r>
              <a:rPr lang="es-ES" sz="700" dirty="0"/>
              <a:t>GET JW TOKEN</a:t>
            </a:r>
          </a:p>
          <a:p>
            <a:r>
              <a:rPr lang="es-ES" sz="700" dirty="0"/>
              <a:t>SEND JSON MSG</a:t>
            </a:r>
          </a:p>
        </p:txBody>
      </p:sp>
      <p:sp>
        <p:nvSpPr>
          <p:cNvPr id="401" name="TextBox 14">
            <a:extLst>
              <a:ext uri="{FF2B5EF4-FFF2-40B4-BE49-F238E27FC236}">
                <a16:creationId xmlns:a16="http://schemas.microsoft.com/office/drawing/2014/main" id="{C33F49C3-620A-76B4-FE6E-F1AFF5A3690B}"/>
              </a:ext>
            </a:extLst>
          </p:cNvPr>
          <p:cNvSpPr txBox="1"/>
          <p:nvPr/>
        </p:nvSpPr>
        <p:spPr>
          <a:xfrm>
            <a:off x="2483217" y="3988015"/>
            <a:ext cx="1131613" cy="215444"/>
          </a:xfrm>
          <a:prstGeom prst="rect">
            <a:avLst/>
          </a:prstGeom>
          <a:solidFill>
            <a:schemeClr val="bg2"/>
          </a:solidFill>
        </p:spPr>
        <p:txBody>
          <a:bodyPr wrap="square" rtlCol="0">
            <a:spAutoFit/>
          </a:bodyPr>
          <a:lstStyle/>
          <a:p>
            <a:pPr algn="ctr"/>
            <a:r>
              <a:rPr lang="es-ES" sz="800" dirty="0"/>
              <a:t>UPDATE STATUS</a:t>
            </a:r>
          </a:p>
        </p:txBody>
      </p:sp>
      <p:cxnSp>
        <p:nvCxnSpPr>
          <p:cNvPr id="402" name="Straight Arrow Connector 15">
            <a:extLst>
              <a:ext uri="{FF2B5EF4-FFF2-40B4-BE49-F238E27FC236}">
                <a16:creationId xmlns:a16="http://schemas.microsoft.com/office/drawing/2014/main" id="{DED1DED4-165F-BA47-7F65-609FFE1479A9}"/>
              </a:ext>
            </a:extLst>
          </p:cNvPr>
          <p:cNvCxnSpPr>
            <a:cxnSpLocks/>
            <a:stCxn id="393" idx="4"/>
            <a:endCxn id="398" idx="0"/>
          </p:cNvCxnSpPr>
          <p:nvPr/>
        </p:nvCxnSpPr>
        <p:spPr>
          <a:xfrm>
            <a:off x="3058067" y="2026240"/>
            <a:ext cx="0" cy="6563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3" name="Arrow: Chevron 22">
            <a:extLst>
              <a:ext uri="{FF2B5EF4-FFF2-40B4-BE49-F238E27FC236}">
                <a16:creationId xmlns:a16="http://schemas.microsoft.com/office/drawing/2014/main" id="{B6D48061-E666-4215-3BCD-2F0E2F9184C5}"/>
              </a:ext>
            </a:extLst>
          </p:cNvPr>
          <p:cNvSpPr/>
          <p:nvPr/>
        </p:nvSpPr>
        <p:spPr>
          <a:xfrm>
            <a:off x="5528109" y="3907722"/>
            <a:ext cx="1135782" cy="442762"/>
          </a:xfrm>
          <a:prstGeom prst="chevron">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IF ADAPTER</a:t>
            </a:r>
            <a:endParaRPr lang="en-US" sz="800" dirty="0">
              <a:solidFill>
                <a:schemeClr val="tx1"/>
              </a:solidFill>
            </a:endParaRPr>
          </a:p>
        </p:txBody>
      </p:sp>
      <p:sp>
        <p:nvSpPr>
          <p:cNvPr id="404" name="Flowchart: Predefined Process 24">
            <a:extLst>
              <a:ext uri="{FF2B5EF4-FFF2-40B4-BE49-F238E27FC236}">
                <a16:creationId xmlns:a16="http://schemas.microsoft.com/office/drawing/2014/main" id="{8E763956-1BFD-62C3-85BE-735C6A5874EC}"/>
              </a:ext>
            </a:extLst>
          </p:cNvPr>
          <p:cNvSpPr/>
          <p:nvPr/>
        </p:nvSpPr>
        <p:spPr>
          <a:xfrm>
            <a:off x="8338687" y="3552152"/>
            <a:ext cx="1033112" cy="616017"/>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API</a:t>
            </a:r>
          </a:p>
          <a:p>
            <a:pPr algn="ctr"/>
            <a:r>
              <a:rPr lang="es-ES" sz="800" dirty="0">
                <a:solidFill>
                  <a:schemeClr val="tx1"/>
                </a:solidFill>
              </a:rPr>
              <a:t>CONNECT</a:t>
            </a:r>
            <a:endParaRPr lang="en-US" sz="800" dirty="0">
              <a:solidFill>
                <a:schemeClr val="tx1"/>
              </a:solidFill>
            </a:endParaRPr>
          </a:p>
        </p:txBody>
      </p:sp>
      <p:sp>
        <p:nvSpPr>
          <p:cNvPr id="405" name="Flowchart: Predefined Process 25">
            <a:extLst>
              <a:ext uri="{FF2B5EF4-FFF2-40B4-BE49-F238E27FC236}">
                <a16:creationId xmlns:a16="http://schemas.microsoft.com/office/drawing/2014/main" id="{BC55F466-C67A-B8F5-C018-F941C6B25A3D}"/>
              </a:ext>
            </a:extLst>
          </p:cNvPr>
          <p:cNvSpPr/>
          <p:nvPr/>
        </p:nvSpPr>
        <p:spPr>
          <a:xfrm>
            <a:off x="8450982" y="450940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HTTPS</a:t>
            </a:r>
          </a:p>
        </p:txBody>
      </p:sp>
      <p:sp>
        <p:nvSpPr>
          <p:cNvPr id="406" name="Flowchart: Predefined Process 26">
            <a:extLst>
              <a:ext uri="{FF2B5EF4-FFF2-40B4-BE49-F238E27FC236}">
                <a16:creationId xmlns:a16="http://schemas.microsoft.com/office/drawing/2014/main" id="{E2156B29-D5C7-7218-9343-27BCAF9B5948}"/>
              </a:ext>
            </a:extLst>
          </p:cNvPr>
          <p:cNvSpPr/>
          <p:nvPr/>
        </p:nvSpPr>
        <p:spPr>
          <a:xfrm>
            <a:off x="9815822" y="2863114"/>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HTTPS</a:t>
            </a:r>
          </a:p>
        </p:txBody>
      </p:sp>
      <p:cxnSp>
        <p:nvCxnSpPr>
          <p:cNvPr id="407" name="Straight Arrow Connector 27">
            <a:extLst>
              <a:ext uri="{FF2B5EF4-FFF2-40B4-BE49-F238E27FC236}">
                <a16:creationId xmlns:a16="http://schemas.microsoft.com/office/drawing/2014/main" id="{E1D50FBD-392E-1700-1E45-7818B4551532}"/>
              </a:ext>
            </a:extLst>
          </p:cNvPr>
          <p:cNvCxnSpPr>
            <a:cxnSpLocks/>
            <a:stCxn id="398" idx="6"/>
            <a:endCxn id="406" idx="1"/>
          </p:cNvCxnSpPr>
          <p:nvPr/>
        </p:nvCxnSpPr>
        <p:spPr>
          <a:xfrm flipV="1">
            <a:off x="3528206" y="3118239"/>
            <a:ext cx="6287616"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8" name="TextBox 20">
            <a:extLst>
              <a:ext uri="{FF2B5EF4-FFF2-40B4-BE49-F238E27FC236}">
                <a16:creationId xmlns:a16="http://schemas.microsoft.com/office/drawing/2014/main" id="{5A96992A-D301-2DB2-533C-CB9CD089E821}"/>
              </a:ext>
            </a:extLst>
          </p:cNvPr>
          <p:cNvSpPr txBox="1"/>
          <p:nvPr/>
        </p:nvSpPr>
        <p:spPr>
          <a:xfrm>
            <a:off x="5970291" y="3004023"/>
            <a:ext cx="1056151" cy="215444"/>
          </a:xfrm>
          <a:prstGeom prst="rect">
            <a:avLst/>
          </a:prstGeom>
          <a:solidFill>
            <a:schemeClr val="bg1">
              <a:lumMod val="65000"/>
            </a:schemeClr>
          </a:solidFill>
        </p:spPr>
        <p:txBody>
          <a:bodyPr wrap="square" rtlCol="0">
            <a:spAutoFit/>
          </a:bodyPr>
          <a:lstStyle/>
          <a:p>
            <a:pPr algn="ctr"/>
            <a:r>
              <a:rPr lang="es-ES" sz="800" dirty="0"/>
              <a:t>POST JSON MSG</a:t>
            </a:r>
          </a:p>
        </p:txBody>
      </p:sp>
      <p:sp>
        <p:nvSpPr>
          <p:cNvPr id="409" name="Rectangle 30">
            <a:extLst>
              <a:ext uri="{FF2B5EF4-FFF2-40B4-BE49-F238E27FC236}">
                <a16:creationId xmlns:a16="http://schemas.microsoft.com/office/drawing/2014/main" id="{9AB33690-AA84-C5E5-34A6-C2EC751F0164}"/>
              </a:ext>
            </a:extLst>
          </p:cNvPr>
          <p:cNvSpPr/>
          <p:nvPr/>
        </p:nvSpPr>
        <p:spPr>
          <a:xfrm>
            <a:off x="11238598" y="2345509"/>
            <a:ext cx="721894" cy="23568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s-ES" sz="800" b="1" dirty="0">
                <a:solidFill>
                  <a:schemeClr val="tx1"/>
                </a:solidFill>
              </a:rPr>
              <a:t>MUREX</a:t>
            </a:r>
            <a:endParaRPr lang="en-US" sz="800" b="1" dirty="0">
              <a:solidFill>
                <a:schemeClr val="tx1"/>
              </a:solidFill>
            </a:endParaRPr>
          </a:p>
        </p:txBody>
      </p:sp>
      <p:cxnSp>
        <p:nvCxnSpPr>
          <p:cNvPr id="410" name="Straight Arrow Connector 31">
            <a:extLst>
              <a:ext uri="{FF2B5EF4-FFF2-40B4-BE49-F238E27FC236}">
                <a16:creationId xmlns:a16="http://schemas.microsoft.com/office/drawing/2014/main" id="{34149966-A01B-BE6D-5529-A898C912A7E3}"/>
              </a:ext>
            </a:extLst>
          </p:cNvPr>
          <p:cNvCxnSpPr>
            <a:cxnSpLocks/>
          </p:cNvCxnSpPr>
          <p:nvPr/>
        </p:nvCxnSpPr>
        <p:spPr>
          <a:xfrm flipV="1">
            <a:off x="10614719" y="3171939"/>
            <a:ext cx="623879" cy="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1" name="Straight Arrow Connector 36">
            <a:extLst>
              <a:ext uri="{FF2B5EF4-FFF2-40B4-BE49-F238E27FC236}">
                <a16:creationId xmlns:a16="http://schemas.microsoft.com/office/drawing/2014/main" id="{8B340C82-EE81-2417-98B2-CF61F325ADCD}"/>
              </a:ext>
            </a:extLst>
          </p:cNvPr>
          <p:cNvCxnSpPr>
            <a:cxnSpLocks/>
            <a:stCxn id="405" idx="0"/>
            <a:endCxn id="404" idx="2"/>
          </p:cNvCxnSpPr>
          <p:nvPr/>
        </p:nvCxnSpPr>
        <p:spPr>
          <a:xfrm flipV="1">
            <a:off x="8850431" y="4168169"/>
            <a:ext cx="4812" cy="3412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2" name="Straight Arrow Connector 39">
            <a:extLst>
              <a:ext uri="{FF2B5EF4-FFF2-40B4-BE49-F238E27FC236}">
                <a16:creationId xmlns:a16="http://schemas.microsoft.com/office/drawing/2014/main" id="{D3A726A4-0728-ABE1-7AF6-7133D5EFCC84}"/>
              </a:ext>
            </a:extLst>
          </p:cNvPr>
          <p:cNvCxnSpPr>
            <a:cxnSpLocks/>
            <a:stCxn id="404" idx="1"/>
          </p:cNvCxnSpPr>
          <p:nvPr/>
        </p:nvCxnSpPr>
        <p:spPr>
          <a:xfrm flipH="1">
            <a:off x="7449954" y="3860161"/>
            <a:ext cx="88873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3" name="TextBox 35">
            <a:extLst>
              <a:ext uri="{FF2B5EF4-FFF2-40B4-BE49-F238E27FC236}">
                <a16:creationId xmlns:a16="http://schemas.microsoft.com/office/drawing/2014/main" id="{698570EB-6914-C7A1-6EE3-DCC639ED3DB6}"/>
              </a:ext>
            </a:extLst>
          </p:cNvPr>
          <p:cNvSpPr txBox="1"/>
          <p:nvPr/>
        </p:nvSpPr>
        <p:spPr>
          <a:xfrm>
            <a:off x="7649897" y="3745969"/>
            <a:ext cx="473823" cy="215444"/>
          </a:xfrm>
          <a:prstGeom prst="rect">
            <a:avLst/>
          </a:prstGeom>
          <a:solidFill>
            <a:schemeClr val="bg1">
              <a:lumMod val="65000"/>
            </a:schemeClr>
          </a:solidFill>
        </p:spPr>
        <p:txBody>
          <a:bodyPr wrap="square" rtlCol="0">
            <a:spAutoFit/>
          </a:bodyPr>
          <a:lstStyle/>
          <a:p>
            <a:pPr algn="ctr"/>
            <a:r>
              <a:rPr lang="es-ES" sz="800" dirty="0"/>
              <a:t>HTTP</a:t>
            </a:r>
          </a:p>
        </p:txBody>
      </p:sp>
      <p:cxnSp>
        <p:nvCxnSpPr>
          <p:cNvPr id="414" name="Straight Arrow Connector 47">
            <a:extLst>
              <a:ext uri="{FF2B5EF4-FFF2-40B4-BE49-F238E27FC236}">
                <a16:creationId xmlns:a16="http://schemas.microsoft.com/office/drawing/2014/main" id="{741116F9-03EF-E0C0-FA51-DBE29FDAD3F8}"/>
              </a:ext>
            </a:extLst>
          </p:cNvPr>
          <p:cNvCxnSpPr>
            <a:cxnSpLocks/>
            <a:stCxn id="409" idx="1"/>
            <a:endCxn id="405" idx="3"/>
          </p:cNvCxnSpPr>
          <p:nvPr/>
        </p:nvCxnSpPr>
        <p:spPr>
          <a:xfrm flipH="1">
            <a:off x="9249879" y="3523956"/>
            <a:ext cx="1988719" cy="12405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5" name="TextBox 48">
            <a:extLst>
              <a:ext uri="{FF2B5EF4-FFF2-40B4-BE49-F238E27FC236}">
                <a16:creationId xmlns:a16="http://schemas.microsoft.com/office/drawing/2014/main" id="{126E070D-B3BB-1409-FF13-46E113F0DDE3}"/>
              </a:ext>
            </a:extLst>
          </p:cNvPr>
          <p:cNvSpPr txBox="1"/>
          <p:nvPr/>
        </p:nvSpPr>
        <p:spPr>
          <a:xfrm>
            <a:off x="10059024" y="3897412"/>
            <a:ext cx="721894" cy="215444"/>
          </a:xfrm>
          <a:prstGeom prst="rect">
            <a:avLst/>
          </a:prstGeom>
          <a:solidFill>
            <a:schemeClr val="bg1"/>
          </a:solidFill>
        </p:spPr>
        <p:txBody>
          <a:bodyPr wrap="square" rtlCol="0">
            <a:spAutoFit/>
          </a:bodyPr>
          <a:lstStyle/>
          <a:p>
            <a:pPr algn="ctr"/>
            <a:r>
              <a:rPr lang="es-ES" sz="800" dirty="0"/>
              <a:t>SEND ACK</a:t>
            </a:r>
          </a:p>
        </p:txBody>
      </p:sp>
      <p:sp>
        <p:nvSpPr>
          <p:cNvPr id="416" name="TextBox 54">
            <a:extLst>
              <a:ext uri="{FF2B5EF4-FFF2-40B4-BE49-F238E27FC236}">
                <a16:creationId xmlns:a16="http://schemas.microsoft.com/office/drawing/2014/main" id="{27F7D052-E7F1-1B92-D6D0-E7D6B156BD59}"/>
              </a:ext>
            </a:extLst>
          </p:cNvPr>
          <p:cNvSpPr txBox="1"/>
          <p:nvPr/>
        </p:nvSpPr>
        <p:spPr>
          <a:xfrm>
            <a:off x="9035729" y="62473"/>
            <a:ext cx="503821" cy="276999"/>
          </a:xfrm>
          <a:prstGeom prst="rect">
            <a:avLst/>
          </a:prstGeom>
          <a:noFill/>
        </p:spPr>
        <p:txBody>
          <a:bodyPr wrap="square" rtlCol="0">
            <a:spAutoFit/>
          </a:bodyPr>
          <a:lstStyle/>
          <a:p>
            <a:r>
              <a:rPr lang="es-ES" sz="1200" b="1" dirty="0"/>
              <a:t>BSI</a:t>
            </a:r>
            <a:endParaRPr lang="en-US" sz="1200" b="1" dirty="0"/>
          </a:p>
        </p:txBody>
      </p:sp>
      <p:sp>
        <p:nvSpPr>
          <p:cNvPr id="417" name="TextBox 58">
            <a:extLst>
              <a:ext uri="{FF2B5EF4-FFF2-40B4-BE49-F238E27FC236}">
                <a16:creationId xmlns:a16="http://schemas.microsoft.com/office/drawing/2014/main" id="{370B4F55-73AD-919B-1A1C-6F6B92341F4A}"/>
              </a:ext>
            </a:extLst>
          </p:cNvPr>
          <p:cNvSpPr txBox="1"/>
          <p:nvPr/>
        </p:nvSpPr>
        <p:spPr>
          <a:xfrm>
            <a:off x="10924273" y="1271032"/>
            <a:ext cx="1281473" cy="276999"/>
          </a:xfrm>
          <a:prstGeom prst="rect">
            <a:avLst/>
          </a:prstGeom>
          <a:noFill/>
        </p:spPr>
        <p:txBody>
          <a:bodyPr wrap="square" rtlCol="0">
            <a:spAutoFit/>
          </a:bodyPr>
          <a:lstStyle/>
          <a:p>
            <a:r>
              <a:rPr lang="es-ES" sz="1200" b="1" dirty="0"/>
              <a:t>SAN GLOBAL</a:t>
            </a:r>
            <a:endParaRPr lang="en-US" sz="1200" b="1" dirty="0"/>
          </a:p>
        </p:txBody>
      </p:sp>
      <p:sp>
        <p:nvSpPr>
          <p:cNvPr id="418" name="Rectangle 30">
            <a:extLst>
              <a:ext uri="{FF2B5EF4-FFF2-40B4-BE49-F238E27FC236}">
                <a16:creationId xmlns:a16="http://schemas.microsoft.com/office/drawing/2014/main" id="{3C342B9B-7C5C-32CC-3E7F-EBFBAF89ED53}"/>
              </a:ext>
            </a:extLst>
          </p:cNvPr>
          <p:cNvSpPr/>
          <p:nvPr/>
        </p:nvSpPr>
        <p:spPr>
          <a:xfrm>
            <a:off x="10122112" y="2141096"/>
            <a:ext cx="721894" cy="4626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s-ES" sz="800" b="1" dirty="0">
                <a:solidFill>
                  <a:schemeClr val="tx1"/>
                </a:solidFill>
              </a:rPr>
              <a:t>ASSET </a:t>
            </a:r>
          </a:p>
          <a:p>
            <a:pPr algn="ctr"/>
            <a:r>
              <a:rPr lang="es-ES" sz="800" b="1" dirty="0">
                <a:solidFill>
                  <a:schemeClr val="tx1"/>
                </a:solidFill>
              </a:rPr>
              <a:t>CONTROL</a:t>
            </a:r>
            <a:endParaRPr lang="en-US" sz="800" b="1" dirty="0">
              <a:solidFill>
                <a:schemeClr val="tx1"/>
              </a:solidFill>
            </a:endParaRPr>
          </a:p>
        </p:txBody>
      </p:sp>
      <p:sp>
        <p:nvSpPr>
          <p:cNvPr id="419" name="Rectangle 57">
            <a:extLst>
              <a:ext uri="{FF2B5EF4-FFF2-40B4-BE49-F238E27FC236}">
                <a16:creationId xmlns:a16="http://schemas.microsoft.com/office/drawing/2014/main" id="{FB1DC2D7-1A58-D8CF-A5A3-ACBCE461D775}"/>
              </a:ext>
            </a:extLst>
          </p:cNvPr>
          <p:cNvSpPr/>
          <p:nvPr/>
        </p:nvSpPr>
        <p:spPr>
          <a:xfrm>
            <a:off x="9672335" y="74652"/>
            <a:ext cx="2445499" cy="1152140"/>
          </a:xfrm>
          <a:prstGeom prst="rect">
            <a:avLst/>
          </a:prstGeom>
          <a:solidFill>
            <a:schemeClr val="accent5">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cxnSp>
        <p:nvCxnSpPr>
          <p:cNvPr id="420" name="Straight Arrow Connector 18">
            <a:extLst>
              <a:ext uri="{FF2B5EF4-FFF2-40B4-BE49-F238E27FC236}">
                <a16:creationId xmlns:a16="http://schemas.microsoft.com/office/drawing/2014/main" id="{E3913713-73DB-4E49-93FB-B51161E6C5AE}"/>
              </a:ext>
            </a:extLst>
          </p:cNvPr>
          <p:cNvCxnSpPr>
            <a:cxnSpLocks/>
            <a:stCxn id="418" idx="1"/>
            <a:endCxn id="423" idx="3"/>
          </p:cNvCxnSpPr>
          <p:nvPr/>
        </p:nvCxnSpPr>
        <p:spPr>
          <a:xfrm flipH="1">
            <a:off x="9180642" y="2372398"/>
            <a:ext cx="941470" cy="23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1" name="Connector: Elbow 32">
            <a:extLst>
              <a:ext uri="{FF2B5EF4-FFF2-40B4-BE49-F238E27FC236}">
                <a16:creationId xmlns:a16="http://schemas.microsoft.com/office/drawing/2014/main" id="{44A29B55-49EC-3853-2DA2-0A070A861D1C}"/>
              </a:ext>
            </a:extLst>
          </p:cNvPr>
          <p:cNvCxnSpPr>
            <a:cxnSpLocks/>
            <a:stCxn id="425" idx="1"/>
            <a:endCxn id="392" idx="2"/>
          </p:cNvCxnSpPr>
          <p:nvPr/>
        </p:nvCxnSpPr>
        <p:spPr>
          <a:xfrm rot="10800000">
            <a:off x="1341409" y="2008311"/>
            <a:ext cx="3079269" cy="37208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422" name="Rectangle 49">
            <a:extLst>
              <a:ext uri="{FF2B5EF4-FFF2-40B4-BE49-F238E27FC236}">
                <a16:creationId xmlns:a16="http://schemas.microsoft.com/office/drawing/2014/main" id="{90ABA2DF-9AA9-1BA0-A978-7070242B4435}"/>
              </a:ext>
            </a:extLst>
          </p:cNvPr>
          <p:cNvSpPr/>
          <p:nvPr/>
        </p:nvSpPr>
        <p:spPr>
          <a:xfrm>
            <a:off x="7068304" y="2144455"/>
            <a:ext cx="871467" cy="526457"/>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MIA-RELAY</a:t>
            </a:r>
          </a:p>
        </p:txBody>
      </p:sp>
      <p:sp>
        <p:nvSpPr>
          <p:cNvPr id="423" name="Flowchart: Predefined Process 50">
            <a:extLst>
              <a:ext uri="{FF2B5EF4-FFF2-40B4-BE49-F238E27FC236}">
                <a16:creationId xmlns:a16="http://schemas.microsoft.com/office/drawing/2014/main" id="{3097DB6D-BFE1-CCCB-2AAB-93F954733A1E}"/>
              </a:ext>
            </a:extLst>
          </p:cNvPr>
          <p:cNvSpPr/>
          <p:nvPr/>
        </p:nvSpPr>
        <p:spPr>
          <a:xfrm>
            <a:off x="8381745" y="214109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24" name="Straight Arrow Connector 55">
            <a:extLst>
              <a:ext uri="{FF2B5EF4-FFF2-40B4-BE49-F238E27FC236}">
                <a16:creationId xmlns:a16="http://schemas.microsoft.com/office/drawing/2014/main" id="{791B2372-98F7-F054-BC80-8D28DC7B66E4}"/>
              </a:ext>
            </a:extLst>
          </p:cNvPr>
          <p:cNvCxnSpPr>
            <a:cxnSpLocks/>
            <a:stCxn id="423" idx="1"/>
          </p:cNvCxnSpPr>
          <p:nvPr/>
        </p:nvCxnSpPr>
        <p:spPr>
          <a:xfrm flipH="1" flipV="1">
            <a:off x="7940040" y="2388870"/>
            <a:ext cx="441705" cy="73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5" name="Flowchart: Predefined Process 59">
            <a:extLst>
              <a:ext uri="{FF2B5EF4-FFF2-40B4-BE49-F238E27FC236}">
                <a16:creationId xmlns:a16="http://schemas.microsoft.com/office/drawing/2014/main" id="{D2B67DCD-86C5-A218-6148-17B2CD97F1FC}"/>
              </a:ext>
            </a:extLst>
          </p:cNvPr>
          <p:cNvSpPr/>
          <p:nvPr/>
        </p:nvSpPr>
        <p:spPr>
          <a:xfrm>
            <a:off x="4420677" y="2125270"/>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26" name="Straight Arrow Connector 62">
            <a:extLst>
              <a:ext uri="{FF2B5EF4-FFF2-40B4-BE49-F238E27FC236}">
                <a16:creationId xmlns:a16="http://schemas.microsoft.com/office/drawing/2014/main" id="{046DAFA4-CF43-783E-B757-305994CEB60F}"/>
              </a:ext>
            </a:extLst>
          </p:cNvPr>
          <p:cNvCxnSpPr>
            <a:cxnSpLocks/>
            <a:stCxn id="422" idx="1"/>
            <a:endCxn id="425" idx="3"/>
          </p:cNvCxnSpPr>
          <p:nvPr/>
        </p:nvCxnSpPr>
        <p:spPr>
          <a:xfrm flipH="1" flipV="1">
            <a:off x="5219574" y="2380395"/>
            <a:ext cx="1848730" cy="272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7" name="TextBox 64">
            <a:extLst>
              <a:ext uri="{FF2B5EF4-FFF2-40B4-BE49-F238E27FC236}">
                <a16:creationId xmlns:a16="http://schemas.microsoft.com/office/drawing/2014/main" id="{E202E403-9442-32EF-F7F3-03F2545AFC1D}"/>
              </a:ext>
            </a:extLst>
          </p:cNvPr>
          <p:cNvSpPr txBox="1"/>
          <p:nvPr/>
        </p:nvSpPr>
        <p:spPr>
          <a:xfrm>
            <a:off x="5791227" y="2223017"/>
            <a:ext cx="895346" cy="338554"/>
          </a:xfrm>
          <a:prstGeom prst="rect">
            <a:avLst/>
          </a:prstGeom>
          <a:solidFill>
            <a:schemeClr val="bg1">
              <a:lumMod val="65000"/>
            </a:schemeClr>
          </a:solidFill>
        </p:spPr>
        <p:txBody>
          <a:bodyPr wrap="square" rtlCol="0">
            <a:spAutoFit/>
          </a:bodyPr>
          <a:lstStyle/>
          <a:p>
            <a:pPr algn="ctr"/>
            <a:r>
              <a:rPr lang="es-ES" sz="800" dirty="0"/>
              <a:t>UPDATE FIXING RATES</a:t>
            </a:r>
            <a:endParaRPr lang="en-US" sz="800" dirty="0"/>
          </a:p>
        </p:txBody>
      </p:sp>
      <p:sp>
        <p:nvSpPr>
          <p:cNvPr id="428" name="TextBox 66">
            <a:extLst>
              <a:ext uri="{FF2B5EF4-FFF2-40B4-BE49-F238E27FC236}">
                <a16:creationId xmlns:a16="http://schemas.microsoft.com/office/drawing/2014/main" id="{1805A895-1DD1-A9AF-E3BA-44E9D2FFC5CF}"/>
              </a:ext>
            </a:extLst>
          </p:cNvPr>
          <p:cNvSpPr txBox="1"/>
          <p:nvPr/>
        </p:nvSpPr>
        <p:spPr>
          <a:xfrm>
            <a:off x="9339256" y="2234981"/>
            <a:ext cx="706362" cy="276999"/>
          </a:xfrm>
          <a:prstGeom prst="rect">
            <a:avLst/>
          </a:prstGeom>
          <a:solidFill>
            <a:schemeClr val="bg1"/>
          </a:solidFill>
        </p:spPr>
        <p:txBody>
          <a:bodyPr wrap="square" rtlCol="0">
            <a:spAutoFit/>
          </a:bodyPr>
          <a:lstStyle/>
          <a:p>
            <a:pPr algn="ctr"/>
            <a:r>
              <a:rPr lang="es-ES" sz="600" dirty="0"/>
              <a:t>SEND FIXING RATES</a:t>
            </a:r>
          </a:p>
        </p:txBody>
      </p:sp>
      <p:sp>
        <p:nvSpPr>
          <p:cNvPr id="429" name="Oval 80">
            <a:extLst>
              <a:ext uri="{FF2B5EF4-FFF2-40B4-BE49-F238E27FC236}">
                <a16:creationId xmlns:a16="http://schemas.microsoft.com/office/drawing/2014/main" id="{40B4326A-D6D5-B924-BDF5-CB3E8FBDE0CE}"/>
              </a:ext>
            </a:extLst>
          </p:cNvPr>
          <p:cNvSpPr/>
          <p:nvPr/>
        </p:nvSpPr>
        <p:spPr>
          <a:xfrm>
            <a:off x="1711830" y="2057934"/>
            <a:ext cx="940278" cy="661869"/>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UPDATE FIXING RATES</a:t>
            </a:r>
            <a:endParaRPr lang="en-US" sz="800" dirty="0">
              <a:solidFill>
                <a:schemeClr val="tx1"/>
              </a:solidFill>
            </a:endParaRPr>
          </a:p>
        </p:txBody>
      </p:sp>
      <p:sp>
        <p:nvSpPr>
          <p:cNvPr id="430" name="Rectangle 30">
            <a:extLst>
              <a:ext uri="{FF2B5EF4-FFF2-40B4-BE49-F238E27FC236}">
                <a16:creationId xmlns:a16="http://schemas.microsoft.com/office/drawing/2014/main" id="{43E33C1A-9CF8-159E-5F14-7D3A42536168}"/>
              </a:ext>
            </a:extLst>
          </p:cNvPr>
          <p:cNvSpPr/>
          <p:nvPr/>
        </p:nvSpPr>
        <p:spPr>
          <a:xfrm>
            <a:off x="10563326" y="541136"/>
            <a:ext cx="721894" cy="4626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s-ES" sz="800" b="1" dirty="0">
              <a:solidFill>
                <a:schemeClr val="tx1"/>
              </a:solidFill>
            </a:endParaRPr>
          </a:p>
          <a:p>
            <a:pPr algn="ctr"/>
            <a:r>
              <a:rPr lang="es-ES" sz="800" b="1" dirty="0">
                <a:solidFill>
                  <a:schemeClr val="tx1"/>
                </a:solidFill>
              </a:rPr>
              <a:t>DTCC</a:t>
            </a:r>
          </a:p>
        </p:txBody>
      </p:sp>
      <p:sp>
        <p:nvSpPr>
          <p:cNvPr id="431" name="Flowchart: Predefined Process 2">
            <a:extLst>
              <a:ext uri="{FF2B5EF4-FFF2-40B4-BE49-F238E27FC236}">
                <a16:creationId xmlns:a16="http://schemas.microsoft.com/office/drawing/2014/main" id="{00488B10-BA22-9D69-8177-7F2872E5A193}"/>
              </a:ext>
            </a:extLst>
          </p:cNvPr>
          <p:cNvSpPr/>
          <p:nvPr/>
        </p:nvSpPr>
        <p:spPr>
          <a:xfrm>
            <a:off x="8387756" y="52208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32" name="Straight Arrow Connector 5">
            <a:extLst>
              <a:ext uri="{FF2B5EF4-FFF2-40B4-BE49-F238E27FC236}">
                <a16:creationId xmlns:a16="http://schemas.microsoft.com/office/drawing/2014/main" id="{52345222-AD2D-F753-EF17-704FB3145037}"/>
              </a:ext>
            </a:extLst>
          </p:cNvPr>
          <p:cNvCxnSpPr>
            <a:cxnSpLocks/>
            <a:stCxn id="431" idx="3"/>
            <a:endCxn id="430" idx="1"/>
          </p:cNvCxnSpPr>
          <p:nvPr/>
        </p:nvCxnSpPr>
        <p:spPr>
          <a:xfrm flipV="1">
            <a:off x="9186653" y="772438"/>
            <a:ext cx="1376673" cy="47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3" name="TextBox 21">
            <a:extLst>
              <a:ext uri="{FF2B5EF4-FFF2-40B4-BE49-F238E27FC236}">
                <a16:creationId xmlns:a16="http://schemas.microsoft.com/office/drawing/2014/main" id="{A87172AA-E061-7CF4-6350-B3D47ECFB977}"/>
              </a:ext>
            </a:extLst>
          </p:cNvPr>
          <p:cNvSpPr txBox="1"/>
          <p:nvPr/>
        </p:nvSpPr>
        <p:spPr>
          <a:xfrm>
            <a:off x="9288190" y="632146"/>
            <a:ext cx="706362" cy="276999"/>
          </a:xfrm>
          <a:prstGeom prst="rect">
            <a:avLst/>
          </a:prstGeom>
          <a:solidFill>
            <a:schemeClr val="bg1"/>
          </a:solidFill>
        </p:spPr>
        <p:txBody>
          <a:bodyPr wrap="square" rtlCol="0">
            <a:spAutoFit/>
          </a:bodyPr>
          <a:lstStyle/>
          <a:p>
            <a:pPr algn="ctr"/>
            <a:r>
              <a:rPr lang="es-ES" sz="600" dirty="0"/>
              <a:t>SEND THE FILE</a:t>
            </a:r>
          </a:p>
        </p:txBody>
      </p:sp>
      <p:cxnSp>
        <p:nvCxnSpPr>
          <p:cNvPr id="434" name="Connector: Elbow 41">
            <a:extLst>
              <a:ext uri="{FF2B5EF4-FFF2-40B4-BE49-F238E27FC236}">
                <a16:creationId xmlns:a16="http://schemas.microsoft.com/office/drawing/2014/main" id="{977FB901-32C8-DB02-0A29-8532929D60FE}"/>
              </a:ext>
            </a:extLst>
          </p:cNvPr>
          <p:cNvCxnSpPr>
            <a:cxnSpLocks/>
            <a:stCxn id="422" idx="0"/>
            <a:endCxn id="431" idx="1"/>
          </p:cNvCxnSpPr>
          <p:nvPr/>
        </p:nvCxnSpPr>
        <p:spPr>
          <a:xfrm rot="5400000" flipH="1" flipV="1">
            <a:off x="7262275" y="1018974"/>
            <a:ext cx="1367244" cy="883718"/>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5" name="Oval 42">
            <a:extLst>
              <a:ext uri="{FF2B5EF4-FFF2-40B4-BE49-F238E27FC236}">
                <a16:creationId xmlns:a16="http://schemas.microsoft.com/office/drawing/2014/main" id="{EEACFA20-FF1E-4238-ED0A-181011A5184E}"/>
              </a:ext>
            </a:extLst>
          </p:cNvPr>
          <p:cNvSpPr/>
          <p:nvPr/>
        </p:nvSpPr>
        <p:spPr>
          <a:xfrm>
            <a:off x="1711830" y="458787"/>
            <a:ext cx="940278" cy="661869"/>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600" dirty="0">
                <a:solidFill>
                  <a:schemeClr val="tx1"/>
                </a:solidFill>
              </a:rPr>
              <a:t>GENERATE AND SEND FILE</a:t>
            </a:r>
            <a:endParaRPr lang="en-US" sz="600" dirty="0">
              <a:solidFill>
                <a:schemeClr val="tx1"/>
              </a:solidFill>
            </a:endParaRPr>
          </a:p>
        </p:txBody>
      </p:sp>
      <p:cxnSp>
        <p:nvCxnSpPr>
          <p:cNvPr id="436" name="Connector: Elbow 45">
            <a:extLst>
              <a:ext uri="{FF2B5EF4-FFF2-40B4-BE49-F238E27FC236}">
                <a16:creationId xmlns:a16="http://schemas.microsoft.com/office/drawing/2014/main" id="{D287F31E-FD85-F801-914D-366842FC5D56}"/>
              </a:ext>
            </a:extLst>
          </p:cNvPr>
          <p:cNvCxnSpPr>
            <a:stCxn id="392" idx="0"/>
            <a:endCxn id="435" idx="2"/>
          </p:cNvCxnSpPr>
          <p:nvPr/>
        </p:nvCxnSpPr>
        <p:spPr>
          <a:xfrm rot="5400000" flipH="1" flipV="1">
            <a:off x="1226155" y="904976"/>
            <a:ext cx="600929" cy="370422"/>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7" name="Flowchart: Predefined Process 46">
            <a:extLst>
              <a:ext uri="{FF2B5EF4-FFF2-40B4-BE49-F238E27FC236}">
                <a16:creationId xmlns:a16="http://schemas.microsoft.com/office/drawing/2014/main" id="{4DB9E0E3-378D-887F-BC05-3BABE3CCE147}"/>
              </a:ext>
            </a:extLst>
          </p:cNvPr>
          <p:cNvSpPr/>
          <p:nvPr/>
        </p:nvSpPr>
        <p:spPr>
          <a:xfrm>
            <a:off x="4420677" y="53459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38" name="Straight Arrow Connector 52">
            <a:extLst>
              <a:ext uri="{FF2B5EF4-FFF2-40B4-BE49-F238E27FC236}">
                <a16:creationId xmlns:a16="http://schemas.microsoft.com/office/drawing/2014/main" id="{BE42FA34-6E6D-8DDD-2968-BA63D6A14841}"/>
              </a:ext>
            </a:extLst>
          </p:cNvPr>
          <p:cNvCxnSpPr>
            <a:stCxn id="435" idx="6"/>
            <a:endCxn id="437" idx="1"/>
          </p:cNvCxnSpPr>
          <p:nvPr/>
        </p:nvCxnSpPr>
        <p:spPr>
          <a:xfrm flipV="1">
            <a:off x="2652108" y="789721"/>
            <a:ext cx="1768569"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9" name="Connector: Elbow 60">
            <a:extLst>
              <a:ext uri="{FF2B5EF4-FFF2-40B4-BE49-F238E27FC236}">
                <a16:creationId xmlns:a16="http://schemas.microsoft.com/office/drawing/2014/main" id="{7369DF5E-5AA2-7DE0-39B5-4F88C1216566}"/>
              </a:ext>
            </a:extLst>
          </p:cNvPr>
          <p:cNvCxnSpPr>
            <a:cxnSpLocks/>
            <a:stCxn id="437" idx="3"/>
          </p:cNvCxnSpPr>
          <p:nvPr/>
        </p:nvCxnSpPr>
        <p:spPr>
          <a:xfrm>
            <a:off x="5219574" y="789721"/>
            <a:ext cx="2134079" cy="1346832"/>
          </a:xfrm>
          <a:prstGeom prst="bentConnector3">
            <a:avLst>
              <a:gd name="adj1" fmla="val 9998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0" name="TextBox 65">
            <a:extLst>
              <a:ext uri="{FF2B5EF4-FFF2-40B4-BE49-F238E27FC236}">
                <a16:creationId xmlns:a16="http://schemas.microsoft.com/office/drawing/2014/main" id="{691DE506-D482-466F-A0C8-748BEF0C9E3F}"/>
              </a:ext>
            </a:extLst>
          </p:cNvPr>
          <p:cNvSpPr txBox="1"/>
          <p:nvPr/>
        </p:nvSpPr>
        <p:spPr>
          <a:xfrm>
            <a:off x="5828692" y="635831"/>
            <a:ext cx="1122535" cy="276999"/>
          </a:xfrm>
          <a:prstGeom prst="rect">
            <a:avLst/>
          </a:prstGeom>
          <a:solidFill>
            <a:schemeClr val="bg1">
              <a:lumMod val="65000"/>
            </a:schemeClr>
          </a:solidFill>
        </p:spPr>
        <p:txBody>
          <a:bodyPr wrap="square" rtlCol="0">
            <a:spAutoFit/>
          </a:bodyPr>
          <a:lstStyle/>
          <a:p>
            <a:pPr algn="ctr"/>
            <a:r>
              <a:rPr lang="es-ES" sz="600" dirty="0"/>
              <a:t>GENERATE AND SEND THE FILE</a:t>
            </a:r>
            <a:endParaRPr lang="en-US" sz="600" dirty="0"/>
          </a:p>
        </p:txBody>
      </p:sp>
      <p:sp>
        <p:nvSpPr>
          <p:cNvPr id="441" name="TextBox 75">
            <a:extLst>
              <a:ext uri="{FF2B5EF4-FFF2-40B4-BE49-F238E27FC236}">
                <a16:creationId xmlns:a16="http://schemas.microsoft.com/office/drawing/2014/main" id="{5FDDE882-804E-18F6-F37C-C720CF1571F3}"/>
              </a:ext>
            </a:extLst>
          </p:cNvPr>
          <p:cNvSpPr txBox="1"/>
          <p:nvPr/>
        </p:nvSpPr>
        <p:spPr>
          <a:xfrm>
            <a:off x="74165" y="6131820"/>
            <a:ext cx="4628235" cy="615553"/>
          </a:xfrm>
          <a:prstGeom prst="rect">
            <a:avLst/>
          </a:prstGeom>
          <a:solidFill>
            <a:schemeClr val="bg2"/>
          </a:solidFill>
        </p:spPr>
        <p:txBody>
          <a:bodyPr wrap="square" rtlCol="0">
            <a:spAutoFit/>
          </a:bodyPr>
          <a:lstStyle/>
          <a:p>
            <a:pPr marL="228600" indent="-228600">
              <a:buFont typeface="+mj-lt"/>
              <a:buAutoNum type="arabicPeriod"/>
            </a:pPr>
            <a:r>
              <a:rPr lang="es-ES" sz="850" b="1" dirty="0"/>
              <a:t>ASSET CONTROL</a:t>
            </a:r>
            <a:r>
              <a:rPr lang="es-ES" sz="850" dirty="0"/>
              <a:t> generates the fixing rates file </a:t>
            </a:r>
          </a:p>
          <a:p>
            <a:pPr marL="228600" indent="-228600">
              <a:buFont typeface="+mj-lt"/>
              <a:buAutoNum type="arabicPeriod"/>
            </a:pPr>
            <a:r>
              <a:rPr lang="es-ES" sz="850" dirty="0"/>
              <a:t>Asset Control places the fixing rates file in MIA-RELAY using SFTP</a:t>
            </a:r>
          </a:p>
          <a:p>
            <a:pPr marL="228600" indent="-228600">
              <a:buFont typeface="+mj-lt"/>
              <a:buAutoNum type="arabicPeriod"/>
            </a:pPr>
            <a:r>
              <a:rPr lang="es-ES" sz="850" dirty="0"/>
              <a:t>T24 connect to MIA-RELAY by SFTP and downloads the fixing rates file </a:t>
            </a:r>
          </a:p>
          <a:p>
            <a:pPr marL="228600" indent="-228600">
              <a:buFont typeface="+mj-lt"/>
              <a:buAutoNum type="arabicPeriod"/>
            </a:pPr>
            <a:r>
              <a:rPr lang="es-ES" sz="850" dirty="0"/>
              <a:t>T24 process the fixing rates file and update the rates in the ND.DEAL’s</a:t>
            </a:r>
          </a:p>
        </p:txBody>
      </p:sp>
      <p:sp>
        <p:nvSpPr>
          <p:cNvPr id="442" name="TextBox 78">
            <a:extLst>
              <a:ext uri="{FF2B5EF4-FFF2-40B4-BE49-F238E27FC236}">
                <a16:creationId xmlns:a16="http://schemas.microsoft.com/office/drawing/2014/main" id="{B6DA91D1-388E-0348-32A6-DC401CD03DEE}"/>
              </a:ext>
            </a:extLst>
          </p:cNvPr>
          <p:cNvSpPr txBox="1"/>
          <p:nvPr/>
        </p:nvSpPr>
        <p:spPr>
          <a:xfrm>
            <a:off x="4997452" y="6262834"/>
            <a:ext cx="2771706" cy="484748"/>
          </a:xfrm>
          <a:prstGeom prst="rect">
            <a:avLst/>
          </a:prstGeom>
          <a:solidFill>
            <a:schemeClr val="bg2"/>
          </a:solidFill>
        </p:spPr>
        <p:txBody>
          <a:bodyPr wrap="square" rtlCol="0">
            <a:spAutoFit/>
          </a:bodyPr>
          <a:lstStyle/>
          <a:p>
            <a:pPr marL="228600" indent="-228600">
              <a:buFont typeface="+mj-lt"/>
              <a:buAutoNum type="arabicPeriod"/>
            </a:pPr>
            <a:r>
              <a:rPr lang="es-ES" sz="850" b="1" dirty="0"/>
              <a:t>T24 </a:t>
            </a:r>
            <a:r>
              <a:rPr lang="es-ES" sz="850" dirty="0"/>
              <a:t>generates the file. </a:t>
            </a:r>
          </a:p>
          <a:p>
            <a:pPr marL="228600" indent="-228600">
              <a:buFont typeface="+mj-lt"/>
              <a:buAutoNum type="arabicPeriod"/>
            </a:pPr>
            <a:r>
              <a:rPr lang="es-ES" sz="850" dirty="0"/>
              <a:t>T24 places the file in MIA-RELAY using SFTP</a:t>
            </a:r>
          </a:p>
          <a:p>
            <a:pPr marL="228600" indent="-228600">
              <a:buFont typeface="+mj-lt"/>
              <a:buAutoNum type="arabicPeriod"/>
            </a:pPr>
            <a:r>
              <a:rPr lang="es-ES" sz="850" dirty="0"/>
              <a:t>MIA-RELAY send the file to DTCC by SFTP</a:t>
            </a:r>
          </a:p>
        </p:txBody>
      </p:sp>
      <p:sp>
        <p:nvSpPr>
          <p:cNvPr id="443" name="Rectángulo: esquinas redondeadas 155">
            <a:extLst>
              <a:ext uri="{FF2B5EF4-FFF2-40B4-BE49-F238E27FC236}">
                <a16:creationId xmlns:a16="http://schemas.microsoft.com/office/drawing/2014/main" id="{1B02ECEB-6416-DFBD-C4EF-C9AC7B912D13}"/>
              </a:ext>
            </a:extLst>
          </p:cNvPr>
          <p:cNvSpPr/>
          <p:nvPr/>
        </p:nvSpPr>
        <p:spPr>
          <a:xfrm>
            <a:off x="74165" y="5171242"/>
            <a:ext cx="1260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000" b="1" i="0" u="none" strike="noStrike" kern="0" cap="none" spc="0" normalizeH="0" baseline="0" noProof="0" dirty="0">
                <a:ln>
                  <a:noFill/>
                </a:ln>
                <a:solidFill>
                  <a:schemeClr val="bg1"/>
                </a:solidFill>
                <a:effectLst/>
                <a:uLnTx/>
                <a:uFillTx/>
                <a:latin typeface="Santander Headline" panose="020B0504020201020104"/>
                <a:ea typeface="+mn-ea"/>
                <a:cs typeface="+mn-cs"/>
              </a:rPr>
              <a:t>T24 / Murex</a:t>
            </a:r>
          </a:p>
        </p:txBody>
      </p:sp>
      <p:sp>
        <p:nvSpPr>
          <p:cNvPr id="444" name="Rectángulo: esquinas redondeadas 155">
            <a:extLst>
              <a:ext uri="{FF2B5EF4-FFF2-40B4-BE49-F238E27FC236}">
                <a16:creationId xmlns:a16="http://schemas.microsoft.com/office/drawing/2014/main" id="{85BF6256-ADFD-21CA-B81A-C360D5B70581}"/>
              </a:ext>
            </a:extLst>
          </p:cNvPr>
          <p:cNvSpPr/>
          <p:nvPr/>
        </p:nvSpPr>
        <p:spPr>
          <a:xfrm>
            <a:off x="74165" y="6040282"/>
            <a:ext cx="1260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000" b="1" i="0" u="none" strike="noStrike" kern="0" cap="none" spc="0" normalizeH="0" baseline="0" noProof="0" dirty="0">
                <a:ln>
                  <a:noFill/>
                </a:ln>
                <a:solidFill>
                  <a:schemeClr val="bg1"/>
                </a:solidFill>
                <a:effectLst/>
                <a:uLnTx/>
                <a:uFillTx/>
                <a:latin typeface="Santander Headline" panose="020B0504020201020104"/>
                <a:ea typeface="+mn-ea"/>
                <a:cs typeface="+mn-cs"/>
              </a:rPr>
              <a:t>Asset control / T24</a:t>
            </a:r>
          </a:p>
        </p:txBody>
      </p:sp>
      <p:sp>
        <p:nvSpPr>
          <p:cNvPr id="445" name="Rectángulo: esquinas redondeadas 155">
            <a:extLst>
              <a:ext uri="{FF2B5EF4-FFF2-40B4-BE49-F238E27FC236}">
                <a16:creationId xmlns:a16="http://schemas.microsoft.com/office/drawing/2014/main" id="{BDBC4AD1-34D1-6782-4169-BFC615A6B4C2}"/>
              </a:ext>
            </a:extLst>
          </p:cNvPr>
          <p:cNvSpPr/>
          <p:nvPr/>
        </p:nvSpPr>
        <p:spPr>
          <a:xfrm>
            <a:off x="5013093" y="6145383"/>
            <a:ext cx="1152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000" b="1" i="0" u="none" strike="noStrike" kern="0" cap="none" spc="0" normalizeH="0" baseline="0" noProof="0" dirty="0">
                <a:ln>
                  <a:noFill/>
                </a:ln>
                <a:solidFill>
                  <a:schemeClr val="bg1"/>
                </a:solidFill>
                <a:effectLst/>
                <a:uLnTx/>
                <a:uFillTx/>
                <a:latin typeface="Santander Headline" panose="020B0504020201020104"/>
                <a:ea typeface="+mn-ea"/>
                <a:cs typeface="+mn-cs"/>
              </a:rPr>
              <a:t>T24 / DTCC</a:t>
            </a:r>
          </a:p>
        </p:txBody>
      </p:sp>
      <p:sp>
        <p:nvSpPr>
          <p:cNvPr id="446" name="Rectángulo 445">
            <a:extLst>
              <a:ext uri="{FF2B5EF4-FFF2-40B4-BE49-F238E27FC236}">
                <a16:creationId xmlns:a16="http://schemas.microsoft.com/office/drawing/2014/main" id="{DDA48D7C-5928-A0DD-B5E6-7355D6DBC01C}"/>
              </a:ext>
            </a:extLst>
          </p:cNvPr>
          <p:cNvSpPr/>
          <p:nvPr/>
        </p:nvSpPr>
        <p:spPr>
          <a:xfrm>
            <a:off x="8313910" y="5404252"/>
            <a:ext cx="3495207" cy="125272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TECHNICAL SOLUTION</a:t>
            </a:r>
          </a:p>
        </p:txBody>
      </p:sp>
    </p:spTree>
    <p:extLst>
      <p:ext uri="{BB962C8B-B14F-4D97-AF65-F5344CB8AC3E}">
        <p14:creationId xmlns:p14="http://schemas.microsoft.com/office/powerpoint/2010/main" val="1187473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1791A8-115E-7CC7-55C5-F2DB2F2ADC4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Technologies </a:t>
            </a:r>
          </a:p>
          <a:p>
            <a:pPr>
              <a:lnSpc>
                <a:spcPct val="107000"/>
              </a:lnSpc>
            </a:pPr>
            <a:r>
              <a:rPr lang="en-US" sz="1400" i="1" dirty="0">
                <a:solidFill>
                  <a:schemeClr val="bg1">
                    <a:lumMod val="65000"/>
                  </a:schemeClr>
                </a:solidFill>
              </a:rPr>
              <a:t>List of new technologies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27</a:t>
            </a:fld>
            <a:endParaRPr lang="es-ES" dirty="0"/>
          </a:p>
        </p:txBody>
      </p:sp>
      <p:sp>
        <p:nvSpPr>
          <p:cNvPr id="5" name="Título 1">
            <a:extLst>
              <a:ext uri="{FF2B5EF4-FFF2-40B4-BE49-F238E27FC236}">
                <a16:creationId xmlns:a16="http://schemas.microsoft.com/office/drawing/2014/main" id="{F3DFF98B-10DF-D83B-B3BC-7837BE2AA842}"/>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2.12 New Technologies</a:t>
            </a:r>
          </a:p>
        </p:txBody>
      </p:sp>
      <p:sp>
        <p:nvSpPr>
          <p:cNvPr id="3" name="Marcador de texto 5">
            <a:extLst>
              <a:ext uri="{FF2B5EF4-FFF2-40B4-BE49-F238E27FC236}">
                <a16:creationId xmlns:a16="http://schemas.microsoft.com/office/drawing/2014/main" id="{27C10E3D-480F-66D2-D262-4BF0CDCB3D4D}"/>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DE9C089F-7E89-B28F-0E62-5A28FAD5DF1B}"/>
              </a:ext>
            </a:extLst>
          </p:cNvPr>
          <p:cNvGraphicFramePr>
            <a:graphicFrameLocks noGrp="1"/>
          </p:cNvGraphicFramePr>
          <p:nvPr>
            <p:extLst>
              <p:ext uri="{D42A27DB-BD31-4B8C-83A1-F6EECF244321}">
                <p14:modId xmlns:p14="http://schemas.microsoft.com/office/powerpoint/2010/main" val="2563057368"/>
              </p:ext>
            </p:extLst>
          </p:nvPr>
        </p:nvGraphicFramePr>
        <p:xfrm>
          <a:off x="560492" y="1633108"/>
          <a:ext cx="11303859" cy="1250594"/>
        </p:xfrm>
        <a:graphic>
          <a:graphicData uri="http://schemas.openxmlformats.org/drawingml/2006/table">
            <a:tbl>
              <a:tblPr firstRow="1" bandRow="1">
                <a:tableStyleId>{6E25E649-3F16-4E02-A733-19D2CDBF48F0}</a:tableStyleId>
              </a:tblPr>
              <a:tblGrid>
                <a:gridCol w="1299978">
                  <a:extLst>
                    <a:ext uri="{9D8B030D-6E8A-4147-A177-3AD203B41FA5}">
                      <a16:colId xmlns:a16="http://schemas.microsoft.com/office/drawing/2014/main" val="20000"/>
                    </a:ext>
                  </a:extLst>
                </a:gridCol>
                <a:gridCol w="1410559">
                  <a:extLst>
                    <a:ext uri="{9D8B030D-6E8A-4147-A177-3AD203B41FA5}">
                      <a16:colId xmlns:a16="http://schemas.microsoft.com/office/drawing/2014/main" val="20001"/>
                    </a:ext>
                  </a:extLst>
                </a:gridCol>
                <a:gridCol w="1301121">
                  <a:extLst>
                    <a:ext uri="{9D8B030D-6E8A-4147-A177-3AD203B41FA5}">
                      <a16:colId xmlns:a16="http://schemas.microsoft.com/office/drawing/2014/main" val="430494360"/>
                    </a:ext>
                  </a:extLst>
                </a:gridCol>
                <a:gridCol w="1301121">
                  <a:extLst>
                    <a:ext uri="{9D8B030D-6E8A-4147-A177-3AD203B41FA5}">
                      <a16:colId xmlns:a16="http://schemas.microsoft.com/office/drawing/2014/main" val="525784185"/>
                    </a:ext>
                  </a:extLst>
                </a:gridCol>
                <a:gridCol w="1301121">
                  <a:extLst>
                    <a:ext uri="{9D8B030D-6E8A-4147-A177-3AD203B41FA5}">
                      <a16:colId xmlns:a16="http://schemas.microsoft.com/office/drawing/2014/main" val="20002"/>
                    </a:ext>
                  </a:extLst>
                </a:gridCol>
                <a:gridCol w="1374081">
                  <a:extLst>
                    <a:ext uri="{9D8B030D-6E8A-4147-A177-3AD203B41FA5}">
                      <a16:colId xmlns:a16="http://schemas.microsoft.com/office/drawing/2014/main" val="20003"/>
                    </a:ext>
                  </a:extLst>
                </a:gridCol>
                <a:gridCol w="1134690">
                  <a:extLst>
                    <a:ext uri="{9D8B030D-6E8A-4147-A177-3AD203B41FA5}">
                      <a16:colId xmlns:a16="http://schemas.microsoft.com/office/drawing/2014/main" val="20004"/>
                    </a:ext>
                  </a:extLst>
                </a:gridCol>
                <a:gridCol w="1090594">
                  <a:extLst>
                    <a:ext uri="{9D8B030D-6E8A-4147-A177-3AD203B41FA5}">
                      <a16:colId xmlns:a16="http://schemas.microsoft.com/office/drawing/2014/main" val="20005"/>
                    </a:ext>
                  </a:extLst>
                </a:gridCol>
                <a:gridCol w="1090594">
                  <a:extLst>
                    <a:ext uri="{9D8B030D-6E8A-4147-A177-3AD203B41FA5}">
                      <a16:colId xmlns:a16="http://schemas.microsoft.com/office/drawing/2014/main" val="1023174234"/>
                    </a:ext>
                  </a:extLst>
                </a:gridCol>
              </a:tblGrid>
              <a:tr h="308428">
                <a:tc>
                  <a:txBody>
                    <a:bodyPr/>
                    <a:lstStyle/>
                    <a:p>
                      <a:pPr algn="ctr"/>
                      <a:r>
                        <a:rPr lang="en-US" sz="900" dirty="0"/>
                        <a:t>Solution</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aseline="0" dirty="0"/>
                        <a:t>Vendor</a:t>
                      </a:r>
                      <a:endParaRPr lang="en-US" sz="9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Version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Subdomain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baseline="0" dirty="0">
                          <a:solidFill>
                            <a:schemeClr val="lt1"/>
                          </a:solidFill>
                          <a:latin typeface="+mn-lt"/>
                          <a:ea typeface="+mn-ea"/>
                          <a:cs typeface="+mn-cs"/>
                        </a:rPr>
                        <a:t>Deployment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Service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Entities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OHE / AWS / </a:t>
                      </a:r>
                    </a:p>
                    <a:p>
                      <a:pPr algn="ctr"/>
                      <a:r>
                        <a:rPr lang="en-US" sz="800" dirty="0">
                          <a:solidFill>
                            <a:schemeClr val="bg1">
                              <a:lumMod val="50000"/>
                            </a:schemeClr>
                          </a:solidFill>
                        </a:rPr>
                        <a:t>AZURE / Other Cloud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On-Premises / SaaS / IaaS / PaaS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SBNA / SCUSA / BSNY-SIS / 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6056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0ED894-BE61-FDAC-4BF7-0B6C844FBF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Public Cloud Native Services in Santander Landing Zone</a:t>
            </a:r>
          </a:p>
          <a:p>
            <a:pPr>
              <a:lnSpc>
                <a:spcPct val="107000"/>
              </a:lnSpc>
            </a:pPr>
            <a:r>
              <a:rPr lang="en-US" sz="1400" i="1" dirty="0">
                <a:solidFill>
                  <a:schemeClr val="bg1">
                    <a:lumMod val="65000"/>
                  </a:schemeClr>
                </a:solidFill>
              </a:rPr>
              <a:t>List of new Public Cloud 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28</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366480692"/>
              </p:ext>
            </p:extLst>
          </p:nvPr>
        </p:nvGraphicFramePr>
        <p:xfrm>
          <a:off x="638777" y="1625319"/>
          <a:ext cx="9402038" cy="2163860"/>
        </p:xfrm>
        <a:graphic>
          <a:graphicData uri="http://schemas.openxmlformats.org/drawingml/2006/table">
            <a:tbl>
              <a:tblPr firstRow="1" bandRow="1">
                <a:tableStyleId>{6E25E649-3F16-4E02-A733-19D2CDBF48F0}</a:tableStyleId>
              </a:tblPr>
              <a:tblGrid>
                <a:gridCol w="1102100">
                  <a:extLst>
                    <a:ext uri="{9D8B030D-6E8A-4147-A177-3AD203B41FA5}">
                      <a16:colId xmlns:a16="http://schemas.microsoft.com/office/drawing/2014/main" val="20000"/>
                    </a:ext>
                  </a:extLst>
                </a:gridCol>
                <a:gridCol w="1696915">
                  <a:extLst>
                    <a:ext uri="{9D8B030D-6E8A-4147-A177-3AD203B41FA5}">
                      <a16:colId xmlns:a16="http://schemas.microsoft.com/office/drawing/2014/main" val="3641263469"/>
                    </a:ext>
                  </a:extLst>
                </a:gridCol>
                <a:gridCol w="1828800">
                  <a:extLst>
                    <a:ext uri="{9D8B030D-6E8A-4147-A177-3AD203B41FA5}">
                      <a16:colId xmlns:a16="http://schemas.microsoft.com/office/drawing/2014/main" val="1555636232"/>
                    </a:ext>
                  </a:extLst>
                </a:gridCol>
                <a:gridCol w="2699239">
                  <a:extLst>
                    <a:ext uri="{9D8B030D-6E8A-4147-A177-3AD203B41FA5}">
                      <a16:colId xmlns:a16="http://schemas.microsoft.com/office/drawing/2014/main" val="20001"/>
                    </a:ext>
                  </a:extLst>
                </a:gridCol>
                <a:gridCol w="1037492">
                  <a:extLst>
                    <a:ext uri="{9D8B030D-6E8A-4147-A177-3AD203B41FA5}">
                      <a16:colId xmlns:a16="http://schemas.microsoft.com/office/drawing/2014/main" val="20002"/>
                    </a:ext>
                  </a:extLst>
                </a:gridCol>
                <a:gridCol w="1037492">
                  <a:extLst>
                    <a:ext uri="{9D8B030D-6E8A-4147-A177-3AD203B41FA5}">
                      <a16:colId xmlns:a16="http://schemas.microsoft.com/office/drawing/2014/main" val="20003"/>
                    </a:ext>
                  </a:extLst>
                </a:gridCol>
              </a:tblGrid>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Public Cloud </a:t>
                      </a:r>
                    </a:p>
                    <a:p>
                      <a:pPr algn="ctr" rtl="0" fontAlgn="ctr"/>
                      <a:r>
                        <a:rPr lang="en-US" sz="1100" u="none" strike="noStrike" dirty="0">
                          <a:solidFill>
                            <a:schemeClr val="bg1"/>
                          </a:solidFill>
                          <a:effectLst/>
                          <a:latin typeface="+mn-lt"/>
                        </a:rPr>
                        <a:t>Provider</a:t>
                      </a:r>
                      <a:endParaRPr lang="en-US" sz="1100" b="1" i="0" u="none" strike="noStrike" dirty="0">
                        <a:solidFill>
                          <a:schemeClr val="bg1"/>
                        </a:solidFill>
                        <a:effectLst/>
                        <a:latin typeface="+mn-lt"/>
                      </a:endParaRPr>
                    </a:p>
                  </a:txBody>
                  <a:tcPr marL="7144" marR="7144" marT="7144" marB="0" anchor="ctr">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Component Name*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Technical Information (Resource Type**)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Description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Service Classification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Technology</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5169014"/>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20700446"/>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85722317"/>
                  </a:ext>
                </a:extLst>
              </a:tr>
            </a:tbl>
          </a:graphicData>
        </a:graphic>
      </p:graphicFrame>
      <p:sp>
        <p:nvSpPr>
          <p:cNvPr id="5" name="Título 1">
            <a:extLst>
              <a:ext uri="{FF2B5EF4-FFF2-40B4-BE49-F238E27FC236}">
                <a16:creationId xmlns:a16="http://schemas.microsoft.com/office/drawing/2014/main" id="{2F195598-7645-D921-C669-2704EA5BA40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2.13 Public Cloud Native Services in Santander Landing Zone</a:t>
            </a:r>
          </a:p>
        </p:txBody>
      </p:sp>
      <p:sp>
        <p:nvSpPr>
          <p:cNvPr id="4" name="Marcador de texto 5">
            <a:extLst>
              <a:ext uri="{FF2B5EF4-FFF2-40B4-BE49-F238E27FC236}">
                <a16:creationId xmlns:a16="http://schemas.microsoft.com/office/drawing/2014/main" id="{438CBA4E-9BF7-54A3-9FF8-2D17340F16A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7" name="TextBox 6">
            <a:extLst>
              <a:ext uri="{FF2B5EF4-FFF2-40B4-BE49-F238E27FC236}">
                <a16:creationId xmlns:a16="http://schemas.microsoft.com/office/drawing/2014/main" id="{465408AD-95BE-E8CB-FD75-932556774223}"/>
              </a:ext>
            </a:extLst>
          </p:cNvPr>
          <p:cNvSpPr txBox="1"/>
          <p:nvPr/>
        </p:nvSpPr>
        <p:spPr>
          <a:xfrm>
            <a:off x="638779" y="5987820"/>
            <a:ext cx="9964743" cy="3693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Cloud Services</a:t>
            </a:r>
            <a:r>
              <a:rPr lang="en-US" sz="900" dirty="0"/>
              <a:t> </a:t>
            </a:r>
            <a:r>
              <a:rPr lang="en-US" sz="900" b="0" i="0" u="sng" strike="noStrike" dirty="0">
                <a:solidFill>
                  <a:srgbClr val="0563C1"/>
                </a:solidFill>
                <a:effectLst/>
                <a:latin typeface="Calibri" panose="020F0502020204030204" pitchFamily="34" charset="0"/>
                <a:hlinkClick r:id="rId2"/>
              </a:rPr>
              <a:t>https://aws.amazon.com/products/?aws-products-all.sort-by=item.additionalFields.productNameLowercase&amp;aws-products-all.sort-order=asc&amp;awsf.re%3AInvent=*all&amp;awsf.Free%20Tier%20Type=*all&amp;awsf.tech-category=*all</a:t>
            </a:r>
            <a:endParaRPr lang="en-US" sz="900" dirty="0"/>
          </a:p>
        </p:txBody>
      </p:sp>
      <p:sp>
        <p:nvSpPr>
          <p:cNvPr id="8" name="TextBox 7">
            <a:extLst>
              <a:ext uri="{FF2B5EF4-FFF2-40B4-BE49-F238E27FC236}">
                <a16:creationId xmlns:a16="http://schemas.microsoft.com/office/drawing/2014/main" id="{1097B559-5077-BE96-C329-C134E64AE064}"/>
              </a:ext>
            </a:extLst>
          </p:cNvPr>
          <p:cNvSpPr txBox="1"/>
          <p:nvPr/>
        </p:nvSpPr>
        <p:spPr>
          <a:xfrm>
            <a:off x="638779" y="6441740"/>
            <a:ext cx="9964743" cy="2308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a:t>
            </a:r>
            <a:r>
              <a:rPr lang="en-US" sz="900" b="1" i="0" u="none" strike="noStrike" dirty="0">
                <a:solidFill>
                  <a:srgbClr val="000000"/>
                </a:solidFill>
                <a:effectLst/>
                <a:latin typeface="Calibri" panose="020F0502020204030204" pitchFamily="34" charset="0"/>
              </a:rPr>
              <a:t>Resource Type</a:t>
            </a:r>
            <a:r>
              <a:rPr lang="en-US" sz="900" b="1" dirty="0"/>
              <a:t> </a:t>
            </a:r>
            <a:r>
              <a:rPr lang="en-US" sz="900" b="0" i="0" u="sng" strike="noStrike" dirty="0">
                <a:solidFill>
                  <a:srgbClr val="0563C1"/>
                </a:solidFill>
                <a:effectLst/>
                <a:latin typeface="Calibri" panose="020F0502020204030204" pitchFamily="34" charset="0"/>
                <a:hlinkClick r:id="rId3"/>
              </a:rPr>
              <a:t>https://docs.aws.amazon.com/config/latest/developerguide/resource-config-reference.html</a:t>
            </a:r>
            <a:endParaRPr lang="en-US" sz="900" dirty="0"/>
          </a:p>
        </p:txBody>
      </p:sp>
    </p:spTree>
    <p:extLst>
      <p:ext uri="{BB962C8B-B14F-4D97-AF65-F5344CB8AC3E}">
        <p14:creationId xmlns:p14="http://schemas.microsoft.com/office/powerpoint/2010/main" val="8330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03</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Process Design</a:t>
            </a:r>
          </a:p>
        </p:txBody>
      </p:sp>
    </p:spTree>
    <p:extLst>
      <p:ext uri="{BB962C8B-B14F-4D97-AF65-F5344CB8AC3E}">
        <p14:creationId xmlns:p14="http://schemas.microsoft.com/office/powerpoint/2010/main" val="412468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a:xfrm>
            <a:off x="8730845" y="5068777"/>
            <a:ext cx="2743200" cy="365125"/>
          </a:xfrm>
        </p:spPr>
        <p:txBody>
          <a:bodyPr/>
          <a:lstStyle/>
          <a:p>
            <a:fld id="{BC0D97B6-E32F-4D7D-B839-7C3B51F2640F}" type="slidenum">
              <a:rPr lang="es-ES" smtClean="0"/>
              <a:pPr/>
              <a:t>30</a:t>
            </a:fld>
            <a:endParaRPr lang="es-ES" dirty="0"/>
          </a:p>
        </p:txBody>
      </p:sp>
      <p:sp>
        <p:nvSpPr>
          <p:cNvPr id="8" name="Rectangle 7"/>
          <p:cNvSpPr/>
          <p:nvPr/>
        </p:nvSpPr>
        <p:spPr>
          <a:xfrm>
            <a:off x="476835" y="543158"/>
            <a:ext cx="11219866" cy="5213597"/>
          </a:xfrm>
          <a:prstGeom prst="rect">
            <a:avLst/>
          </a:prstGeom>
        </p:spPr>
        <p:txBody>
          <a:bodyPr wrap="square">
            <a:noAutofit/>
          </a:bodyPr>
          <a:lstStyle/>
          <a:p>
            <a:r>
              <a:rPr lang="en-US" sz="1200" i="1" dirty="0">
                <a:solidFill>
                  <a:schemeClr val="bg1">
                    <a:lumMod val="65000"/>
                  </a:schemeClr>
                </a:solidFill>
              </a:rPr>
              <a:t>Describes the processes of the solution in a more detailed level, the specific design principles that need to be followed, the lifecycle, and the description of the process from start to finish including: process design, phases, functional events, tasks, components, participants, necessary tools, key metrics, manual interventions, and exceptions. </a:t>
            </a:r>
          </a:p>
          <a:p>
            <a:r>
              <a:rPr lang="en-US" sz="1200" i="1" dirty="0">
                <a:solidFill>
                  <a:schemeClr val="bg1">
                    <a:lumMod val="65000"/>
                  </a:schemeClr>
                </a:solidFill>
              </a:rPr>
              <a:t>Provides a brief description based on goals, timeline, and priority:</a:t>
            </a:r>
          </a:p>
          <a:p>
            <a:pPr marL="285750" indent="-285750">
              <a:buFont typeface="Arial" panose="020B0604020202020204" pitchFamily="34" charset="0"/>
              <a:buChar char="•"/>
            </a:pPr>
            <a:r>
              <a:rPr lang="en-US" sz="1200" i="1" dirty="0">
                <a:solidFill>
                  <a:schemeClr val="bg1">
                    <a:lumMod val="65000"/>
                  </a:schemeClr>
                </a:solidFill>
              </a:rPr>
              <a:t>Key objectives: Consider what key performance indicators or business objectives your process is trying to achieve.</a:t>
            </a:r>
          </a:p>
          <a:p>
            <a:pPr marL="285750" indent="-285750">
              <a:buFont typeface="Arial" panose="020B0604020202020204" pitchFamily="34" charset="0"/>
              <a:buChar char="•"/>
            </a:pPr>
            <a:r>
              <a:rPr lang="en-US" sz="1200" i="1" dirty="0">
                <a:solidFill>
                  <a:schemeClr val="bg1">
                    <a:lumMod val="65000"/>
                  </a:schemeClr>
                </a:solidFill>
              </a:rPr>
              <a:t>Stakeholders: Though you may not know specific individuals just yet, consider which teams will be working together.</a:t>
            </a:r>
          </a:p>
          <a:p>
            <a:pPr marL="285750" indent="-285750">
              <a:buFont typeface="Arial" panose="020B0604020202020204" pitchFamily="34" charset="0"/>
              <a:buChar char="•"/>
            </a:pPr>
            <a:r>
              <a:rPr lang="en-US" sz="1200" i="1" dirty="0">
                <a:solidFill>
                  <a:schemeClr val="bg1">
                    <a:lumMod val="65000"/>
                  </a:schemeClr>
                </a:solidFill>
              </a:rPr>
              <a:t>Timeline: You can estimate the process scope and timeline for completion with the critical path method.</a:t>
            </a:r>
          </a:p>
          <a:p>
            <a:pPr marL="285750" indent="-285750">
              <a:buFont typeface="Arial" panose="020B0604020202020204" pitchFamily="34" charset="0"/>
              <a:buChar char="•"/>
            </a:pPr>
            <a:r>
              <a:rPr lang="en-US" sz="1200" i="1" dirty="0">
                <a:solidFill>
                  <a:schemeClr val="bg1">
                    <a:lumMod val="65000"/>
                  </a:schemeClr>
                </a:solidFill>
              </a:rPr>
              <a:t>Priority: Determine how important this process is to implement compared to other projects and objectives your team is working on.</a:t>
            </a:r>
            <a:endParaRPr lang="en-US" sz="12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3.1 Process Objective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pSp>
        <p:nvGrpSpPr>
          <p:cNvPr id="9" name="Group 2">
            <a:extLst>
              <a:ext uri="{FF2B5EF4-FFF2-40B4-BE49-F238E27FC236}">
                <a16:creationId xmlns:a16="http://schemas.microsoft.com/office/drawing/2014/main" id="{6059EBA6-62BD-4A48-D798-4B92FD5214C8}"/>
              </a:ext>
            </a:extLst>
          </p:cNvPr>
          <p:cNvGrpSpPr/>
          <p:nvPr/>
        </p:nvGrpSpPr>
        <p:grpSpPr>
          <a:xfrm>
            <a:off x="625684" y="1829899"/>
            <a:ext cx="720000" cy="792000"/>
            <a:chOff x="1420813" y="2441576"/>
            <a:chExt cx="614362" cy="701675"/>
          </a:xfrm>
        </p:grpSpPr>
        <p:sp>
          <p:nvSpPr>
            <p:cNvPr id="10" name="Freeform 26">
              <a:extLst>
                <a:ext uri="{FF2B5EF4-FFF2-40B4-BE49-F238E27FC236}">
                  <a16:creationId xmlns:a16="http://schemas.microsoft.com/office/drawing/2014/main" id="{507A88DC-ED70-2E34-B49A-E1566F30AAAE}"/>
                </a:ext>
              </a:extLst>
            </p:cNvPr>
            <p:cNvSpPr>
              <a:spLocks/>
            </p:cNvSpPr>
            <p:nvPr/>
          </p:nvSpPr>
          <p:spPr bwMode="auto">
            <a:xfrm>
              <a:off x="1597025" y="2779713"/>
              <a:ext cx="182563" cy="184150"/>
            </a:xfrm>
            <a:custGeom>
              <a:avLst/>
              <a:gdLst>
                <a:gd name="T0" fmla="*/ 39 w 49"/>
                <a:gd name="T1" fmla="*/ 27 h 49"/>
                <a:gd name="T2" fmla="*/ 17 w 49"/>
                <a:gd name="T3" fmla="*/ 29 h 49"/>
                <a:gd name="T4" fmla="*/ 38 w 49"/>
                <a:gd name="T5" fmla="*/ 4 h 49"/>
                <a:gd name="T6" fmla="*/ 25 w 49"/>
                <a:gd name="T7" fmla="*/ 0 h 49"/>
                <a:gd name="T8" fmla="*/ 0 w 49"/>
                <a:gd name="T9" fmla="*/ 25 h 49"/>
                <a:gd name="T10" fmla="*/ 25 w 49"/>
                <a:gd name="T11" fmla="*/ 49 h 49"/>
                <a:gd name="T12" fmla="*/ 49 w 49"/>
                <a:gd name="T13" fmla="*/ 25 h 49"/>
                <a:gd name="T14" fmla="*/ 48 w 49"/>
                <a:gd name="T15" fmla="*/ 17 h 49"/>
                <a:gd name="T16" fmla="*/ 39 w 49"/>
                <a:gd name="T1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39" y="27"/>
                  </a:moveTo>
                  <a:cubicBezTo>
                    <a:pt x="17" y="29"/>
                    <a:pt x="17" y="29"/>
                    <a:pt x="17" y="29"/>
                  </a:cubicBezTo>
                  <a:cubicBezTo>
                    <a:pt x="38" y="4"/>
                    <a:pt x="38" y="4"/>
                    <a:pt x="38" y="4"/>
                  </a:cubicBezTo>
                  <a:cubicBezTo>
                    <a:pt x="34" y="2"/>
                    <a:pt x="30" y="0"/>
                    <a:pt x="25" y="0"/>
                  </a:cubicBezTo>
                  <a:cubicBezTo>
                    <a:pt x="11" y="0"/>
                    <a:pt x="0" y="11"/>
                    <a:pt x="0" y="25"/>
                  </a:cubicBezTo>
                  <a:cubicBezTo>
                    <a:pt x="0" y="38"/>
                    <a:pt x="11" y="49"/>
                    <a:pt x="25" y="49"/>
                  </a:cubicBezTo>
                  <a:cubicBezTo>
                    <a:pt x="38" y="49"/>
                    <a:pt x="49" y="38"/>
                    <a:pt x="49" y="25"/>
                  </a:cubicBezTo>
                  <a:cubicBezTo>
                    <a:pt x="49" y="22"/>
                    <a:pt x="49" y="19"/>
                    <a:pt x="48" y="17"/>
                  </a:cubicBezTo>
                  <a:lnTo>
                    <a:pt x="39" y="27"/>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1" name="Freeform 27">
              <a:extLst>
                <a:ext uri="{FF2B5EF4-FFF2-40B4-BE49-F238E27FC236}">
                  <a16:creationId xmlns:a16="http://schemas.microsoft.com/office/drawing/2014/main" id="{39E0EF02-2054-87F0-1569-76309F72980F}"/>
                </a:ext>
              </a:extLst>
            </p:cNvPr>
            <p:cNvSpPr>
              <a:spLocks/>
            </p:cNvSpPr>
            <p:nvPr/>
          </p:nvSpPr>
          <p:spPr bwMode="auto">
            <a:xfrm>
              <a:off x="1420813" y="2603501"/>
              <a:ext cx="538163" cy="539750"/>
            </a:xfrm>
            <a:custGeom>
              <a:avLst/>
              <a:gdLst>
                <a:gd name="T0" fmla="*/ 113 w 144"/>
                <a:gd name="T1" fmla="*/ 45 h 144"/>
                <a:gd name="T2" fmla="*/ 121 w 144"/>
                <a:gd name="T3" fmla="*/ 72 h 144"/>
                <a:gd name="T4" fmla="*/ 72 w 144"/>
                <a:gd name="T5" fmla="*/ 121 h 144"/>
                <a:gd name="T6" fmla="*/ 23 w 144"/>
                <a:gd name="T7" fmla="*/ 72 h 144"/>
                <a:gd name="T8" fmla="*/ 72 w 144"/>
                <a:gd name="T9" fmla="*/ 23 h 144"/>
                <a:gd name="T10" fmla="*/ 103 w 144"/>
                <a:gd name="T11" fmla="*/ 34 h 144"/>
                <a:gd name="T12" fmla="*/ 117 w 144"/>
                <a:gd name="T13" fmla="*/ 16 h 144"/>
                <a:gd name="T14" fmla="*/ 72 w 144"/>
                <a:gd name="T15" fmla="*/ 0 h 144"/>
                <a:gd name="T16" fmla="*/ 0 w 144"/>
                <a:gd name="T17" fmla="*/ 72 h 144"/>
                <a:gd name="T18" fmla="*/ 72 w 144"/>
                <a:gd name="T19" fmla="*/ 144 h 144"/>
                <a:gd name="T20" fmla="*/ 144 w 144"/>
                <a:gd name="T21" fmla="*/ 72 h 144"/>
                <a:gd name="T22" fmla="*/ 128 w 144"/>
                <a:gd name="T23" fmla="*/ 27 h 144"/>
                <a:gd name="T24" fmla="*/ 113 w 144"/>
                <a:gd name="T25" fmla="*/ 45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44">
                  <a:moveTo>
                    <a:pt x="113" y="45"/>
                  </a:moveTo>
                  <a:cubicBezTo>
                    <a:pt x="118" y="53"/>
                    <a:pt x="121" y="62"/>
                    <a:pt x="121" y="72"/>
                  </a:cubicBezTo>
                  <a:cubicBezTo>
                    <a:pt x="121" y="99"/>
                    <a:pt x="99" y="121"/>
                    <a:pt x="72" y="121"/>
                  </a:cubicBezTo>
                  <a:cubicBezTo>
                    <a:pt x="45" y="121"/>
                    <a:pt x="23" y="99"/>
                    <a:pt x="23" y="72"/>
                  </a:cubicBezTo>
                  <a:cubicBezTo>
                    <a:pt x="23" y="45"/>
                    <a:pt x="45" y="23"/>
                    <a:pt x="72" y="23"/>
                  </a:cubicBezTo>
                  <a:cubicBezTo>
                    <a:pt x="84" y="23"/>
                    <a:pt x="94" y="27"/>
                    <a:pt x="103" y="34"/>
                  </a:cubicBezTo>
                  <a:cubicBezTo>
                    <a:pt x="117" y="16"/>
                    <a:pt x="117" y="16"/>
                    <a:pt x="117" y="16"/>
                  </a:cubicBezTo>
                  <a:cubicBezTo>
                    <a:pt x="105" y="6"/>
                    <a:pt x="89" y="0"/>
                    <a:pt x="72" y="0"/>
                  </a:cubicBezTo>
                  <a:cubicBezTo>
                    <a:pt x="32" y="0"/>
                    <a:pt x="0" y="32"/>
                    <a:pt x="0" y="72"/>
                  </a:cubicBezTo>
                  <a:cubicBezTo>
                    <a:pt x="0" y="111"/>
                    <a:pt x="32" y="144"/>
                    <a:pt x="72" y="144"/>
                  </a:cubicBezTo>
                  <a:cubicBezTo>
                    <a:pt x="111" y="144"/>
                    <a:pt x="144" y="111"/>
                    <a:pt x="144" y="72"/>
                  </a:cubicBezTo>
                  <a:cubicBezTo>
                    <a:pt x="144" y="55"/>
                    <a:pt x="138" y="39"/>
                    <a:pt x="128" y="27"/>
                  </a:cubicBezTo>
                  <a:lnTo>
                    <a:pt x="113" y="45"/>
                  </a:lnTo>
                  <a:close/>
                </a:path>
              </a:pathLst>
            </a:custGeom>
            <a:solidFill>
              <a:srgbClr val="EB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2" name="Freeform 28">
              <a:extLst>
                <a:ext uri="{FF2B5EF4-FFF2-40B4-BE49-F238E27FC236}">
                  <a16:creationId xmlns:a16="http://schemas.microsoft.com/office/drawing/2014/main" id="{4388D7FF-978F-7BA4-20D9-F5776CD2DDCB}"/>
                </a:ext>
              </a:extLst>
            </p:cNvPr>
            <p:cNvSpPr>
              <a:spLocks/>
            </p:cNvSpPr>
            <p:nvPr/>
          </p:nvSpPr>
          <p:spPr bwMode="auto">
            <a:xfrm>
              <a:off x="1660525" y="2441576"/>
              <a:ext cx="374650" cy="447675"/>
            </a:xfrm>
            <a:custGeom>
              <a:avLst/>
              <a:gdLst>
                <a:gd name="T0" fmla="*/ 236 w 236"/>
                <a:gd name="T1" fmla="*/ 50 h 282"/>
                <a:gd name="T2" fmla="*/ 181 w 236"/>
                <a:gd name="T3" fmla="*/ 55 h 282"/>
                <a:gd name="T4" fmla="*/ 177 w 236"/>
                <a:gd name="T5" fmla="*/ 0 h 282"/>
                <a:gd name="T6" fmla="*/ 132 w 236"/>
                <a:gd name="T7" fmla="*/ 55 h 282"/>
                <a:gd name="T8" fmla="*/ 127 w 236"/>
                <a:gd name="T9" fmla="*/ 95 h 282"/>
                <a:gd name="T10" fmla="*/ 5 w 236"/>
                <a:gd name="T11" fmla="*/ 248 h 282"/>
                <a:gd name="T12" fmla="*/ 0 w 236"/>
                <a:gd name="T13" fmla="*/ 282 h 282"/>
                <a:gd name="T14" fmla="*/ 33 w 236"/>
                <a:gd name="T15" fmla="*/ 270 h 282"/>
                <a:gd name="T16" fmla="*/ 156 w 236"/>
                <a:gd name="T17" fmla="*/ 116 h 282"/>
                <a:gd name="T18" fmla="*/ 193 w 236"/>
                <a:gd name="T19" fmla="*/ 104 h 282"/>
                <a:gd name="T20" fmla="*/ 236 w 236"/>
                <a:gd name="T21" fmla="*/ 5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6" h="282">
                  <a:moveTo>
                    <a:pt x="236" y="50"/>
                  </a:moveTo>
                  <a:lnTo>
                    <a:pt x="181" y="55"/>
                  </a:lnTo>
                  <a:lnTo>
                    <a:pt x="177" y="0"/>
                  </a:lnTo>
                  <a:lnTo>
                    <a:pt x="132" y="55"/>
                  </a:lnTo>
                  <a:lnTo>
                    <a:pt x="127" y="95"/>
                  </a:lnTo>
                  <a:lnTo>
                    <a:pt x="5" y="248"/>
                  </a:lnTo>
                  <a:lnTo>
                    <a:pt x="0" y="282"/>
                  </a:lnTo>
                  <a:lnTo>
                    <a:pt x="33" y="270"/>
                  </a:lnTo>
                  <a:lnTo>
                    <a:pt x="156" y="116"/>
                  </a:lnTo>
                  <a:lnTo>
                    <a:pt x="193" y="104"/>
                  </a:lnTo>
                  <a:lnTo>
                    <a:pt x="236" y="50"/>
                  </a:ln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grpSp>
      <p:sp>
        <p:nvSpPr>
          <p:cNvPr id="13" name="TextBox 8">
            <a:extLst>
              <a:ext uri="{FF2B5EF4-FFF2-40B4-BE49-F238E27FC236}">
                <a16:creationId xmlns:a16="http://schemas.microsoft.com/office/drawing/2014/main" id="{D1D06CC9-4DD7-0105-6E0B-821DCC4FD0AF}"/>
              </a:ext>
            </a:extLst>
          </p:cNvPr>
          <p:cNvSpPr txBox="1"/>
          <p:nvPr/>
        </p:nvSpPr>
        <p:spPr>
          <a:xfrm>
            <a:off x="1252660" y="2106561"/>
            <a:ext cx="235386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dirty="0">
                <a:ln>
                  <a:noFill/>
                </a:ln>
                <a:solidFill>
                  <a:prstClr val="black">
                    <a:lumMod val="75000"/>
                    <a:lumOff val="25000"/>
                  </a:prstClr>
                </a:solidFill>
                <a:effectLst/>
                <a:uLnTx/>
                <a:uFillTx/>
                <a:latin typeface="Santander Text" panose="020B0504020201020104"/>
                <a:ea typeface="+mn-ea"/>
                <a:cs typeface="+mn-cs"/>
              </a:rPr>
              <a:t>Process Objectives</a:t>
            </a:r>
          </a:p>
        </p:txBody>
      </p:sp>
      <p:sp>
        <p:nvSpPr>
          <p:cNvPr id="14" name="Rectángulo redondeado 1">
            <a:extLst>
              <a:ext uri="{FF2B5EF4-FFF2-40B4-BE49-F238E27FC236}">
                <a16:creationId xmlns:a16="http://schemas.microsoft.com/office/drawing/2014/main" id="{D1E9F185-60A2-70B7-B9EE-D863931282F0}"/>
              </a:ext>
            </a:extLst>
          </p:cNvPr>
          <p:cNvSpPr/>
          <p:nvPr/>
        </p:nvSpPr>
        <p:spPr>
          <a:xfrm>
            <a:off x="734788" y="2607968"/>
            <a:ext cx="10877172" cy="4058444"/>
          </a:xfrm>
          <a:prstGeom prst="roundRect">
            <a:avLst>
              <a:gd name="adj" fmla="val 4342"/>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nchorCtr="0"/>
          <a:lstStyle/>
          <a:p>
            <a:pPr marL="174625" indent="-174625">
              <a:spcBef>
                <a:spcPts val="300"/>
              </a:spcBef>
              <a:spcAft>
                <a:spcPts val="300"/>
              </a:spcAft>
              <a:buFont typeface="Arial" panose="020B0604020202020204" pitchFamily="34" charset="0"/>
              <a:buChar char="•"/>
              <a:defRPr/>
            </a:pPr>
            <a:r>
              <a:rPr lang="en-GB" altLang="es-ES_tradnl" sz="1200" b="1" kern="0" dirty="0">
                <a:solidFill>
                  <a:prstClr val="black">
                    <a:lumMod val="65000"/>
                    <a:lumOff val="35000"/>
                  </a:prstClr>
                </a:solidFill>
                <a:latin typeface="Santander Text" panose="020B0504020201020104"/>
              </a:rPr>
              <a:t>Insert new orders passing all pre-trade check and then, execute the order, provide the client with a client confirmation, provide Medea with information for Banker recognition and Clients statement </a:t>
            </a:r>
            <a:r>
              <a:rPr lang="en-GB" altLang="es-ES_tradnl" sz="1200" b="1" kern="0" dirty="0" err="1">
                <a:solidFill>
                  <a:prstClr val="black">
                    <a:lumMod val="65000"/>
                    <a:lumOff val="35000"/>
                  </a:prstClr>
                </a:solidFill>
                <a:latin typeface="Santander Text" panose="020B0504020201020104"/>
              </a:rPr>
              <a:t>pruposes</a:t>
            </a:r>
            <a:r>
              <a:rPr lang="en-GB" altLang="es-ES_tradnl" sz="1200" b="1" kern="0" dirty="0">
                <a:solidFill>
                  <a:prstClr val="black">
                    <a:lumMod val="65000"/>
                    <a:lumOff val="35000"/>
                  </a:prstClr>
                </a:solidFill>
                <a:latin typeface="Santander Text" panose="020B0504020201020104"/>
              </a:rPr>
              <a:t>, provide Murex with trade information to comply with Market Risk and Credit Risk global requirements and provide DTCC with trade info to comply with Regulatory requirements. In addition to that, give facilities to Finance and Risk to allow them to monitor the product during the lifecycle of the trade and apply fixing rates and do calculation when fixing date and settlement date are reached out. </a:t>
            </a:r>
          </a:p>
          <a:p>
            <a:pPr>
              <a:spcBef>
                <a:spcPts val="300"/>
              </a:spcBef>
              <a:spcAft>
                <a:spcPts val="300"/>
              </a:spcAft>
              <a:defRPr/>
            </a:pPr>
            <a:r>
              <a:rPr lang="en-GB" altLang="es-ES_tradnl" sz="1200" b="1" u="sng" kern="0" dirty="0">
                <a:solidFill>
                  <a:prstClr val="black">
                    <a:lumMod val="65000"/>
                    <a:lumOff val="35000"/>
                  </a:prstClr>
                </a:solidFill>
                <a:latin typeface="Santander Text" panose="020B0504020201020104"/>
              </a:rPr>
              <a:t>Main capabilities of the solution: </a:t>
            </a:r>
          </a:p>
          <a:p>
            <a:pPr marL="174625" indent="-174625">
              <a:spcBef>
                <a:spcPts val="300"/>
              </a:spcBef>
              <a:spcAft>
                <a:spcPts val="300"/>
              </a:spcAft>
              <a:buFont typeface="Arial" panose="020B0604020202020204" pitchFamily="34" charset="0"/>
              <a:buChar char="•"/>
              <a:defRPr/>
            </a:pPr>
            <a:endParaRPr lang="en-GB" altLang="es-ES_tradnl" sz="1200" b="1" kern="0" dirty="0">
              <a:solidFill>
                <a:prstClr val="black">
                  <a:lumMod val="65000"/>
                  <a:lumOff val="35000"/>
                </a:prst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endParaRPr lang="en-GB" altLang="es-ES_tradnl" sz="1200" b="1" kern="0" dirty="0">
              <a:solidFill>
                <a:prstClr val="black">
                  <a:lumMod val="65000"/>
                  <a:lumOff val="35000"/>
                </a:prstClr>
              </a:solidFill>
              <a:latin typeface="Santander Text" panose="020B0504020201020104"/>
            </a:endParaRPr>
          </a:p>
        </p:txBody>
      </p:sp>
      <p:pic>
        <p:nvPicPr>
          <p:cNvPr id="3" name="Imagen 2">
            <a:extLst>
              <a:ext uri="{FF2B5EF4-FFF2-40B4-BE49-F238E27FC236}">
                <a16:creationId xmlns:a16="http://schemas.microsoft.com/office/drawing/2014/main" id="{3D8AF4DE-A285-6B47-23BF-2F1CCCFC216D}"/>
              </a:ext>
            </a:extLst>
          </p:cNvPr>
          <p:cNvPicPr>
            <a:picLocks noChangeAspect="1"/>
          </p:cNvPicPr>
          <p:nvPr/>
        </p:nvPicPr>
        <p:blipFill>
          <a:blip r:embed="rId2"/>
          <a:stretch>
            <a:fillRect/>
          </a:stretch>
        </p:blipFill>
        <p:spPr>
          <a:xfrm>
            <a:off x="2263191" y="3953931"/>
            <a:ext cx="6467654" cy="2642809"/>
          </a:xfrm>
          <a:prstGeom prst="rect">
            <a:avLst/>
          </a:prstGeom>
        </p:spPr>
      </p:pic>
    </p:spTree>
    <p:extLst>
      <p:ext uri="{BB962C8B-B14F-4D97-AF65-F5344CB8AC3E}">
        <p14:creationId xmlns:p14="http://schemas.microsoft.com/office/powerpoint/2010/main" val="295726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31</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List all the Roles (a Role is a descriptor of an associated set of tasks; may be performed by many people; and one person can perform many roles) and assign all the Activities with Roles in the RACI Matrix (RACI Matrix is  a model that describes the participation by various roles in completing tasks or deliverables).</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3.2 Process Roles - RACI</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aphicFrame>
        <p:nvGraphicFramePr>
          <p:cNvPr id="3" name="Table 1">
            <a:extLst>
              <a:ext uri="{FF2B5EF4-FFF2-40B4-BE49-F238E27FC236}">
                <a16:creationId xmlns:a16="http://schemas.microsoft.com/office/drawing/2014/main" id="{09CB70CE-9021-9AB9-2EE8-EF0D4BDDC41D}"/>
              </a:ext>
            </a:extLst>
          </p:cNvPr>
          <p:cNvGraphicFramePr>
            <a:graphicFrameLocks noGrp="1"/>
          </p:cNvGraphicFramePr>
          <p:nvPr>
            <p:extLst>
              <p:ext uri="{D42A27DB-BD31-4B8C-83A1-F6EECF244321}">
                <p14:modId xmlns:p14="http://schemas.microsoft.com/office/powerpoint/2010/main" val="1731289024"/>
              </p:ext>
            </p:extLst>
          </p:nvPr>
        </p:nvGraphicFramePr>
        <p:xfrm>
          <a:off x="717956" y="1733267"/>
          <a:ext cx="7877239" cy="4744725"/>
        </p:xfrm>
        <a:graphic>
          <a:graphicData uri="http://schemas.openxmlformats.org/drawingml/2006/table">
            <a:tbl>
              <a:tblPr firstRow="1" bandRow="1"/>
              <a:tblGrid>
                <a:gridCol w="1128419">
                  <a:extLst>
                    <a:ext uri="{9D8B030D-6E8A-4147-A177-3AD203B41FA5}">
                      <a16:colId xmlns:a16="http://schemas.microsoft.com/office/drawing/2014/main" val="20000"/>
                    </a:ext>
                  </a:extLst>
                </a:gridCol>
                <a:gridCol w="1206031">
                  <a:extLst>
                    <a:ext uri="{9D8B030D-6E8A-4147-A177-3AD203B41FA5}">
                      <a16:colId xmlns:a16="http://schemas.microsoft.com/office/drawing/2014/main" val="1600373472"/>
                    </a:ext>
                  </a:extLst>
                </a:gridCol>
                <a:gridCol w="1206031">
                  <a:extLst>
                    <a:ext uri="{9D8B030D-6E8A-4147-A177-3AD203B41FA5}">
                      <a16:colId xmlns:a16="http://schemas.microsoft.com/office/drawing/2014/main" val="20001"/>
                    </a:ext>
                  </a:extLst>
                </a:gridCol>
                <a:gridCol w="1135799">
                  <a:extLst>
                    <a:ext uri="{9D8B030D-6E8A-4147-A177-3AD203B41FA5}">
                      <a16:colId xmlns:a16="http://schemas.microsoft.com/office/drawing/2014/main" val="20002"/>
                    </a:ext>
                  </a:extLst>
                </a:gridCol>
                <a:gridCol w="1079401">
                  <a:extLst>
                    <a:ext uri="{9D8B030D-6E8A-4147-A177-3AD203B41FA5}">
                      <a16:colId xmlns:a16="http://schemas.microsoft.com/office/drawing/2014/main" val="20003"/>
                    </a:ext>
                  </a:extLst>
                </a:gridCol>
                <a:gridCol w="1060779">
                  <a:extLst>
                    <a:ext uri="{9D8B030D-6E8A-4147-A177-3AD203B41FA5}">
                      <a16:colId xmlns:a16="http://schemas.microsoft.com/office/drawing/2014/main" val="3286659867"/>
                    </a:ext>
                  </a:extLst>
                </a:gridCol>
                <a:gridCol w="1060779">
                  <a:extLst>
                    <a:ext uri="{9D8B030D-6E8A-4147-A177-3AD203B41FA5}">
                      <a16:colId xmlns:a16="http://schemas.microsoft.com/office/drawing/2014/main" val="2759758703"/>
                    </a:ext>
                  </a:extLst>
                </a:gridCol>
              </a:tblGrid>
              <a:tr h="24492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1200" b="1" noProof="0" dirty="0">
                          <a:solidFill>
                            <a:schemeClr val="accent1"/>
                          </a:solidFill>
                          <a:latin typeface="Santander Text" panose="020B0504020201020104"/>
                        </a:rPr>
                        <a:t>ACTIVITIES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Commercial</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Treasury</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Risk</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err="1">
                          <a:solidFill>
                            <a:schemeClr val="bg1"/>
                          </a:solidFill>
                          <a:latin typeface="Santander Text" panose="020B0504020201020104"/>
                          <a:ea typeface="+mn-ea"/>
                          <a:cs typeface="+mn-cs"/>
                        </a:rPr>
                        <a:t>BSi</a:t>
                      </a:r>
                      <a:r>
                        <a:rPr lang="en-US" sz="1200" b="1" kern="1200" noProof="0" dirty="0">
                          <a:solidFill>
                            <a:schemeClr val="bg1"/>
                          </a:solidFill>
                          <a:latin typeface="Santander Text" panose="020B0504020201020104"/>
                          <a:ea typeface="+mn-ea"/>
                          <a:cs typeface="+mn-cs"/>
                        </a:rPr>
                        <a:t> Operations</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pt-BR" sz="1200" b="1" kern="1200" noProof="0" dirty="0" err="1">
                          <a:solidFill>
                            <a:schemeClr val="bg1"/>
                          </a:solidFill>
                          <a:latin typeface="Santander Text" panose="020B0504020201020104"/>
                          <a:ea typeface="+mn-ea"/>
                          <a:cs typeface="+mn-cs"/>
                        </a:rPr>
                        <a:t>Product</a:t>
                      </a:r>
                      <a:r>
                        <a:rPr lang="pt-BR" sz="1200" b="1" kern="1200" noProof="0" dirty="0">
                          <a:solidFill>
                            <a:schemeClr val="bg1"/>
                          </a:solidFill>
                          <a:latin typeface="Santander Text" panose="020B0504020201020104"/>
                          <a:ea typeface="+mn-ea"/>
                          <a:cs typeface="+mn-cs"/>
                        </a:rPr>
                        <a:t> Support</a:t>
                      </a:r>
                      <a:endParaRPr lang="en-US" sz="1200" b="1" kern="1200" noProof="0" dirty="0">
                        <a:solidFill>
                          <a:schemeClr val="bg1"/>
                        </a:solidFill>
                        <a:latin typeface="Santander Text" panose="020B0504020201020104"/>
                        <a:ea typeface="+mn-ea"/>
                        <a:cs typeface="+mn-cs"/>
                      </a:endParaRP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Compliance</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52547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Pre-trade checks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0"/>
                        </a:spcBef>
                        <a:spcAft>
                          <a:spcPts val="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870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Monitoring of REC Consumption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400"/>
                        </a:spcBef>
                        <a:spcAft>
                          <a:spcPts val="40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r>
                        <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42248">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DTCC reporting </a:t>
                      </a:r>
                      <a:r>
                        <a:rPr lang="en-US" sz="900" b="1" noProof="0" dirty="0" err="1">
                          <a:solidFill>
                            <a:schemeClr val="tx1"/>
                          </a:solidFill>
                          <a:effectLst/>
                          <a:latin typeface="Santander Text" panose="020B0504020201020104"/>
                          <a:ea typeface="Times New Roman" panose="02020603050405020304" pitchFamily="18" charset="0"/>
                          <a:cs typeface="Arial" panose="020B0604020202020204" pitchFamily="34" charset="0"/>
                        </a:rPr>
                        <a:t>monintoring</a:t>
                      </a:r>
                      <a:endPar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727297"/>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900" b="1" kern="1200" noProof="0" dirty="0">
                          <a:solidFill>
                            <a:schemeClr val="tx1"/>
                          </a:solidFill>
                          <a:effectLst/>
                          <a:latin typeface="Santander Text" panose="020B0504020201020104"/>
                          <a:cs typeface="Arial" panose="020B0604020202020204" pitchFamily="34" charset="0"/>
                        </a:rPr>
                        <a:t>Banker </a:t>
                      </a:r>
                      <a:r>
                        <a:rPr lang="en-US" sz="900" b="1" kern="1200" noProof="0" dirty="0" err="1">
                          <a:solidFill>
                            <a:schemeClr val="tx1"/>
                          </a:solidFill>
                          <a:effectLst/>
                          <a:latin typeface="Santander Text" panose="020B0504020201020104"/>
                          <a:cs typeface="Arial" panose="020B0604020202020204" pitchFamily="34" charset="0"/>
                        </a:rPr>
                        <a:t>Recongmotop</a:t>
                      </a:r>
                      <a:endParaRPr lang="en-US" sz="900" b="1" kern="1200" noProof="0" dirty="0">
                        <a:solidFill>
                          <a:schemeClr val="tx1"/>
                        </a:solidFill>
                        <a:effectLst/>
                        <a:latin typeface="Santander Text" panose="020B0504020201020104"/>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6824222"/>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900" b="1" kern="1200" noProof="0" dirty="0">
                          <a:solidFill>
                            <a:schemeClr val="tx1"/>
                          </a:solidFill>
                          <a:effectLst/>
                          <a:latin typeface="Santander Text" panose="020B0504020201020104"/>
                          <a:ea typeface="+mn-ea"/>
                          <a:cs typeface="Arial" panose="020B0604020202020204" pitchFamily="34" charset="0"/>
                        </a:rPr>
                        <a:t>T24-Murex Recon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30316"/>
                  </a:ext>
                </a:extLst>
              </a:tr>
              <a:tr h="8757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noProof="0" dirty="0">
                          <a:solidFill>
                            <a:schemeClr val="tx1"/>
                          </a:solidFill>
                          <a:latin typeface="Santander Text" panose="020B0504020201020104"/>
                        </a:rPr>
                        <a:t>Control of missing fixing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757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noProof="0" dirty="0">
                          <a:solidFill>
                            <a:schemeClr val="tx1"/>
                          </a:solidFill>
                          <a:latin typeface="Santander Text" panose="020B0504020201020104"/>
                        </a:rPr>
                        <a:t>Reporting to RAC Global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805694"/>
                  </a:ext>
                </a:extLst>
              </a:tr>
            </a:tbl>
          </a:graphicData>
        </a:graphic>
      </p:graphicFrame>
    </p:spTree>
    <p:extLst>
      <p:ext uri="{BB962C8B-B14F-4D97-AF65-F5344CB8AC3E}">
        <p14:creationId xmlns:p14="http://schemas.microsoft.com/office/powerpoint/2010/main" val="3314370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32</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To build an effective flowchart, integrate process steps, inputs, outputs, shared docs, and stakeholder details, complementing these with screenshots for added impact. Then, all you have to do is neatly lay out each step in sequential order.</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3.3 Process Flowchart</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sp>
        <p:nvSpPr>
          <p:cNvPr id="4" name="TextBox 3">
            <a:extLst>
              <a:ext uri="{FF2B5EF4-FFF2-40B4-BE49-F238E27FC236}">
                <a16:creationId xmlns:a16="http://schemas.microsoft.com/office/drawing/2014/main" id="{B7938DF3-3CB1-6710-3630-1A07BB7430A4}"/>
              </a:ext>
            </a:extLst>
          </p:cNvPr>
          <p:cNvSpPr txBox="1"/>
          <p:nvPr/>
        </p:nvSpPr>
        <p:spPr>
          <a:xfrm>
            <a:off x="206065" y="5978731"/>
            <a:ext cx="8885683" cy="276999"/>
          </a:xfrm>
          <a:prstGeom prst="rect">
            <a:avLst/>
          </a:prstGeom>
          <a:noFill/>
        </p:spPr>
        <p:txBody>
          <a:bodyPr wrap="square" rtlCol="0">
            <a:spAutoFit/>
          </a:bodyPr>
          <a:lstStyle/>
          <a:p>
            <a:r>
              <a:rPr lang="pt-BR" sz="1200" b="1" i="1" dirty="0"/>
              <a:t>Note that Flowchart </a:t>
            </a:r>
            <a:r>
              <a:rPr lang="pt-BR" sz="1200" b="1" i="1" dirty="0" err="1"/>
              <a:t>has</a:t>
            </a:r>
            <a:r>
              <a:rPr lang="pt-BR" sz="1200" b="1" i="1" dirty="0"/>
              <a:t> </a:t>
            </a:r>
            <a:r>
              <a:rPr lang="pt-BR" sz="1200" b="1" i="1" dirty="0" err="1"/>
              <a:t>been</a:t>
            </a:r>
            <a:r>
              <a:rPr lang="pt-BR" sz="1200" b="1" i="1" dirty="0"/>
              <a:t> </a:t>
            </a:r>
            <a:r>
              <a:rPr lang="pt-BR" sz="1200" b="1" i="1" dirty="0" err="1"/>
              <a:t>updated</a:t>
            </a:r>
            <a:r>
              <a:rPr lang="pt-BR" sz="1200" b="1" i="1" dirty="0"/>
              <a:t> in </a:t>
            </a:r>
            <a:r>
              <a:rPr lang="pt-BR" sz="1200" b="1" i="1" dirty="0" err="1"/>
              <a:t>Blueworks</a:t>
            </a:r>
            <a:endParaRPr lang="en-US" sz="1200" b="1" i="1" dirty="0"/>
          </a:p>
        </p:txBody>
      </p:sp>
      <p:sp>
        <p:nvSpPr>
          <p:cNvPr id="104" name="Rectángulo 103">
            <a:extLst>
              <a:ext uri="{FF2B5EF4-FFF2-40B4-BE49-F238E27FC236}">
                <a16:creationId xmlns:a16="http://schemas.microsoft.com/office/drawing/2014/main" id="{8C4E9AA0-8439-A257-2D43-2874497C6D3D}"/>
              </a:ext>
            </a:extLst>
          </p:cNvPr>
          <p:cNvSpPr/>
          <p:nvPr/>
        </p:nvSpPr>
        <p:spPr>
          <a:xfrm>
            <a:off x="5388706" y="2577927"/>
            <a:ext cx="724972" cy="8740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05" name="Picture 3">
            <a:extLst>
              <a:ext uri="{FF2B5EF4-FFF2-40B4-BE49-F238E27FC236}">
                <a16:creationId xmlns:a16="http://schemas.microsoft.com/office/drawing/2014/main" id="{9916D465-DFCD-BBFD-4D24-B72186B8E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8062" y="2423515"/>
            <a:ext cx="6185777" cy="327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Rectángulo redondeado 136">
            <a:extLst>
              <a:ext uri="{FF2B5EF4-FFF2-40B4-BE49-F238E27FC236}">
                <a16:creationId xmlns:a16="http://schemas.microsoft.com/office/drawing/2014/main" id="{DFC2B5C4-6DC1-ADC9-4297-1CB6419D8E86}"/>
              </a:ext>
            </a:extLst>
          </p:cNvPr>
          <p:cNvSpPr/>
          <p:nvPr/>
        </p:nvSpPr>
        <p:spPr>
          <a:xfrm>
            <a:off x="4231135" y="4177546"/>
            <a:ext cx="669600" cy="167400"/>
          </a:xfrm>
          <a:prstGeom prst="roundRect">
            <a:avLst/>
          </a:prstGeom>
          <a:solidFill>
            <a:srgbClr val="ED7D31">
              <a:lumMod val="75000"/>
            </a:srgbClr>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Asset control</a:t>
            </a:r>
          </a:p>
        </p:txBody>
      </p:sp>
      <p:cxnSp>
        <p:nvCxnSpPr>
          <p:cNvPr id="107" name="Conector: angular 61">
            <a:extLst>
              <a:ext uri="{FF2B5EF4-FFF2-40B4-BE49-F238E27FC236}">
                <a16:creationId xmlns:a16="http://schemas.microsoft.com/office/drawing/2014/main" id="{DA86F22F-E47A-BFBF-3B91-494A8FD4D5CA}"/>
              </a:ext>
            </a:extLst>
          </p:cNvPr>
          <p:cNvCxnSpPr>
            <a:cxnSpLocks/>
            <a:stCxn id="106" idx="3"/>
          </p:cNvCxnSpPr>
          <p:nvPr/>
        </p:nvCxnSpPr>
        <p:spPr>
          <a:xfrm flipV="1">
            <a:off x="4900735" y="3451938"/>
            <a:ext cx="142134" cy="809308"/>
          </a:xfrm>
          <a:prstGeom prst="bentConnector2">
            <a:avLst/>
          </a:prstGeom>
          <a:noFill/>
          <a:ln w="12700" cap="flat" cmpd="sng" algn="ctr">
            <a:solidFill>
              <a:sysClr val="windowText" lastClr="000000"/>
            </a:solidFill>
            <a:prstDash val="solid"/>
            <a:miter lim="800000"/>
            <a:tailEnd type="triangle"/>
          </a:ln>
          <a:effectLst/>
        </p:spPr>
      </p:cxnSp>
      <p:sp>
        <p:nvSpPr>
          <p:cNvPr id="108" name="Rectángulo: esquinas redondeadas 155">
            <a:extLst>
              <a:ext uri="{FF2B5EF4-FFF2-40B4-BE49-F238E27FC236}">
                <a16:creationId xmlns:a16="http://schemas.microsoft.com/office/drawing/2014/main" id="{1AC58C80-3B40-6DD2-3628-3F1B3DC3449C}"/>
              </a:ext>
            </a:extLst>
          </p:cNvPr>
          <p:cNvSpPr/>
          <p:nvPr/>
        </p:nvSpPr>
        <p:spPr>
          <a:xfrm rot="16200000">
            <a:off x="2316902" y="1957700"/>
            <a:ext cx="828000" cy="142134"/>
          </a:xfrm>
          <a:prstGeom prst="round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prstClr val="black"/>
                </a:solidFill>
                <a:effectLst/>
                <a:uLnTx/>
                <a:uFillTx/>
                <a:latin typeface="Santander Headline" panose="020B0504020201020104"/>
                <a:ea typeface="+mn-ea"/>
                <a:cs typeface="+mn-cs"/>
              </a:rPr>
              <a:t>DTCC: TPP</a:t>
            </a:r>
          </a:p>
        </p:txBody>
      </p:sp>
      <p:grpSp>
        <p:nvGrpSpPr>
          <p:cNvPr id="109" name="Group 451">
            <a:extLst>
              <a:ext uri="{FF2B5EF4-FFF2-40B4-BE49-F238E27FC236}">
                <a16:creationId xmlns:a16="http://schemas.microsoft.com/office/drawing/2014/main" id="{57C4BADD-3E48-7F45-D2C7-503447851401}"/>
              </a:ext>
            </a:extLst>
          </p:cNvPr>
          <p:cNvGrpSpPr/>
          <p:nvPr/>
        </p:nvGrpSpPr>
        <p:grpSpPr>
          <a:xfrm>
            <a:off x="3293720" y="3394187"/>
            <a:ext cx="424650" cy="300452"/>
            <a:chOff x="2191304" y="1913029"/>
            <a:chExt cx="479696" cy="471836"/>
          </a:xfrm>
        </p:grpSpPr>
        <p:grpSp>
          <p:nvGrpSpPr>
            <p:cNvPr id="110" name="Group 452">
              <a:extLst>
                <a:ext uri="{FF2B5EF4-FFF2-40B4-BE49-F238E27FC236}">
                  <a16:creationId xmlns:a16="http://schemas.microsoft.com/office/drawing/2014/main" id="{8338050E-0799-C73E-EFC3-A0F405CF6C28}"/>
                </a:ext>
              </a:extLst>
            </p:cNvPr>
            <p:cNvGrpSpPr/>
            <p:nvPr/>
          </p:nvGrpSpPr>
          <p:grpSpPr>
            <a:xfrm>
              <a:off x="2269548" y="1913029"/>
              <a:ext cx="324000" cy="324000"/>
              <a:chOff x="2636740" y="1297247"/>
              <a:chExt cx="420431" cy="392424"/>
            </a:xfrm>
          </p:grpSpPr>
          <p:sp>
            <p:nvSpPr>
              <p:cNvPr id="112" name="Oval 48">
                <a:extLst>
                  <a:ext uri="{FF2B5EF4-FFF2-40B4-BE49-F238E27FC236}">
                    <a16:creationId xmlns:a16="http://schemas.microsoft.com/office/drawing/2014/main" id="{58D88098-EB5E-6582-3C7A-01022879329D}"/>
                  </a:ext>
                </a:extLst>
              </p:cNvPr>
              <p:cNvSpPr>
                <a:spLocks noChangeArrowheads="1"/>
              </p:cNvSpPr>
              <p:nvPr/>
            </p:nvSpPr>
            <p:spPr bwMode="auto">
              <a:xfrm>
                <a:off x="2679790" y="1297247"/>
                <a:ext cx="334332" cy="321148"/>
              </a:xfrm>
              <a:prstGeom prst="ellipse">
                <a:avLst/>
              </a:prstGeom>
              <a:solidFill>
                <a:srgbClr val="D2ACBE"/>
              </a:solidFill>
              <a:ln>
                <a:noFill/>
              </a:ln>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3" name="Freeform 49">
                <a:extLst>
                  <a:ext uri="{FF2B5EF4-FFF2-40B4-BE49-F238E27FC236}">
                    <a16:creationId xmlns:a16="http://schemas.microsoft.com/office/drawing/2014/main" id="{B2A40919-7CDE-A856-73A5-B74B40A880E4}"/>
                  </a:ext>
                </a:extLst>
              </p:cNvPr>
              <p:cNvSpPr>
                <a:spLocks/>
              </p:cNvSpPr>
              <p:nvPr/>
            </p:nvSpPr>
            <p:spPr bwMode="auto">
              <a:xfrm>
                <a:off x="2883107" y="1339114"/>
                <a:ext cx="3333" cy="3448"/>
              </a:xfrm>
              <a:custGeom>
                <a:avLst/>
                <a:gdLst>
                  <a:gd name="T0" fmla="*/ 0 w 7"/>
                  <a:gd name="T1" fmla="*/ 0 h 8"/>
                  <a:gd name="T2" fmla="*/ 0 w 7"/>
                  <a:gd name="T3" fmla="*/ 1 h 8"/>
                  <a:gd name="T4" fmla="*/ 1 w 7"/>
                  <a:gd name="T5" fmla="*/ 2 h 8"/>
                  <a:gd name="T6" fmla="*/ 7 w 7"/>
                  <a:gd name="T7" fmla="*/ 8 h 8"/>
                  <a:gd name="T8" fmla="*/ 0 w 7"/>
                  <a:gd name="T9" fmla="*/ 0 h 8"/>
                </a:gdLst>
                <a:ahLst/>
                <a:cxnLst>
                  <a:cxn ang="0">
                    <a:pos x="T0" y="T1"/>
                  </a:cxn>
                  <a:cxn ang="0">
                    <a:pos x="T2" y="T3"/>
                  </a:cxn>
                  <a:cxn ang="0">
                    <a:pos x="T4" y="T5"/>
                  </a:cxn>
                  <a:cxn ang="0">
                    <a:pos x="T6" y="T7"/>
                  </a:cxn>
                  <a:cxn ang="0">
                    <a:pos x="T8" y="T9"/>
                  </a:cxn>
                </a:cxnLst>
                <a:rect l="0" t="0" r="r" b="b"/>
                <a:pathLst>
                  <a:path w="7" h="8">
                    <a:moveTo>
                      <a:pt x="0" y="0"/>
                    </a:moveTo>
                    <a:cubicBezTo>
                      <a:pt x="0" y="1"/>
                      <a:pt x="0" y="1"/>
                      <a:pt x="0" y="1"/>
                    </a:cubicBezTo>
                    <a:cubicBezTo>
                      <a:pt x="0" y="1"/>
                      <a:pt x="0" y="2"/>
                      <a:pt x="1" y="2"/>
                    </a:cubicBezTo>
                    <a:cubicBezTo>
                      <a:pt x="3" y="4"/>
                      <a:pt x="5" y="6"/>
                      <a:pt x="7" y="8"/>
                    </a:cubicBezTo>
                    <a:cubicBezTo>
                      <a:pt x="0" y="0"/>
                      <a:pt x="0" y="0"/>
                      <a:pt x="0" y="0"/>
                    </a:cubicBezTo>
                  </a:path>
                </a:pathLst>
              </a:custGeom>
              <a:solidFill>
                <a:srgbClr val="FF6E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4" name="Freeform 51">
                <a:extLst>
                  <a:ext uri="{FF2B5EF4-FFF2-40B4-BE49-F238E27FC236}">
                    <a16:creationId xmlns:a16="http://schemas.microsoft.com/office/drawing/2014/main" id="{23D0839A-D1B4-856F-4153-4E31282C9C05}"/>
                  </a:ext>
                </a:extLst>
              </p:cNvPr>
              <p:cNvSpPr>
                <a:spLocks/>
              </p:cNvSpPr>
              <p:nvPr/>
            </p:nvSpPr>
            <p:spPr bwMode="auto">
              <a:xfrm>
                <a:off x="2775423" y="1327047"/>
                <a:ext cx="142040" cy="204412"/>
              </a:xfrm>
              <a:custGeom>
                <a:avLst/>
                <a:gdLst>
                  <a:gd name="T0" fmla="*/ 284 w 306"/>
                  <a:gd name="T1" fmla="*/ 383 h 458"/>
                  <a:gd name="T2" fmla="*/ 283 w 306"/>
                  <a:gd name="T3" fmla="*/ 386 h 458"/>
                  <a:gd name="T4" fmla="*/ 276 w 306"/>
                  <a:gd name="T5" fmla="*/ 410 h 458"/>
                  <a:gd name="T6" fmla="*/ 262 w 306"/>
                  <a:gd name="T7" fmla="*/ 441 h 458"/>
                  <a:gd name="T8" fmla="*/ 253 w 306"/>
                  <a:gd name="T9" fmla="*/ 450 h 458"/>
                  <a:gd name="T10" fmla="*/ 228 w 306"/>
                  <a:gd name="T11" fmla="*/ 458 h 458"/>
                  <a:gd name="T12" fmla="*/ 79 w 306"/>
                  <a:gd name="T13" fmla="*/ 458 h 458"/>
                  <a:gd name="T14" fmla="*/ 54 w 306"/>
                  <a:gd name="T15" fmla="*/ 450 h 458"/>
                  <a:gd name="T16" fmla="*/ 46 w 306"/>
                  <a:gd name="T17" fmla="*/ 441 h 458"/>
                  <a:gd name="T18" fmla="*/ 31 w 306"/>
                  <a:gd name="T19" fmla="*/ 410 h 458"/>
                  <a:gd name="T20" fmla="*/ 24 w 306"/>
                  <a:gd name="T21" fmla="*/ 386 h 458"/>
                  <a:gd name="T22" fmla="*/ 24 w 306"/>
                  <a:gd name="T23" fmla="*/ 383 h 458"/>
                  <a:gd name="T24" fmla="*/ 60 w 306"/>
                  <a:gd name="T25" fmla="*/ 43 h 458"/>
                  <a:gd name="T26" fmla="*/ 154 w 306"/>
                  <a:gd name="T27" fmla="*/ 0 h 458"/>
                  <a:gd name="T28" fmla="*/ 233 w 306"/>
                  <a:gd name="T29" fmla="*/ 29 h 458"/>
                  <a:gd name="T30" fmla="*/ 247 w 306"/>
                  <a:gd name="T31" fmla="*/ 43 h 458"/>
                  <a:gd name="T32" fmla="*/ 252 w 306"/>
                  <a:gd name="T33" fmla="*/ 49 h 458"/>
                  <a:gd name="T34" fmla="*/ 284 w 306"/>
                  <a:gd name="T35" fmla="*/ 383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458">
                    <a:moveTo>
                      <a:pt x="284" y="383"/>
                    </a:moveTo>
                    <a:cubicBezTo>
                      <a:pt x="284" y="384"/>
                      <a:pt x="283" y="385"/>
                      <a:pt x="283" y="386"/>
                    </a:cubicBezTo>
                    <a:cubicBezTo>
                      <a:pt x="281" y="394"/>
                      <a:pt x="279" y="402"/>
                      <a:pt x="276" y="410"/>
                    </a:cubicBezTo>
                    <a:cubicBezTo>
                      <a:pt x="272" y="423"/>
                      <a:pt x="268" y="433"/>
                      <a:pt x="262" y="441"/>
                    </a:cubicBezTo>
                    <a:cubicBezTo>
                      <a:pt x="259" y="445"/>
                      <a:pt x="256" y="448"/>
                      <a:pt x="253" y="450"/>
                    </a:cubicBezTo>
                    <a:cubicBezTo>
                      <a:pt x="246" y="455"/>
                      <a:pt x="238" y="458"/>
                      <a:pt x="228" y="458"/>
                    </a:cubicBezTo>
                    <a:cubicBezTo>
                      <a:pt x="79" y="458"/>
                      <a:pt x="79" y="458"/>
                      <a:pt x="79" y="458"/>
                    </a:cubicBezTo>
                    <a:cubicBezTo>
                      <a:pt x="69" y="458"/>
                      <a:pt x="61" y="455"/>
                      <a:pt x="54" y="450"/>
                    </a:cubicBezTo>
                    <a:cubicBezTo>
                      <a:pt x="51" y="447"/>
                      <a:pt x="48" y="445"/>
                      <a:pt x="46" y="441"/>
                    </a:cubicBezTo>
                    <a:cubicBezTo>
                      <a:pt x="40" y="433"/>
                      <a:pt x="35" y="423"/>
                      <a:pt x="31" y="410"/>
                    </a:cubicBezTo>
                    <a:cubicBezTo>
                      <a:pt x="29" y="402"/>
                      <a:pt x="26" y="394"/>
                      <a:pt x="24" y="386"/>
                    </a:cubicBezTo>
                    <a:cubicBezTo>
                      <a:pt x="24" y="385"/>
                      <a:pt x="24" y="384"/>
                      <a:pt x="24" y="383"/>
                    </a:cubicBezTo>
                    <a:cubicBezTo>
                      <a:pt x="0" y="280"/>
                      <a:pt x="7" y="98"/>
                      <a:pt x="60" y="43"/>
                    </a:cubicBezTo>
                    <a:cubicBezTo>
                      <a:pt x="82" y="20"/>
                      <a:pt x="109" y="0"/>
                      <a:pt x="154" y="0"/>
                    </a:cubicBezTo>
                    <a:cubicBezTo>
                      <a:pt x="189" y="0"/>
                      <a:pt x="214" y="13"/>
                      <a:pt x="233" y="29"/>
                    </a:cubicBezTo>
                    <a:cubicBezTo>
                      <a:pt x="238" y="33"/>
                      <a:pt x="243" y="38"/>
                      <a:pt x="247" y="43"/>
                    </a:cubicBezTo>
                    <a:cubicBezTo>
                      <a:pt x="249" y="44"/>
                      <a:pt x="251" y="47"/>
                      <a:pt x="252" y="49"/>
                    </a:cubicBezTo>
                    <a:cubicBezTo>
                      <a:pt x="301" y="110"/>
                      <a:pt x="306" y="284"/>
                      <a:pt x="284" y="383"/>
                    </a:cubicBezTo>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5" name="Freeform 52">
                <a:extLst>
                  <a:ext uri="{FF2B5EF4-FFF2-40B4-BE49-F238E27FC236}">
                    <a16:creationId xmlns:a16="http://schemas.microsoft.com/office/drawing/2014/main" id="{A2958BAA-28F7-4E69-EBDB-C462C9D2A370}"/>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close/>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6" name="Freeform 53">
                <a:extLst>
                  <a:ext uri="{FF2B5EF4-FFF2-40B4-BE49-F238E27FC236}">
                    <a16:creationId xmlns:a16="http://schemas.microsoft.com/office/drawing/2014/main" id="{47F75BA7-9E64-2A73-05AA-F10448B4DF0A}"/>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7" name="Freeform 54">
                <a:extLst>
                  <a:ext uri="{FF2B5EF4-FFF2-40B4-BE49-F238E27FC236}">
                    <a16:creationId xmlns:a16="http://schemas.microsoft.com/office/drawing/2014/main" id="{C9CE63AE-2C64-1E12-7C0D-DCA4F5E80AA7}"/>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close/>
                  </a:path>
                </a:pathLst>
              </a:custGeom>
              <a:solidFill>
                <a:srgbClr val="3A1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8" name="Freeform 55">
                <a:extLst>
                  <a:ext uri="{FF2B5EF4-FFF2-40B4-BE49-F238E27FC236}">
                    <a16:creationId xmlns:a16="http://schemas.microsoft.com/office/drawing/2014/main" id="{5768718E-A26D-228B-B727-65091C1864ED}"/>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9" name="Freeform 56">
                <a:extLst>
                  <a:ext uri="{FF2B5EF4-FFF2-40B4-BE49-F238E27FC236}">
                    <a16:creationId xmlns:a16="http://schemas.microsoft.com/office/drawing/2014/main" id="{7CD9F5C1-17E5-0AC2-4892-C2600A58D1C6}"/>
                  </a:ext>
                </a:extLst>
              </p:cNvPr>
              <p:cNvSpPr>
                <a:spLocks/>
              </p:cNvSpPr>
              <p:nvPr/>
            </p:nvSpPr>
            <p:spPr bwMode="auto">
              <a:xfrm>
                <a:off x="2828239" y="1475553"/>
                <a:ext cx="37176" cy="18225"/>
              </a:xfrm>
              <a:custGeom>
                <a:avLst/>
                <a:gdLst>
                  <a:gd name="T0" fmla="*/ 0 w 80"/>
                  <a:gd name="T1" fmla="*/ 0 h 41"/>
                  <a:gd name="T2" fmla="*/ 0 w 80"/>
                  <a:gd name="T3" fmla="*/ 17 h 41"/>
                  <a:gd name="T4" fmla="*/ 80 w 80"/>
                  <a:gd name="T5" fmla="*/ 41 h 41"/>
                  <a:gd name="T6" fmla="*/ 80 w 80"/>
                  <a:gd name="T7" fmla="*/ 1 h 41"/>
                  <a:gd name="T8" fmla="*/ 40 w 80"/>
                  <a:gd name="T9" fmla="*/ 16 h 41"/>
                  <a:gd name="T10" fmla="*/ 40 w 80"/>
                  <a:gd name="T11" fmla="*/ 16 h 41"/>
                  <a:gd name="T12" fmla="*/ 40 w 80"/>
                  <a:gd name="T13" fmla="*/ 16 h 41"/>
                  <a:gd name="T14" fmla="*/ 0 w 80"/>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41">
                    <a:moveTo>
                      <a:pt x="0" y="0"/>
                    </a:moveTo>
                    <a:cubicBezTo>
                      <a:pt x="0" y="17"/>
                      <a:pt x="0" y="17"/>
                      <a:pt x="0" y="17"/>
                    </a:cubicBezTo>
                    <a:cubicBezTo>
                      <a:pt x="80" y="41"/>
                      <a:pt x="80" y="41"/>
                      <a:pt x="80" y="41"/>
                    </a:cubicBezTo>
                    <a:cubicBezTo>
                      <a:pt x="80" y="1"/>
                      <a:pt x="80" y="1"/>
                      <a:pt x="80" y="1"/>
                    </a:cubicBezTo>
                    <a:cubicBezTo>
                      <a:pt x="67" y="10"/>
                      <a:pt x="53" y="16"/>
                      <a:pt x="40" y="16"/>
                    </a:cubicBezTo>
                    <a:cubicBezTo>
                      <a:pt x="40" y="16"/>
                      <a:pt x="40" y="16"/>
                      <a:pt x="40" y="16"/>
                    </a:cubicBezTo>
                    <a:cubicBezTo>
                      <a:pt x="40" y="16"/>
                      <a:pt x="40" y="16"/>
                      <a:pt x="40" y="16"/>
                    </a:cubicBezTo>
                    <a:cubicBezTo>
                      <a:pt x="27" y="16"/>
                      <a:pt x="13" y="10"/>
                      <a:pt x="0" y="0"/>
                    </a:cubicBezTo>
                  </a:path>
                </a:pathLst>
              </a:custGeom>
              <a:solidFill>
                <a:srgbClr val="EDA3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0" name="Forma libre 704">
                <a:extLst>
                  <a:ext uri="{FF2B5EF4-FFF2-40B4-BE49-F238E27FC236}">
                    <a16:creationId xmlns:a16="http://schemas.microsoft.com/office/drawing/2014/main" id="{9EE46DC9-13BF-8C83-1746-0FCC69C8A1FC}"/>
                  </a:ext>
                </a:extLst>
              </p:cNvPr>
              <p:cNvSpPr>
                <a:spLocks noChangeArrowheads="1"/>
              </p:cNvSpPr>
              <p:nvPr/>
            </p:nvSpPr>
            <p:spPr bwMode="auto">
              <a:xfrm>
                <a:off x="2809267" y="1536138"/>
                <a:ext cx="74866" cy="82257"/>
              </a:xfrm>
              <a:custGeom>
                <a:avLst/>
                <a:gdLst>
                  <a:gd name="connsiteX0" fmla="*/ 0 w 463550"/>
                  <a:gd name="connsiteY0" fmla="*/ 0 h 530225"/>
                  <a:gd name="connsiteX1" fmla="*/ 463550 w 463550"/>
                  <a:gd name="connsiteY1" fmla="*/ 0 h 530225"/>
                  <a:gd name="connsiteX2" fmla="*/ 463550 w 463550"/>
                  <a:gd name="connsiteY2" fmla="*/ 503645 h 530225"/>
                  <a:gd name="connsiteX3" fmla="*/ 441961 w 463550"/>
                  <a:gd name="connsiteY3" fmla="*/ 509197 h 530225"/>
                  <a:gd name="connsiteX4" fmla="*/ 233362 w 463550"/>
                  <a:gd name="connsiteY4" fmla="*/ 530225 h 530225"/>
                  <a:gd name="connsiteX5" fmla="*/ 24763 w 463550"/>
                  <a:gd name="connsiteY5" fmla="*/ 509197 h 530225"/>
                  <a:gd name="connsiteX6" fmla="*/ 0 w 463550"/>
                  <a:gd name="connsiteY6" fmla="*/ 502829 h 53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550" h="530225">
                    <a:moveTo>
                      <a:pt x="0" y="0"/>
                    </a:moveTo>
                    <a:lnTo>
                      <a:pt x="463550" y="0"/>
                    </a:lnTo>
                    <a:lnTo>
                      <a:pt x="463550" y="503645"/>
                    </a:lnTo>
                    <a:lnTo>
                      <a:pt x="441961" y="509197"/>
                    </a:lnTo>
                    <a:cubicBezTo>
                      <a:pt x="374581" y="522984"/>
                      <a:pt x="304817" y="530225"/>
                      <a:pt x="233362" y="530225"/>
                    </a:cubicBezTo>
                    <a:cubicBezTo>
                      <a:pt x="161907" y="530225"/>
                      <a:pt x="92143" y="522984"/>
                      <a:pt x="24763" y="509197"/>
                    </a:cubicBezTo>
                    <a:lnTo>
                      <a:pt x="0" y="502829"/>
                    </a:lnTo>
                    <a:close/>
                  </a:path>
                </a:pathLst>
              </a:custGeom>
              <a:solidFill>
                <a:srgbClr val="F080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21" name="Forma libre 706">
                <a:extLst>
                  <a:ext uri="{FF2B5EF4-FFF2-40B4-BE49-F238E27FC236}">
                    <a16:creationId xmlns:a16="http://schemas.microsoft.com/office/drawing/2014/main" id="{D8861CC4-9576-0F7A-BB78-FE52FA510C59}"/>
                  </a:ext>
                </a:extLst>
              </p:cNvPr>
              <p:cNvSpPr>
                <a:spLocks/>
              </p:cNvSpPr>
              <p:nvPr/>
            </p:nvSpPr>
            <p:spPr bwMode="auto">
              <a:xfrm>
                <a:off x="2761108" y="1493778"/>
                <a:ext cx="67132" cy="123550"/>
              </a:xfrm>
              <a:custGeom>
                <a:avLst/>
                <a:gdLst>
                  <a:gd name="connsiteX0" fmla="*/ 415660 w 415660"/>
                  <a:gd name="connsiteY0" fmla="*/ 0 h 796396"/>
                  <a:gd name="connsiteX1" fmla="*/ 415660 w 415660"/>
                  <a:gd name="connsiteY1" fmla="*/ 115150 h 796396"/>
                  <a:gd name="connsiteX2" fmla="*/ 415660 w 415660"/>
                  <a:gd name="connsiteY2" fmla="*/ 169846 h 796396"/>
                  <a:gd name="connsiteX3" fmla="*/ 415660 w 415660"/>
                  <a:gd name="connsiteY3" fmla="*/ 703548 h 796396"/>
                  <a:gd name="connsiteX4" fmla="*/ 415660 w 415660"/>
                  <a:gd name="connsiteY4" fmla="*/ 796396 h 796396"/>
                  <a:gd name="connsiteX5" fmla="*/ 322948 w 415660"/>
                  <a:gd name="connsiteY5" fmla="*/ 782247 h 796396"/>
                  <a:gd name="connsiteX6" fmla="*/ 38181 w 415660"/>
                  <a:gd name="connsiteY6" fmla="*/ 678350 h 796396"/>
                  <a:gd name="connsiteX7" fmla="*/ 0 w 415660"/>
                  <a:gd name="connsiteY7" fmla="*/ 655154 h 796396"/>
                  <a:gd name="connsiteX8" fmla="*/ 1225 w 415660"/>
                  <a:gd name="connsiteY8" fmla="*/ 594820 h 796396"/>
                  <a:gd name="connsiteX9" fmla="*/ 8042 w 415660"/>
                  <a:gd name="connsiteY9" fmla="*/ 426054 h 796396"/>
                  <a:gd name="connsiteX10" fmla="*/ 8042 w 415660"/>
                  <a:gd name="connsiteY10" fmla="*/ 420297 h 796396"/>
                  <a:gd name="connsiteX11" fmla="*/ 131476 w 415660"/>
                  <a:gd name="connsiteY11" fmla="*/ 86362 h 796396"/>
                  <a:gd name="connsiteX12" fmla="*/ 401307 w 415660"/>
                  <a:gd name="connsiteY12" fmla="*/ 5758 h 796396"/>
                  <a:gd name="connsiteX13" fmla="*/ 415660 w 415660"/>
                  <a:gd name="connsiteY13" fmla="*/ 0 h 79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5660" h="796396">
                    <a:moveTo>
                      <a:pt x="415660" y="0"/>
                    </a:moveTo>
                    <a:cubicBezTo>
                      <a:pt x="415660" y="0"/>
                      <a:pt x="415660" y="0"/>
                      <a:pt x="415660" y="115150"/>
                    </a:cubicBezTo>
                    <a:lnTo>
                      <a:pt x="415660" y="169846"/>
                    </a:lnTo>
                    <a:cubicBezTo>
                      <a:pt x="415660" y="169846"/>
                      <a:pt x="415660" y="169846"/>
                      <a:pt x="415660" y="703548"/>
                    </a:cubicBezTo>
                    <a:lnTo>
                      <a:pt x="415660" y="796396"/>
                    </a:lnTo>
                    <a:lnTo>
                      <a:pt x="322948" y="782247"/>
                    </a:lnTo>
                    <a:cubicBezTo>
                      <a:pt x="221880" y="761565"/>
                      <a:pt x="126177" y="726152"/>
                      <a:pt x="38181" y="678350"/>
                    </a:cubicBezTo>
                    <a:lnTo>
                      <a:pt x="0" y="655154"/>
                    </a:lnTo>
                    <a:lnTo>
                      <a:pt x="1225" y="594820"/>
                    </a:lnTo>
                    <a:cubicBezTo>
                      <a:pt x="3019" y="514575"/>
                      <a:pt x="5172" y="443327"/>
                      <a:pt x="8042" y="426054"/>
                    </a:cubicBezTo>
                    <a:cubicBezTo>
                      <a:pt x="8042" y="426054"/>
                      <a:pt x="8042" y="426054"/>
                      <a:pt x="8042" y="420297"/>
                    </a:cubicBezTo>
                    <a:cubicBezTo>
                      <a:pt x="19524" y="313783"/>
                      <a:pt x="33877" y="178482"/>
                      <a:pt x="131476" y="86362"/>
                    </a:cubicBezTo>
                    <a:cubicBezTo>
                      <a:pt x="208981" y="8636"/>
                      <a:pt x="318061" y="5758"/>
                      <a:pt x="401307" y="5758"/>
                    </a:cubicBezTo>
                    <a:cubicBezTo>
                      <a:pt x="407048" y="2879"/>
                      <a:pt x="409919" y="2879"/>
                      <a:pt x="41566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22" name="Freeform 60">
                <a:extLst>
                  <a:ext uri="{FF2B5EF4-FFF2-40B4-BE49-F238E27FC236}">
                    <a16:creationId xmlns:a16="http://schemas.microsoft.com/office/drawing/2014/main" id="{5C3827C5-C546-9F4B-A033-5352B2E87AF9}"/>
                  </a:ext>
                </a:extLst>
              </p:cNvPr>
              <p:cNvSpPr>
                <a:spLocks/>
              </p:cNvSpPr>
              <p:nvPr/>
            </p:nvSpPr>
            <p:spPr bwMode="auto">
              <a:xfrm>
                <a:off x="2794909" y="1347242"/>
                <a:ext cx="104094" cy="135453"/>
              </a:xfrm>
              <a:custGeom>
                <a:avLst/>
                <a:gdLst>
                  <a:gd name="T0" fmla="*/ 204 w 224"/>
                  <a:gd name="T1" fmla="*/ 141 h 304"/>
                  <a:gd name="T2" fmla="*/ 204 w 224"/>
                  <a:gd name="T3" fmla="*/ 100 h 304"/>
                  <a:gd name="T4" fmla="*/ 112 w 224"/>
                  <a:gd name="T5" fmla="*/ 0 h 304"/>
                  <a:gd name="T6" fmla="*/ 21 w 224"/>
                  <a:gd name="T7" fmla="*/ 100 h 304"/>
                  <a:gd name="T8" fmla="*/ 21 w 224"/>
                  <a:gd name="T9" fmla="*/ 141 h 304"/>
                  <a:gd name="T10" fmla="*/ 0 w 224"/>
                  <a:gd name="T11" fmla="*/ 161 h 304"/>
                  <a:gd name="T12" fmla="*/ 0 w 224"/>
                  <a:gd name="T13" fmla="*/ 182 h 304"/>
                  <a:gd name="T14" fmla="*/ 21 w 224"/>
                  <a:gd name="T15" fmla="*/ 202 h 304"/>
                  <a:gd name="T16" fmla="*/ 112 w 224"/>
                  <a:gd name="T17" fmla="*/ 304 h 304"/>
                  <a:gd name="T18" fmla="*/ 204 w 224"/>
                  <a:gd name="T19" fmla="*/ 202 h 304"/>
                  <a:gd name="T20" fmla="*/ 224 w 224"/>
                  <a:gd name="T21" fmla="*/ 182 h 304"/>
                  <a:gd name="T22" fmla="*/ 224 w 224"/>
                  <a:gd name="T23" fmla="*/ 161 h 304"/>
                  <a:gd name="T24" fmla="*/ 204 w 224"/>
                  <a:gd name="T25" fmla="*/ 141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304">
                    <a:moveTo>
                      <a:pt x="204" y="141"/>
                    </a:moveTo>
                    <a:cubicBezTo>
                      <a:pt x="204" y="100"/>
                      <a:pt x="204" y="100"/>
                      <a:pt x="204" y="100"/>
                    </a:cubicBezTo>
                    <a:cubicBezTo>
                      <a:pt x="204" y="55"/>
                      <a:pt x="153" y="0"/>
                      <a:pt x="112" y="0"/>
                    </a:cubicBezTo>
                    <a:cubicBezTo>
                      <a:pt x="72" y="0"/>
                      <a:pt x="21" y="55"/>
                      <a:pt x="21" y="100"/>
                    </a:cubicBezTo>
                    <a:cubicBezTo>
                      <a:pt x="21" y="141"/>
                      <a:pt x="21" y="141"/>
                      <a:pt x="21" y="141"/>
                    </a:cubicBezTo>
                    <a:cubicBezTo>
                      <a:pt x="9" y="141"/>
                      <a:pt x="0" y="150"/>
                      <a:pt x="0" y="161"/>
                    </a:cubicBezTo>
                    <a:cubicBezTo>
                      <a:pt x="0" y="182"/>
                      <a:pt x="0" y="182"/>
                      <a:pt x="0" y="182"/>
                    </a:cubicBezTo>
                    <a:cubicBezTo>
                      <a:pt x="0" y="193"/>
                      <a:pt x="9" y="202"/>
                      <a:pt x="21" y="202"/>
                    </a:cubicBezTo>
                    <a:cubicBezTo>
                      <a:pt x="21" y="246"/>
                      <a:pt x="72" y="304"/>
                      <a:pt x="112" y="304"/>
                    </a:cubicBezTo>
                    <a:cubicBezTo>
                      <a:pt x="153" y="304"/>
                      <a:pt x="204" y="246"/>
                      <a:pt x="204" y="202"/>
                    </a:cubicBezTo>
                    <a:cubicBezTo>
                      <a:pt x="215" y="202"/>
                      <a:pt x="224" y="193"/>
                      <a:pt x="224" y="182"/>
                    </a:cubicBezTo>
                    <a:cubicBezTo>
                      <a:pt x="224" y="161"/>
                      <a:pt x="224" y="161"/>
                      <a:pt x="224" y="161"/>
                    </a:cubicBezTo>
                    <a:cubicBezTo>
                      <a:pt x="224" y="150"/>
                      <a:pt x="215" y="141"/>
                      <a:pt x="204" y="141"/>
                    </a:cubicBezTo>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3" name="Freeform 61">
                <a:extLst>
                  <a:ext uri="{FF2B5EF4-FFF2-40B4-BE49-F238E27FC236}">
                    <a16:creationId xmlns:a16="http://schemas.microsoft.com/office/drawing/2014/main" id="{2B5C9724-CF4E-D324-0737-9259F283551B}"/>
                  </a:ext>
                </a:extLst>
              </p:cNvPr>
              <p:cNvSpPr>
                <a:spLocks noEditPoints="1"/>
              </p:cNvSpPr>
              <p:nvPr/>
            </p:nvSpPr>
            <p:spPr bwMode="auto">
              <a:xfrm>
                <a:off x="2846956" y="1347242"/>
                <a:ext cx="52047" cy="128804"/>
              </a:xfrm>
              <a:custGeom>
                <a:avLst/>
                <a:gdLst>
                  <a:gd name="T0" fmla="*/ 91 w 112"/>
                  <a:gd name="T1" fmla="*/ 214 h 289"/>
                  <a:gd name="T2" fmla="*/ 40 w 112"/>
                  <a:gd name="T3" fmla="*/ 289 h 289"/>
                  <a:gd name="T4" fmla="*/ 40 w 112"/>
                  <a:gd name="T5" fmla="*/ 289 h 289"/>
                  <a:gd name="T6" fmla="*/ 91 w 112"/>
                  <a:gd name="T7" fmla="*/ 214 h 289"/>
                  <a:gd name="T8" fmla="*/ 0 w 112"/>
                  <a:gd name="T9" fmla="*/ 0 h 289"/>
                  <a:gd name="T10" fmla="*/ 0 w 112"/>
                  <a:gd name="T11" fmla="*/ 0 h 289"/>
                  <a:gd name="T12" fmla="*/ 92 w 112"/>
                  <a:gd name="T13" fmla="*/ 100 h 289"/>
                  <a:gd name="T14" fmla="*/ 92 w 112"/>
                  <a:gd name="T15" fmla="*/ 141 h 289"/>
                  <a:gd name="T16" fmla="*/ 112 w 112"/>
                  <a:gd name="T17" fmla="*/ 161 h 289"/>
                  <a:gd name="T18" fmla="*/ 112 w 112"/>
                  <a:gd name="T19" fmla="*/ 182 h 289"/>
                  <a:gd name="T20" fmla="*/ 112 w 112"/>
                  <a:gd name="T21" fmla="*/ 182 h 289"/>
                  <a:gd name="T22" fmla="*/ 112 w 112"/>
                  <a:gd name="T23" fmla="*/ 161 h 289"/>
                  <a:gd name="T24" fmla="*/ 92 w 112"/>
                  <a:gd name="T25" fmla="*/ 141 h 289"/>
                  <a:gd name="T26" fmla="*/ 92 w 112"/>
                  <a:gd name="T27" fmla="*/ 100 h 289"/>
                  <a:gd name="T28" fmla="*/ 0 w 112"/>
                  <a:gd name="T29"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289">
                    <a:moveTo>
                      <a:pt x="91" y="214"/>
                    </a:moveTo>
                    <a:cubicBezTo>
                      <a:pt x="86" y="242"/>
                      <a:pt x="64" y="271"/>
                      <a:pt x="40" y="289"/>
                    </a:cubicBezTo>
                    <a:cubicBezTo>
                      <a:pt x="40" y="289"/>
                      <a:pt x="40" y="289"/>
                      <a:pt x="40" y="289"/>
                    </a:cubicBezTo>
                    <a:cubicBezTo>
                      <a:pt x="64" y="271"/>
                      <a:pt x="86" y="242"/>
                      <a:pt x="91" y="214"/>
                    </a:cubicBezTo>
                    <a:moveTo>
                      <a:pt x="0" y="0"/>
                    </a:moveTo>
                    <a:cubicBezTo>
                      <a:pt x="0" y="0"/>
                      <a:pt x="0" y="0"/>
                      <a:pt x="0" y="0"/>
                    </a:cubicBezTo>
                    <a:cubicBezTo>
                      <a:pt x="41" y="0"/>
                      <a:pt x="92" y="55"/>
                      <a:pt x="92" y="100"/>
                    </a:cubicBezTo>
                    <a:cubicBezTo>
                      <a:pt x="92" y="141"/>
                      <a:pt x="92" y="141"/>
                      <a:pt x="92" y="141"/>
                    </a:cubicBezTo>
                    <a:cubicBezTo>
                      <a:pt x="103" y="141"/>
                      <a:pt x="112" y="150"/>
                      <a:pt x="112" y="161"/>
                    </a:cubicBezTo>
                    <a:cubicBezTo>
                      <a:pt x="112" y="182"/>
                      <a:pt x="112" y="182"/>
                      <a:pt x="112" y="182"/>
                    </a:cubicBezTo>
                    <a:cubicBezTo>
                      <a:pt x="112" y="182"/>
                      <a:pt x="112" y="182"/>
                      <a:pt x="112" y="182"/>
                    </a:cubicBezTo>
                    <a:cubicBezTo>
                      <a:pt x="112" y="161"/>
                      <a:pt x="112" y="161"/>
                      <a:pt x="112" y="161"/>
                    </a:cubicBezTo>
                    <a:cubicBezTo>
                      <a:pt x="112" y="150"/>
                      <a:pt x="103" y="141"/>
                      <a:pt x="92" y="141"/>
                    </a:cubicBezTo>
                    <a:cubicBezTo>
                      <a:pt x="92" y="100"/>
                      <a:pt x="92" y="100"/>
                      <a:pt x="92" y="100"/>
                    </a:cubicBezTo>
                    <a:cubicBezTo>
                      <a:pt x="92" y="55"/>
                      <a:pt x="41" y="0"/>
                      <a:pt x="0" y="0"/>
                    </a:cubicBezTo>
                  </a:path>
                </a:pathLst>
              </a:custGeom>
              <a:solidFill>
                <a:srgbClr val="3A1E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4" name="Freeform 62">
                <a:extLst>
                  <a:ext uri="{FF2B5EF4-FFF2-40B4-BE49-F238E27FC236}">
                    <a16:creationId xmlns:a16="http://schemas.microsoft.com/office/drawing/2014/main" id="{766DB4DB-DFD3-A25D-5C1F-4D38A5842DCA}"/>
                  </a:ext>
                </a:extLst>
              </p:cNvPr>
              <p:cNvSpPr>
                <a:spLocks/>
              </p:cNvSpPr>
              <p:nvPr/>
            </p:nvSpPr>
            <p:spPr bwMode="auto">
              <a:xfrm>
                <a:off x="2846956" y="1476046"/>
                <a:ext cx="18460" cy="6650"/>
              </a:xfrm>
              <a:custGeom>
                <a:avLst/>
                <a:gdLst>
                  <a:gd name="T0" fmla="*/ 40 w 40"/>
                  <a:gd name="T1" fmla="*/ 0 h 15"/>
                  <a:gd name="T2" fmla="*/ 0 w 40"/>
                  <a:gd name="T3" fmla="*/ 15 h 15"/>
                  <a:gd name="T4" fmla="*/ 0 w 40"/>
                  <a:gd name="T5" fmla="*/ 15 h 15"/>
                  <a:gd name="T6" fmla="*/ 40 w 40"/>
                  <a:gd name="T7" fmla="*/ 0 h 15"/>
                  <a:gd name="T8" fmla="*/ 40 w 40"/>
                  <a:gd name="T9" fmla="*/ 0 h 15"/>
                </a:gdLst>
                <a:ahLst/>
                <a:cxnLst>
                  <a:cxn ang="0">
                    <a:pos x="T0" y="T1"/>
                  </a:cxn>
                  <a:cxn ang="0">
                    <a:pos x="T2" y="T3"/>
                  </a:cxn>
                  <a:cxn ang="0">
                    <a:pos x="T4" y="T5"/>
                  </a:cxn>
                  <a:cxn ang="0">
                    <a:pos x="T6" y="T7"/>
                  </a:cxn>
                  <a:cxn ang="0">
                    <a:pos x="T8" y="T9"/>
                  </a:cxn>
                </a:cxnLst>
                <a:rect l="0" t="0" r="r" b="b"/>
                <a:pathLst>
                  <a:path w="40" h="15">
                    <a:moveTo>
                      <a:pt x="40" y="0"/>
                    </a:moveTo>
                    <a:cubicBezTo>
                      <a:pt x="27" y="9"/>
                      <a:pt x="13" y="15"/>
                      <a:pt x="0" y="15"/>
                    </a:cubicBezTo>
                    <a:cubicBezTo>
                      <a:pt x="0" y="15"/>
                      <a:pt x="0" y="15"/>
                      <a:pt x="0" y="15"/>
                    </a:cubicBezTo>
                    <a:cubicBezTo>
                      <a:pt x="13" y="15"/>
                      <a:pt x="27" y="9"/>
                      <a:pt x="40" y="0"/>
                    </a:cubicBezTo>
                    <a:cubicBezTo>
                      <a:pt x="40" y="0"/>
                      <a:pt x="40" y="0"/>
                      <a:pt x="40" y="0"/>
                    </a:cubicBezTo>
                  </a:path>
                </a:pathLst>
              </a:custGeom>
              <a:solidFill>
                <a:srgbClr val="E789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5" name="Freeform 63">
                <a:extLst>
                  <a:ext uri="{FF2B5EF4-FFF2-40B4-BE49-F238E27FC236}">
                    <a16:creationId xmlns:a16="http://schemas.microsoft.com/office/drawing/2014/main" id="{80A60B1F-DE98-C75C-80C6-56D4DC474AA8}"/>
                  </a:ext>
                </a:extLst>
              </p:cNvPr>
              <p:cNvSpPr>
                <a:spLocks/>
              </p:cNvSpPr>
              <p:nvPr/>
            </p:nvSpPr>
            <p:spPr bwMode="auto">
              <a:xfrm>
                <a:off x="2837726" y="1347242"/>
                <a:ext cx="61277" cy="135453"/>
              </a:xfrm>
              <a:custGeom>
                <a:avLst/>
                <a:gdLst>
                  <a:gd name="T0" fmla="*/ 20 w 132"/>
                  <a:gd name="T1" fmla="*/ 0 h 304"/>
                  <a:gd name="T2" fmla="*/ 20 w 132"/>
                  <a:gd name="T3" fmla="*/ 162 h 304"/>
                  <a:gd name="T4" fmla="*/ 0 w 132"/>
                  <a:gd name="T5" fmla="*/ 226 h 304"/>
                  <a:gd name="T6" fmla="*/ 20 w 132"/>
                  <a:gd name="T7" fmla="*/ 230 h 304"/>
                  <a:gd name="T8" fmla="*/ 20 w 132"/>
                  <a:gd name="T9" fmla="*/ 304 h 304"/>
                  <a:gd name="T10" fmla="*/ 60 w 132"/>
                  <a:gd name="T11" fmla="*/ 289 h 304"/>
                  <a:gd name="T12" fmla="*/ 60 w 132"/>
                  <a:gd name="T13" fmla="*/ 289 h 304"/>
                  <a:gd name="T14" fmla="*/ 111 w 132"/>
                  <a:gd name="T15" fmla="*/ 214 h 304"/>
                  <a:gd name="T16" fmla="*/ 112 w 132"/>
                  <a:gd name="T17" fmla="*/ 202 h 304"/>
                  <a:gd name="T18" fmla="*/ 132 w 132"/>
                  <a:gd name="T19" fmla="*/ 182 h 304"/>
                  <a:gd name="T20" fmla="*/ 132 w 132"/>
                  <a:gd name="T21" fmla="*/ 161 h 304"/>
                  <a:gd name="T22" fmla="*/ 112 w 132"/>
                  <a:gd name="T23" fmla="*/ 141 h 304"/>
                  <a:gd name="T24" fmla="*/ 112 w 132"/>
                  <a:gd name="T25" fmla="*/ 100 h 304"/>
                  <a:gd name="T26" fmla="*/ 20 w 132"/>
                  <a:gd name="T27"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304">
                    <a:moveTo>
                      <a:pt x="20" y="0"/>
                    </a:moveTo>
                    <a:cubicBezTo>
                      <a:pt x="20" y="162"/>
                      <a:pt x="20" y="162"/>
                      <a:pt x="20" y="162"/>
                    </a:cubicBezTo>
                    <a:cubicBezTo>
                      <a:pt x="5" y="193"/>
                      <a:pt x="0" y="226"/>
                      <a:pt x="0" y="226"/>
                    </a:cubicBezTo>
                    <a:cubicBezTo>
                      <a:pt x="20" y="230"/>
                      <a:pt x="20" y="230"/>
                      <a:pt x="20" y="230"/>
                    </a:cubicBezTo>
                    <a:cubicBezTo>
                      <a:pt x="20" y="304"/>
                      <a:pt x="20" y="304"/>
                      <a:pt x="20" y="304"/>
                    </a:cubicBezTo>
                    <a:cubicBezTo>
                      <a:pt x="33" y="304"/>
                      <a:pt x="47" y="298"/>
                      <a:pt x="60" y="289"/>
                    </a:cubicBezTo>
                    <a:cubicBezTo>
                      <a:pt x="60" y="289"/>
                      <a:pt x="60" y="289"/>
                      <a:pt x="60" y="289"/>
                    </a:cubicBezTo>
                    <a:cubicBezTo>
                      <a:pt x="84" y="271"/>
                      <a:pt x="106" y="242"/>
                      <a:pt x="111" y="214"/>
                    </a:cubicBezTo>
                    <a:cubicBezTo>
                      <a:pt x="112" y="210"/>
                      <a:pt x="112" y="206"/>
                      <a:pt x="112" y="202"/>
                    </a:cubicBezTo>
                    <a:cubicBezTo>
                      <a:pt x="123" y="202"/>
                      <a:pt x="132" y="193"/>
                      <a:pt x="132" y="182"/>
                    </a:cubicBezTo>
                    <a:cubicBezTo>
                      <a:pt x="132" y="161"/>
                      <a:pt x="132" y="161"/>
                      <a:pt x="132" y="161"/>
                    </a:cubicBezTo>
                    <a:cubicBezTo>
                      <a:pt x="132" y="150"/>
                      <a:pt x="123" y="141"/>
                      <a:pt x="112" y="141"/>
                    </a:cubicBezTo>
                    <a:cubicBezTo>
                      <a:pt x="112" y="100"/>
                      <a:pt x="112" y="100"/>
                      <a:pt x="112" y="100"/>
                    </a:cubicBezTo>
                    <a:cubicBezTo>
                      <a:pt x="112" y="55"/>
                      <a:pt x="61" y="0"/>
                      <a:pt x="20" y="0"/>
                    </a:cubicBezTo>
                  </a:path>
                </a:pathLst>
              </a:custGeom>
              <a:solidFill>
                <a:srgbClr val="EFAB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6" name="Freeform 64">
                <a:extLst>
                  <a:ext uri="{FF2B5EF4-FFF2-40B4-BE49-F238E27FC236}">
                    <a16:creationId xmlns:a16="http://schemas.microsoft.com/office/drawing/2014/main" id="{074ED3CE-157A-12D1-CD70-B193942F7A41}"/>
                  </a:ext>
                </a:extLst>
              </p:cNvPr>
              <p:cNvSpPr>
                <a:spLocks/>
              </p:cNvSpPr>
              <p:nvPr/>
            </p:nvSpPr>
            <p:spPr bwMode="auto">
              <a:xfrm>
                <a:off x="2786448" y="1336406"/>
                <a:ext cx="120760" cy="77578"/>
              </a:xfrm>
              <a:custGeom>
                <a:avLst/>
                <a:gdLst>
                  <a:gd name="T0" fmla="*/ 183 w 260"/>
                  <a:gd name="T1" fmla="*/ 129 h 174"/>
                  <a:gd name="T2" fmla="*/ 201 w 260"/>
                  <a:gd name="T3" fmla="*/ 159 h 174"/>
                  <a:gd name="T4" fmla="*/ 134 w 260"/>
                  <a:gd name="T5" fmla="*/ 117 h 174"/>
                  <a:gd name="T6" fmla="*/ 151 w 260"/>
                  <a:gd name="T7" fmla="*/ 147 h 174"/>
                  <a:gd name="T8" fmla="*/ 130 w 260"/>
                  <a:gd name="T9" fmla="*/ 135 h 174"/>
                  <a:gd name="T10" fmla="*/ 91 w 260"/>
                  <a:gd name="T11" fmla="*/ 96 h 174"/>
                  <a:gd name="T12" fmla="*/ 30 w 260"/>
                  <a:gd name="T13" fmla="*/ 174 h 174"/>
                  <a:gd name="T14" fmla="*/ 130 w 260"/>
                  <a:gd name="T15" fmla="*/ 0 h 174"/>
                  <a:gd name="T16" fmla="*/ 230 w 260"/>
                  <a:gd name="T17" fmla="*/ 174 h 174"/>
                  <a:gd name="T18" fmla="*/ 183 w 260"/>
                  <a:gd name="T19" fmla="*/ 12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0" h="174">
                    <a:moveTo>
                      <a:pt x="183" y="129"/>
                    </a:moveTo>
                    <a:cubicBezTo>
                      <a:pt x="186" y="138"/>
                      <a:pt x="192" y="151"/>
                      <a:pt x="201" y="159"/>
                    </a:cubicBezTo>
                    <a:cubicBezTo>
                      <a:pt x="174" y="152"/>
                      <a:pt x="150" y="136"/>
                      <a:pt x="134" y="117"/>
                    </a:cubicBezTo>
                    <a:cubicBezTo>
                      <a:pt x="135" y="127"/>
                      <a:pt x="142" y="138"/>
                      <a:pt x="151" y="147"/>
                    </a:cubicBezTo>
                    <a:cubicBezTo>
                      <a:pt x="144" y="144"/>
                      <a:pt x="137" y="140"/>
                      <a:pt x="130" y="135"/>
                    </a:cubicBezTo>
                    <a:cubicBezTo>
                      <a:pt x="115" y="124"/>
                      <a:pt x="101" y="110"/>
                      <a:pt x="91" y="96"/>
                    </a:cubicBezTo>
                    <a:cubicBezTo>
                      <a:pt x="75" y="128"/>
                      <a:pt x="50" y="173"/>
                      <a:pt x="30" y="174"/>
                    </a:cubicBezTo>
                    <a:cubicBezTo>
                      <a:pt x="3" y="119"/>
                      <a:pt x="0" y="0"/>
                      <a:pt x="130" y="0"/>
                    </a:cubicBezTo>
                    <a:cubicBezTo>
                      <a:pt x="260" y="0"/>
                      <a:pt x="240" y="135"/>
                      <a:pt x="230" y="174"/>
                    </a:cubicBezTo>
                    <a:cubicBezTo>
                      <a:pt x="207" y="156"/>
                      <a:pt x="190" y="138"/>
                      <a:pt x="183" y="129"/>
                    </a:cubicBezTo>
                    <a:close/>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7" name="Rectángulo 271">
                <a:extLst>
                  <a:ext uri="{FF2B5EF4-FFF2-40B4-BE49-F238E27FC236}">
                    <a16:creationId xmlns:a16="http://schemas.microsoft.com/office/drawing/2014/main" id="{2034FE7E-18C2-CC48-4950-80A7CD44DC16}"/>
                  </a:ext>
                </a:extLst>
              </p:cNvPr>
              <p:cNvSpPr/>
              <p:nvPr/>
            </p:nvSpPr>
            <p:spPr>
              <a:xfrm>
                <a:off x="2636740" y="1592426"/>
                <a:ext cx="420431" cy="97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s-ES" sz="1200" dirty="0">
                  <a:solidFill>
                    <a:prstClr val="black"/>
                  </a:solidFill>
                  <a:latin typeface="Arial" panose="020B0604020202020204" pitchFamily="34" charset="0"/>
                  <a:cs typeface="Arial" panose="020B0604020202020204" pitchFamily="34" charset="0"/>
                </a:endParaRPr>
              </a:p>
            </p:txBody>
          </p:sp>
          <p:sp>
            <p:nvSpPr>
              <p:cNvPr id="128" name="Forma libre 717">
                <a:extLst>
                  <a:ext uri="{FF2B5EF4-FFF2-40B4-BE49-F238E27FC236}">
                    <a16:creationId xmlns:a16="http://schemas.microsoft.com/office/drawing/2014/main" id="{76F29614-1469-8499-B22D-93985BCB780D}"/>
                  </a:ext>
                </a:extLst>
              </p:cNvPr>
              <p:cNvSpPr>
                <a:spLocks/>
              </p:cNvSpPr>
              <p:nvPr/>
            </p:nvSpPr>
            <p:spPr bwMode="auto">
              <a:xfrm>
                <a:off x="2843775" y="1379618"/>
                <a:ext cx="81623" cy="100368"/>
              </a:xfrm>
              <a:custGeom>
                <a:avLst/>
                <a:gdLst>
                  <a:gd name="connsiteX0" fmla="*/ 326430 w 514112"/>
                  <a:gd name="connsiteY0" fmla="*/ 0 h 658129"/>
                  <a:gd name="connsiteX1" fmla="*/ 422781 w 514112"/>
                  <a:gd name="connsiteY1" fmla="*/ 0 h 658129"/>
                  <a:gd name="connsiteX2" fmla="*/ 453111 w 514112"/>
                  <a:gd name="connsiteY2" fmla="*/ 5180 h 658129"/>
                  <a:gd name="connsiteX3" fmla="*/ 514112 w 514112"/>
                  <a:gd name="connsiteY3" fmla="*/ 95855 h 658129"/>
                  <a:gd name="connsiteX4" fmla="*/ 514112 w 514112"/>
                  <a:gd name="connsiteY4" fmla="*/ 170347 h 658129"/>
                  <a:gd name="connsiteX5" fmla="*/ 514112 w 514112"/>
                  <a:gd name="connsiteY5" fmla="*/ 201426 h 658129"/>
                  <a:gd name="connsiteX6" fmla="*/ 514111 w 514112"/>
                  <a:gd name="connsiteY6" fmla="*/ 201426 h 658129"/>
                  <a:gd name="connsiteX7" fmla="*/ 514111 w 514112"/>
                  <a:gd name="connsiteY7" fmla="*/ 214976 h 658129"/>
                  <a:gd name="connsiteX8" fmla="*/ 514111 w 514112"/>
                  <a:gd name="connsiteY8" fmla="*/ 319607 h 658129"/>
                  <a:gd name="connsiteX9" fmla="*/ 417715 w 514112"/>
                  <a:gd name="connsiteY9" fmla="*/ 416327 h 658129"/>
                  <a:gd name="connsiteX10" fmla="*/ 401649 w 514112"/>
                  <a:gd name="connsiteY10" fmla="*/ 416327 h 658129"/>
                  <a:gd name="connsiteX11" fmla="*/ 144594 w 514112"/>
                  <a:gd name="connsiteY11" fmla="*/ 642009 h 658129"/>
                  <a:gd name="connsiteX12" fmla="*/ 112462 w 514112"/>
                  <a:gd name="connsiteY12" fmla="*/ 658129 h 658129"/>
                  <a:gd name="connsiteX13" fmla="*/ 48198 w 514112"/>
                  <a:gd name="connsiteY13" fmla="*/ 658129 h 658129"/>
                  <a:gd name="connsiteX14" fmla="*/ 0 w 514112"/>
                  <a:gd name="connsiteY14" fmla="*/ 609769 h 658129"/>
                  <a:gd name="connsiteX15" fmla="*/ 48198 w 514112"/>
                  <a:gd name="connsiteY15" fmla="*/ 577529 h 658129"/>
                  <a:gd name="connsiteX16" fmla="*/ 112462 w 514112"/>
                  <a:gd name="connsiteY16" fmla="*/ 577529 h 658129"/>
                  <a:gd name="connsiteX17" fmla="*/ 144594 w 514112"/>
                  <a:gd name="connsiteY17" fmla="*/ 577529 h 658129"/>
                  <a:gd name="connsiteX18" fmla="*/ 337385 w 514112"/>
                  <a:gd name="connsiteY18" fmla="*/ 448568 h 658129"/>
                  <a:gd name="connsiteX19" fmla="*/ 337385 w 514112"/>
                  <a:gd name="connsiteY19" fmla="*/ 416327 h 658129"/>
                  <a:gd name="connsiteX20" fmla="*/ 321319 w 514112"/>
                  <a:gd name="connsiteY20" fmla="*/ 319607 h 658129"/>
                  <a:gd name="connsiteX21" fmla="*/ 321319 w 514112"/>
                  <a:gd name="connsiteY21" fmla="*/ 174526 h 658129"/>
                  <a:gd name="connsiteX22" fmla="*/ 321319 w 514112"/>
                  <a:gd name="connsiteY22" fmla="*/ 156391 h 658129"/>
                  <a:gd name="connsiteX23" fmla="*/ 321319 w 514112"/>
                  <a:gd name="connsiteY23" fmla="*/ 145442 h 658129"/>
                  <a:gd name="connsiteX24" fmla="*/ 321320 w 514112"/>
                  <a:gd name="connsiteY24" fmla="*/ 145442 h 658129"/>
                  <a:gd name="connsiteX25" fmla="*/ 321320 w 514112"/>
                  <a:gd name="connsiteY25" fmla="*/ 136858 h 658129"/>
                  <a:gd name="connsiteX26" fmla="*/ 321320 w 514112"/>
                  <a:gd name="connsiteY26" fmla="*/ 95855 h 658129"/>
                  <a:gd name="connsiteX27" fmla="*/ 318245 w 514112"/>
                  <a:gd name="connsiteY27" fmla="*/ 646 h 65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4112" h="658129">
                    <a:moveTo>
                      <a:pt x="326430" y="0"/>
                    </a:moveTo>
                    <a:lnTo>
                      <a:pt x="422781" y="0"/>
                    </a:lnTo>
                    <a:lnTo>
                      <a:pt x="453111" y="5180"/>
                    </a:lnTo>
                    <a:cubicBezTo>
                      <a:pt x="487001" y="17270"/>
                      <a:pt x="514112" y="47495"/>
                      <a:pt x="514112" y="95855"/>
                    </a:cubicBezTo>
                    <a:cubicBezTo>
                      <a:pt x="514112" y="124065"/>
                      <a:pt x="514112" y="148749"/>
                      <a:pt x="514112" y="170347"/>
                    </a:cubicBezTo>
                    <a:lnTo>
                      <a:pt x="514112" y="201426"/>
                    </a:lnTo>
                    <a:lnTo>
                      <a:pt x="514111" y="201426"/>
                    </a:lnTo>
                    <a:lnTo>
                      <a:pt x="514111" y="214976"/>
                    </a:lnTo>
                    <a:cubicBezTo>
                      <a:pt x="514111" y="242911"/>
                      <a:pt x="514111" y="277292"/>
                      <a:pt x="514111" y="319607"/>
                    </a:cubicBezTo>
                    <a:cubicBezTo>
                      <a:pt x="514111" y="384087"/>
                      <a:pt x="465913" y="416327"/>
                      <a:pt x="417715" y="416327"/>
                    </a:cubicBezTo>
                    <a:cubicBezTo>
                      <a:pt x="417715" y="416327"/>
                      <a:pt x="417715" y="416327"/>
                      <a:pt x="401649" y="416327"/>
                    </a:cubicBezTo>
                    <a:cubicBezTo>
                      <a:pt x="385583" y="513048"/>
                      <a:pt x="321319" y="625889"/>
                      <a:pt x="144594" y="642009"/>
                    </a:cubicBezTo>
                    <a:cubicBezTo>
                      <a:pt x="128528" y="658129"/>
                      <a:pt x="128528" y="658129"/>
                      <a:pt x="112462" y="658129"/>
                    </a:cubicBezTo>
                    <a:cubicBezTo>
                      <a:pt x="112462" y="658129"/>
                      <a:pt x="112462" y="658129"/>
                      <a:pt x="48198" y="658129"/>
                    </a:cubicBezTo>
                    <a:cubicBezTo>
                      <a:pt x="32132" y="658129"/>
                      <a:pt x="0" y="625889"/>
                      <a:pt x="0" y="609769"/>
                    </a:cubicBezTo>
                    <a:cubicBezTo>
                      <a:pt x="0" y="593649"/>
                      <a:pt x="32132" y="577529"/>
                      <a:pt x="48198" y="577529"/>
                    </a:cubicBezTo>
                    <a:cubicBezTo>
                      <a:pt x="48198" y="577529"/>
                      <a:pt x="48198" y="577529"/>
                      <a:pt x="112462" y="577529"/>
                    </a:cubicBezTo>
                    <a:cubicBezTo>
                      <a:pt x="128528" y="577529"/>
                      <a:pt x="144594" y="577529"/>
                      <a:pt x="144594" y="577529"/>
                    </a:cubicBezTo>
                    <a:cubicBezTo>
                      <a:pt x="257056" y="577529"/>
                      <a:pt x="305253" y="496928"/>
                      <a:pt x="337385" y="448568"/>
                    </a:cubicBezTo>
                    <a:cubicBezTo>
                      <a:pt x="337385" y="432448"/>
                      <a:pt x="337385" y="432448"/>
                      <a:pt x="337385" y="416327"/>
                    </a:cubicBezTo>
                    <a:cubicBezTo>
                      <a:pt x="273122" y="416327"/>
                      <a:pt x="321319" y="384087"/>
                      <a:pt x="321319" y="319607"/>
                    </a:cubicBezTo>
                    <a:cubicBezTo>
                      <a:pt x="321319" y="319607"/>
                      <a:pt x="321319" y="319607"/>
                      <a:pt x="321319" y="174526"/>
                    </a:cubicBezTo>
                    <a:cubicBezTo>
                      <a:pt x="321319" y="166466"/>
                      <a:pt x="321319" y="162436"/>
                      <a:pt x="321319" y="156391"/>
                    </a:cubicBezTo>
                    <a:lnTo>
                      <a:pt x="321319" y="145442"/>
                    </a:lnTo>
                    <a:lnTo>
                      <a:pt x="321320" y="145442"/>
                    </a:lnTo>
                    <a:lnTo>
                      <a:pt x="321320" y="136858"/>
                    </a:lnTo>
                    <a:cubicBezTo>
                      <a:pt x="321320" y="95855"/>
                      <a:pt x="321320" y="95855"/>
                      <a:pt x="321320" y="95855"/>
                    </a:cubicBezTo>
                    <a:cubicBezTo>
                      <a:pt x="321320" y="39435"/>
                      <a:pt x="284419" y="7699"/>
                      <a:pt x="318245" y="646"/>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29" name="Forma libre 718">
                <a:extLst>
                  <a:ext uri="{FF2B5EF4-FFF2-40B4-BE49-F238E27FC236}">
                    <a16:creationId xmlns:a16="http://schemas.microsoft.com/office/drawing/2014/main" id="{2811610E-0B17-B48C-0804-965A9FEF0481}"/>
                  </a:ext>
                </a:extLst>
              </p:cNvPr>
              <p:cNvSpPr>
                <a:spLocks/>
              </p:cNvSpPr>
              <p:nvPr/>
            </p:nvSpPr>
            <p:spPr bwMode="auto">
              <a:xfrm flipH="1">
                <a:off x="2771069" y="1379618"/>
                <a:ext cx="33364" cy="63004"/>
              </a:xfrm>
              <a:custGeom>
                <a:avLst/>
                <a:gdLst>
                  <a:gd name="connsiteX0" fmla="*/ 118813 w 210144"/>
                  <a:gd name="connsiteY0" fmla="*/ 0 h 413127"/>
                  <a:gd name="connsiteX1" fmla="*/ 22462 w 210144"/>
                  <a:gd name="connsiteY1" fmla="*/ 0 h 413127"/>
                  <a:gd name="connsiteX2" fmla="*/ 14277 w 210144"/>
                  <a:gd name="connsiteY2" fmla="*/ 646 h 413127"/>
                  <a:gd name="connsiteX3" fmla="*/ 17352 w 210144"/>
                  <a:gd name="connsiteY3" fmla="*/ 95855 h 413127"/>
                  <a:gd name="connsiteX4" fmla="*/ 17352 w 210144"/>
                  <a:gd name="connsiteY4" fmla="*/ 136858 h 413127"/>
                  <a:gd name="connsiteX5" fmla="*/ 17352 w 210144"/>
                  <a:gd name="connsiteY5" fmla="*/ 145442 h 413127"/>
                  <a:gd name="connsiteX6" fmla="*/ 17351 w 210144"/>
                  <a:gd name="connsiteY6" fmla="*/ 145442 h 413127"/>
                  <a:gd name="connsiteX7" fmla="*/ 17351 w 210144"/>
                  <a:gd name="connsiteY7" fmla="*/ 156391 h 413127"/>
                  <a:gd name="connsiteX8" fmla="*/ 17351 w 210144"/>
                  <a:gd name="connsiteY8" fmla="*/ 174526 h 413127"/>
                  <a:gd name="connsiteX9" fmla="*/ 17351 w 210144"/>
                  <a:gd name="connsiteY9" fmla="*/ 319607 h 413127"/>
                  <a:gd name="connsiteX10" fmla="*/ 3796 w 210144"/>
                  <a:gd name="connsiteY10" fmla="*/ 410282 h 413127"/>
                  <a:gd name="connsiteX11" fmla="*/ 10372 w 210144"/>
                  <a:gd name="connsiteY11" fmla="*/ 413127 h 413127"/>
                  <a:gd name="connsiteX12" fmla="*/ 132484 w 210144"/>
                  <a:gd name="connsiteY12" fmla="*/ 413127 h 413127"/>
                  <a:gd name="connsiteX13" fmla="*/ 149142 w 210144"/>
                  <a:gd name="connsiteY13" fmla="*/ 410282 h 413127"/>
                  <a:gd name="connsiteX14" fmla="*/ 210143 w 210144"/>
                  <a:gd name="connsiteY14" fmla="*/ 319607 h 413127"/>
                  <a:gd name="connsiteX15" fmla="*/ 210143 w 210144"/>
                  <a:gd name="connsiteY15" fmla="*/ 214976 h 413127"/>
                  <a:gd name="connsiteX16" fmla="*/ 210143 w 210144"/>
                  <a:gd name="connsiteY16" fmla="*/ 201426 h 413127"/>
                  <a:gd name="connsiteX17" fmla="*/ 210144 w 210144"/>
                  <a:gd name="connsiteY17" fmla="*/ 201426 h 413127"/>
                  <a:gd name="connsiteX18" fmla="*/ 210144 w 210144"/>
                  <a:gd name="connsiteY18" fmla="*/ 170347 h 413127"/>
                  <a:gd name="connsiteX19" fmla="*/ 210144 w 210144"/>
                  <a:gd name="connsiteY19" fmla="*/ 95855 h 413127"/>
                  <a:gd name="connsiteX20" fmla="*/ 149143 w 210144"/>
                  <a:gd name="connsiteY20" fmla="*/ 5180 h 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0144" h="413127">
                    <a:moveTo>
                      <a:pt x="118813" y="0"/>
                    </a:moveTo>
                    <a:lnTo>
                      <a:pt x="22462" y="0"/>
                    </a:lnTo>
                    <a:lnTo>
                      <a:pt x="14277" y="646"/>
                    </a:lnTo>
                    <a:cubicBezTo>
                      <a:pt x="-19549" y="7699"/>
                      <a:pt x="17352" y="39435"/>
                      <a:pt x="17352" y="95855"/>
                    </a:cubicBezTo>
                    <a:cubicBezTo>
                      <a:pt x="17352" y="95855"/>
                      <a:pt x="17352" y="95855"/>
                      <a:pt x="17352" y="136858"/>
                    </a:cubicBezTo>
                    <a:lnTo>
                      <a:pt x="17352" y="145442"/>
                    </a:lnTo>
                    <a:lnTo>
                      <a:pt x="17351" y="145442"/>
                    </a:lnTo>
                    <a:lnTo>
                      <a:pt x="17351" y="156391"/>
                    </a:lnTo>
                    <a:cubicBezTo>
                      <a:pt x="17351" y="162436"/>
                      <a:pt x="17351" y="166466"/>
                      <a:pt x="17351" y="174526"/>
                    </a:cubicBezTo>
                    <a:cubicBezTo>
                      <a:pt x="17351" y="319607"/>
                      <a:pt x="17351" y="319607"/>
                      <a:pt x="17351" y="319607"/>
                    </a:cubicBezTo>
                    <a:cubicBezTo>
                      <a:pt x="17351" y="367967"/>
                      <a:pt x="-9760" y="398192"/>
                      <a:pt x="3796" y="410282"/>
                    </a:cubicBezTo>
                    <a:lnTo>
                      <a:pt x="10372" y="413127"/>
                    </a:lnTo>
                    <a:lnTo>
                      <a:pt x="132484" y="413127"/>
                    </a:lnTo>
                    <a:lnTo>
                      <a:pt x="149142" y="410282"/>
                    </a:lnTo>
                    <a:cubicBezTo>
                      <a:pt x="183032" y="398192"/>
                      <a:pt x="210143" y="367967"/>
                      <a:pt x="210143" y="319607"/>
                    </a:cubicBezTo>
                    <a:cubicBezTo>
                      <a:pt x="210143" y="277292"/>
                      <a:pt x="210143" y="242911"/>
                      <a:pt x="210143" y="214976"/>
                    </a:cubicBezTo>
                    <a:lnTo>
                      <a:pt x="210143" y="201426"/>
                    </a:lnTo>
                    <a:lnTo>
                      <a:pt x="210144" y="201426"/>
                    </a:lnTo>
                    <a:lnTo>
                      <a:pt x="210144" y="170347"/>
                    </a:lnTo>
                    <a:cubicBezTo>
                      <a:pt x="210144" y="148749"/>
                      <a:pt x="210144" y="124065"/>
                      <a:pt x="210144" y="95855"/>
                    </a:cubicBezTo>
                    <a:cubicBezTo>
                      <a:pt x="210144" y="47495"/>
                      <a:pt x="183033" y="17270"/>
                      <a:pt x="149143" y="5180"/>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30" name="Forma libre 719">
                <a:extLst>
                  <a:ext uri="{FF2B5EF4-FFF2-40B4-BE49-F238E27FC236}">
                    <a16:creationId xmlns:a16="http://schemas.microsoft.com/office/drawing/2014/main" id="{250ADE3B-2C25-0F3B-A993-BA921E485679}"/>
                  </a:ext>
                </a:extLst>
              </p:cNvPr>
              <p:cNvSpPr>
                <a:spLocks/>
              </p:cNvSpPr>
              <p:nvPr/>
            </p:nvSpPr>
            <p:spPr bwMode="auto">
              <a:xfrm>
                <a:off x="2865416" y="1493778"/>
                <a:ext cx="66763" cy="123587"/>
              </a:xfrm>
              <a:custGeom>
                <a:avLst/>
                <a:gdLst>
                  <a:gd name="connsiteX0" fmla="*/ 0 w 413379"/>
                  <a:gd name="connsiteY0" fmla="*/ 0 h 796638"/>
                  <a:gd name="connsiteX1" fmla="*/ 14397 w 413379"/>
                  <a:gd name="connsiteY1" fmla="*/ 5758 h 796638"/>
                  <a:gd name="connsiteX2" fmla="*/ 282181 w 413379"/>
                  <a:gd name="connsiteY2" fmla="*/ 86362 h 796638"/>
                  <a:gd name="connsiteX3" fmla="*/ 405995 w 413379"/>
                  <a:gd name="connsiteY3" fmla="*/ 420297 h 796638"/>
                  <a:gd name="connsiteX4" fmla="*/ 405995 w 413379"/>
                  <a:gd name="connsiteY4" fmla="*/ 426054 h 796638"/>
                  <a:gd name="connsiteX5" fmla="*/ 411754 w 413379"/>
                  <a:gd name="connsiteY5" fmla="*/ 594820 h 796638"/>
                  <a:gd name="connsiteX6" fmla="*/ 413379 w 413379"/>
                  <a:gd name="connsiteY6" fmla="*/ 657504 h 796638"/>
                  <a:gd name="connsiteX7" fmla="*/ 379066 w 413379"/>
                  <a:gd name="connsiteY7" fmla="*/ 678350 h 796638"/>
                  <a:gd name="connsiteX8" fmla="*/ 94299 w 413379"/>
                  <a:gd name="connsiteY8" fmla="*/ 782247 h 796638"/>
                  <a:gd name="connsiteX9" fmla="*/ 0 w 413379"/>
                  <a:gd name="connsiteY9" fmla="*/ 796638 h 796638"/>
                  <a:gd name="connsiteX10" fmla="*/ 0 w 413379"/>
                  <a:gd name="connsiteY10" fmla="*/ 774753 h 796638"/>
                  <a:gd name="connsiteX11" fmla="*/ 0 w 413379"/>
                  <a:gd name="connsiteY11" fmla="*/ 5758 h 796638"/>
                  <a:gd name="connsiteX12" fmla="*/ 0 w 413379"/>
                  <a:gd name="connsiteY12" fmla="*/ 0 h 79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3379" h="796638">
                    <a:moveTo>
                      <a:pt x="0" y="0"/>
                    </a:moveTo>
                    <a:cubicBezTo>
                      <a:pt x="5759" y="2879"/>
                      <a:pt x="8638" y="2879"/>
                      <a:pt x="14397" y="5758"/>
                    </a:cubicBezTo>
                    <a:cubicBezTo>
                      <a:pt x="95020" y="5758"/>
                      <a:pt x="204437" y="11515"/>
                      <a:pt x="282181" y="86362"/>
                    </a:cubicBezTo>
                    <a:cubicBezTo>
                      <a:pt x="377201" y="178482"/>
                      <a:pt x="394478" y="313783"/>
                      <a:pt x="405995" y="420297"/>
                    </a:cubicBezTo>
                    <a:cubicBezTo>
                      <a:pt x="405995" y="420297"/>
                      <a:pt x="405995" y="420297"/>
                      <a:pt x="405995" y="426054"/>
                    </a:cubicBezTo>
                    <a:cubicBezTo>
                      <a:pt x="407435" y="443327"/>
                      <a:pt x="409595" y="514575"/>
                      <a:pt x="411754" y="594820"/>
                    </a:cubicBezTo>
                    <a:lnTo>
                      <a:pt x="413379" y="657504"/>
                    </a:lnTo>
                    <a:lnTo>
                      <a:pt x="379066" y="678350"/>
                    </a:lnTo>
                    <a:cubicBezTo>
                      <a:pt x="291070" y="726152"/>
                      <a:pt x="195367" y="761565"/>
                      <a:pt x="94299" y="782247"/>
                    </a:cubicBezTo>
                    <a:lnTo>
                      <a:pt x="0" y="796638"/>
                    </a:lnTo>
                    <a:lnTo>
                      <a:pt x="0" y="774753"/>
                    </a:lnTo>
                    <a:cubicBezTo>
                      <a:pt x="0" y="703403"/>
                      <a:pt x="0" y="513136"/>
                      <a:pt x="0" y="5758"/>
                    </a:cubicBezTo>
                    <a:cubicBezTo>
                      <a:pt x="0" y="5758"/>
                      <a:pt x="0" y="5758"/>
                      <a:pt x="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grpSp>
        <p:sp>
          <p:nvSpPr>
            <p:cNvPr id="111" name="Text Box 53">
              <a:extLst>
                <a:ext uri="{FF2B5EF4-FFF2-40B4-BE49-F238E27FC236}">
                  <a16:creationId xmlns:a16="http://schemas.microsoft.com/office/drawing/2014/main" id="{3473EB8D-B4EC-85F3-1066-C3364D65E72E}"/>
                </a:ext>
              </a:extLst>
            </p:cNvPr>
            <p:cNvSpPr txBox="1">
              <a:spLocks noChangeArrowheads="1"/>
            </p:cNvSpPr>
            <p:nvPr/>
          </p:nvSpPr>
          <p:spPr bwMode="auto">
            <a:xfrm>
              <a:off x="2191304" y="2200199"/>
              <a:ext cx="479696" cy="184666"/>
            </a:xfrm>
            <a:prstGeom prst="rect">
              <a:avLst/>
            </a:prstGeom>
            <a:noFill/>
            <a:ln w="9525">
              <a:noFill/>
              <a:miter lim="800000"/>
              <a:headEnd/>
              <a:tailEnd/>
            </a:ln>
            <a:effectLst>
              <a:prstShdw prst="shdw17" dist="17961" dir="2700000">
                <a:srgbClr val="4A060C"/>
              </a:prstShdw>
            </a:effectLst>
          </p:spPr>
          <p:txBody>
            <a:bodyPr wrap="square" lIns="0" tIns="0" rIns="0" bIns="0">
              <a:spAutoFit/>
            </a:bodyPr>
            <a:lstStyle/>
            <a:p>
              <a:pPr marL="0" marR="0" lvl="0" indent="0" algn="ctr" defTabSz="671513" eaLnBrk="1" fontAlgn="auto" latinLnBrk="0" hangingPunct="1">
                <a:lnSpc>
                  <a:spcPct val="100000"/>
                </a:lnSpc>
                <a:spcBef>
                  <a:spcPct val="50000"/>
                </a:spcBef>
                <a:spcAft>
                  <a:spcPts val="0"/>
                </a:spcAft>
                <a:buClrTx/>
                <a:buSzTx/>
                <a:buFontTx/>
                <a:buNone/>
                <a:tabLst/>
                <a:defRPr/>
              </a:pPr>
              <a:r>
                <a:rPr lang="en-US" sz="600" kern="0" dirty="0">
                  <a:solidFill>
                    <a:srgbClr val="000000"/>
                  </a:solidFill>
                  <a:latin typeface="Santander Text" panose="020B0504020201020104" pitchFamily="34" charset="0"/>
                  <a:cs typeface="Calibri" pitchFamily="34" charset="0"/>
                </a:rPr>
                <a:t>Product Support</a:t>
              </a:r>
              <a:endParaRPr kumimoji="0" lang="en-US" sz="600" b="0" i="0" u="none" strike="noStrike" kern="0" cap="none" spc="0" normalizeH="0" baseline="0" noProof="0" dirty="0">
                <a:ln>
                  <a:noFill/>
                </a:ln>
                <a:solidFill>
                  <a:srgbClr val="000000"/>
                </a:solidFill>
                <a:effectLst/>
                <a:uLnTx/>
                <a:uFillTx/>
                <a:latin typeface="Santander Text" panose="020B0504020201020104" pitchFamily="34" charset="0"/>
                <a:cs typeface="Calibri" pitchFamily="34" charset="0"/>
              </a:endParaRPr>
            </a:p>
          </p:txBody>
        </p:sp>
      </p:grpSp>
      <p:sp>
        <p:nvSpPr>
          <p:cNvPr id="131" name="Rectángulo 1">
            <a:extLst>
              <a:ext uri="{FF2B5EF4-FFF2-40B4-BE49-F238E27FC236}">
                <a16:creationId xmlns:a16="http://schemas.microsoft.com/office/drawing/2014/main" id="{5057A66F-9251-A959-057C-0423A92C0B00}"/>
              </a:ext>
            </a:extLst>
          </p:cNvPr>
          <p:cNvSpPr/>
          <p:nvPr/>
        </p:nvSpPr>
        <p:spPr>
          <a:xfrm>
            <a:off x="2837952" y="1648053"/>
            <a:ext cx="5952427" cy="762671"/>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132" name="Rounded Rectangle 5">
            <a:extLst>
              <a:ext uri="{FF2B5EF4-FFF2-40B4-BE49-F238E27FC236}">
                <a16:creationId xmlns:a16="http://schemas.microsoft.com/office/drawing/2014/main" id="{C823E959-C072-EFC2-BDC0-B1CBD38E45E0}"/>
              </a:ext>
            </a:extLst>
          </p:cNvPr>
          <p:cNvSpPr/>
          <p:nvPr/>
        </p:nvSpPr>
        <p:spPr>
          <a:xfrm>
            <a:off x="7113961" y="1735803"/>
            <a:ext cx="1457436" cy="588613"/>
          </a:xfrm>
          <a:prstGeom prst="roundRect">
            <a:avLst>
              <a:gd name="adj" fmla="val 5587"/>
            </a:avLst>
          </a:prstGeom>
          <a:solidFill>
            <a:srgbClr val="62B96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white"/>
              </a:solidFill>
              <a:effectLst/>
              <a:uLnTx/>
              <a:uFillTx/>
            </a:endParaRPr>
          </a:p>
        </p:txBody>
      </p:sp>
      <p:sp>
        <p:nvSpPr>
          <p:cNvPr id="133" name="Rectángulo redondeado 5">
            <a:extLst>
              <a:ext uri="{FF2B5EF4-FFF2-40B4-BE49-F238E27FC236}">
                <a16:creationId xmlns:a16="http://schemas.microsoft.com/office/drawing/2014/main" id="{1BDE185F-CDAD-6CE8-8C25-463DDC0B29C4}"/>
              </a:ext>
            </a:extLst>
          </p:cNvPr>
          <p:cNvSpPr/>
          <p:nvPr/>
        </p:nvSpPr>
        <p:spPr>
          <a:xfrm rot="5400000">
            <a:off x="7630685" y="2676340"/>
            <a:ext cx="2114773" cy="142135"/>
          </a:xfrm>
          <a:prstGeom prst="roundRect">
            <a:avLst/>
          </a:prstGeom>
          <a:solidFill>
            <a:srgbClr val="62B967">
              <a:lumMod val="50000"/>
            </a:srgbClr>
          </a:solidFill>
          <a:ln w="9525" cap="rnd" cmpd="sng" algn="ctr">
            <a:solidFill>
              <a:srgbClr val="2C622F"/>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514350" eaLnBrk="1" fontAlgn="auto" latinLnBrk="0" hangingPunct="1">
              <a:lnSpc>
                <a:spcPct val="90000"/>
              </a:lnSpc>
              <a:spcBef>
                <a:spcPts val="0"/>
              </a:spcBef>
              <a:spcAft>
                <a:spcPts val="563"/>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Santander Text" panose="020B0504020201020104" pitchFamily="34" charset="0"/>
              </a:rPr>
              <a:t>Reporting</a:t>
            </a:r>
          </a:p>
        </p:txBody>
      </p:sp>
      <p:pic>
        <p:nvPicPr>
          <p:cNvPr id="134" name="Picture 2" descr="The DTCC - YouTube">
            <a:extLst>
              <a:ext uri="{FF2B5EF4-FFF2-40B4-BE49-F238E27FC236}">
                <a16:creationId xmlns:a16="http://schemas.microsoft.com/office/drawing/2014/main" id="{5013A0AE-0FD5-709F-DB25-61D70D4AC3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988" b="31377"/>
          <a:stretch>
            <a:fillRect/>
          </a:stretch>
        </p:blipFill>
        <p:spPr bwMode="auto">
          <a:xfrm>
            <a:off x="7412102" y="1860054"/>
            <a:ext cx="873808" cy="337595"/>
          </a:xfrm>
          <a:prstGeom prst="rect">
            <a:avLst/>
          </a:prstGeom>
          <a:noFill/>
          <a:extLst>
            <a:ext uri="{909E8E84-426E-40DD-AFC4-6F175D3DCCD1}">
              <a14:hiddenFill xmlns:a14="http://schemas.microsoft.com/office/drawing/2010/main">
                <a:solidFill>
                  <a:srgbClr val="FFFFFF"/>
                </a:solidFill>
              </a14:hiddenFill>
            </a:ext>
          </a:extLst>
        </p:spPr>
      </p:pic>
      <p:cxnSp>
        <p:nvCxnSpPr>
          <p:cNvPr id="135" name="Conector: angular 61">
            <a:extLst>
              <a:ext uri="{FF2B5EF4-FFF2-40B4-BE49-F238E27FC236}">
                <a16:creationId xmlns:a16="http://schemas.microsoft.com/office/drawing/2014/main" id="{01CC803A-601F-3785-3775-438924218B2A}"/>
              </a:ext>
            </a:extLst>
          </p:cNvPr>
          <p:cNvCxnSpPr>
            <a:cxnSpLocks/>
            <a:stCxn id="104" idx="0"/>
            <a:endCxn id="134" idx="1"/>
          </p:cNvCxnSpPr>
          <p:nvPr/>
        </p:nvCxnSpPr>
        <p:spPr>
          <a:xfrm rot="5400000" flipH="1" flipV="1">
            <a:off x="6307110" y="1472935"/>
            <a:ext cx="549075" cy="1660910"/>
          </a:xfrm>
          <a:prstGeom prst="bentConnector2">
            <a:avLst/>
          </a:prstGeom>
          <a:noFill/>
          <a:ln w="12700" cap="flat" cmpd="sng" algn="ctr">
            <a:solidFill>
              <a:sysClr val="windowText" lastClr="000000"/>
            </a:solidFill>
            <a:prstDash val="solid"/>
            <a:miter lim="800000"/>
            <a:tailEnd type="triangle"/>
          </a:ln>
          <a:effectLst/>
        </p:spPr>
      </p:cxnSp>
      <p:cxnSp>
        <p:nvCxnSpPr>
          <p:cNvPr id="136" name="Conector: angular 61">
            <a:extLst>
              <a:ext uri="{FF2B5EF4-FFF2-40B4-BE49-F238E27FC236}">
                <a16:creationId xmlns:a16="http://schemas.microsoft.com/office/drawing/2014/main" id="{5DF794FC-F7C6-329C-F878-6CCFF6E3888B}"/>
              </a:ext>
            </a:extLst>
          </p:cNvPr>
          <p:cNvCxnSpPr>
            <a:cxnSpLocks/>
            <a:endCxn id="144" idx="3"/>
          </p:cNvCxnSpPr>
          <p:nvPr/>
        </p:nvCxnSpPr>
        <p:spPr>
          <a:xfrm rot="10800000" flipV="1">
            <a:off x="4029530" y="4642222"/>
            <a:ext cx="2283202" cy="318271"/>
          </a:xfrm>
          <a:prstGeom prst="bentConnector3">
            <a:avLst>
              <a:gd name="adj1" fmla="val 56130"/>
            </a:avLst>
          </a:prstGeom>
          <a:noFill/>
          <a:ln w="12700" cap="flat" cmpd="sng" algn="ctr">
            <a:solidFill>
              <a:sysClr val="windowText" lastClr="000000"/>
            </a:solidFill>
            <a:prstDash val="solid"/>
            <a:miter lim="800000"/>
            <a:tailEnd type="triangle"/>
          </a:ln>
          <a:effectLst/>
        </p:spPr>
      </p:cxnSp>
      <p:sp>
        <p:nvSpPr>
          <p:cNvPr id="137" name="Elipse 136">
            <a:extLst>
              <a:ext uri="{FF2B5EF4-FFF2-40B4-BE49-F238E27FC236}">
                <a16:creationId xmlns:a16="http://schemas.microsoft.com/office/drawing/2014/main" id="{F00B6265-EF23-DBE0-99CD-BD384F6CB0AD}"/>
              </a:ext>
            </a:extLst>
          </p:cNvPr>
          <p:cNvSpPr/>
          <p:nvPr/>
        </p:nvSpPr>
        <p:spPr>
          <a:xfrm>
            <a:off x="6933961" y="2947395"/>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1</a:t>
            </a:r>
          </a:p>
        </p:txBody>
      </p:sp>
      <p:sp>
        <p:nvSpPr>
          <p:cNvPr id="138" name="Elipse 137">
            <a:extLst>
              <a:ext uri="{FF2B5EF4-FFF2-40B4-BE49-F238E27FC236}">
                <a16:creationId xmlns:a16="http://schemas.microsoft.com/office/drawing/2014/main" id="{16E9D13C-A985-5087-13E9-A3DC3E699A30}"/>
              </a:ext>
            </a:extLst>
          </p:cNvPr>
          <p:cNvSpPr/>
          <p:nvPr/>
        </p:nvSpPr>
        <p:spPr>
          <a:xfrm>
            <a:off x="6412551" y="3481480"/>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2</a:t>
            </a:r>
          </a:p>
        </p:txBody>
      </p:sp>
      <p:sp>
        <p:nvSpPr>
          <p:cNvPr id="139" name="Elipse 138">
            <a:extLst>
              <a:ext uri="{FF2B5EF4-FFF2-40B4-BE49-F238E27FC236}">
                <a16:creationId xmlns:a16="http://schemas.microsoft.com/office/drawing/2014/main" id="{2B6AAB5C-82C6-D27B-1C47-AB7D4C508427}"/>
              </a:ext>
            </a:extLst>
          </p:cNvPr>
          <p:cNvSpPr/>
          <p:nvPr/>
        </p:nvSpPr>
        <p:spPr>
          <a:xfrm>
            <a:off x="5658808" y="2169760"/>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3</a:t>
            </a:r>
          </a:p>
        </p:txBody>
      </p:sp>
      <p:sp>
        <p:nvSpPr>
          <p:cNvPr id="140" name="Elipse 139">
            <a:extLst>
              <a:ext uri="{FF2B5EF4-FFF2-40B4-BE49-F238E27FC236}">
                <a16:creationId xmlns:a16="http://schemas.microsoft.com/office/drawing/2014/main" id="{766BF132-4335-F00F-19D0-8A6A57DDD07B}"/>
              </a:ext>
            </a:extLst>
          </p:cNvPr>
          <p:cNvSpPr/>
          <p:nvPr/>
        </p:nvSpPr>
        <p:spPr>
          <a:xfrm>
            <a:off x="4966235" y="388092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4</a:t>
            </a:r>
          </a:p>
        </p:txBody>
      </p:sp>
      <p:sp>
        <p:nvSpPr>
          <p:cNvPr id="141" name="Rectángulo 153">
            <a:extLst>
              <a:ext uri="{FF2B5EF4-FFF2-40B4-BE49-F238E27FC236}">
                <a16:creationId xmlns:a16="http://schemas.microsoft.com/office/drawing/2014/main" id="{F29453FE-C57F-F53F-BAAA-62146B4EA61A}"/>
              </a:ext>
            </a:extLst>
          </p:cNvPr>
          <p:cNvSpPr/>
          <p:nvPr/>
        </p:nvSpPr>
        <p:spPr>
          <a:xfrm>
            <a:off x="2874635" y="3918326"/>
            <a:ext cx="214412" cy="1624182"/>
          </a:xfrm>
          <a:prstGeom prst="rect">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142" name="Rectángulo redondeado 5">
            <a:extLst>
              <a:ext uri="{FF2B5EF4-FFF2-40B4-BE49-F238E27FC236}">
                <a16:creationId xmlns:a16="http://schemas.microsoft.com/office/drawing/2014/main" id="{D4777C35-84BD-2B7C-66FD-38FF2259AA0C}"/>
              </a:ext>
            </a:extLst>
          </p:cNvPr>
          <p:cNvSpPr/>
          <p:nvPr/>
        </p:nvSpPr>
        <p:spPr>
          <a:xfrm rot="5400000">
            <a:off x="7898986" y="4674255"/>
            <a:ext cx="1584000" cy="161631"/>
          </a:xfrm>
          <a:prstGeom prst="roundRect">
            <a:avLst/>
          </a:prstGeom>
          <a:solidFill>
            <a:srgbClr val="EB0000"/>
          </a:solidFill>
          <a:ln w="9525" cap="rnd" cmpd="sng" algn="ctr">
            <a:solidFill>
              <a:srgbClr val="EB0000"/>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defTabSz="514350">
              <a:lnSpc>
                <a:spcPct val="90000"/>
              </a:lnSpc>
              <a:spcAft>
                <a:spcPts val="563"/>
              </a:spcAft>
              <a:defRPr/>
            </a:pPr>
            <a:r>
              <a:rPr lang="en-US" sz="900" b="1" kern="0" dirty="0">
                <a:solidFill>
                  <a:srgbClr val="FFFFFF"/>
                </a:solidFill>
                <a:latin typeface="Santander Text" panose="020B0504020201020104" pitchFamily="34" charset="0"/>
              </a:rPr>
              <a:t>Risk</a:t>
            </a:r>
          </a:p>
        </p:txBody>
      </p:sp>
      <p:sp>
        <p:nvSpPr>
          <p:cNvPr id="143" name="Rectángulo 142">
            <a:extLst>
              <a:ext uri="{FF2B5EF4-FFF2-40B4-BE49-F238E27FC236}">
                <a16:creationId xmlns:a16="http://schemas.microsoft.com/office/drawing/2014/main" id="{C33A82D9-F50E-28DF-DC1D-93C4019625D3}"/>
              </a:ext>
            </a:extLst>
          </p:cNvPr>
          <p:cNvSpPr/>
          <p:nvPr/>
        </p:nvSpPr>
        <p:spPr>
          <a:xfrm>
            <a:off x="2952125" y="4030572"/>
            <a:ext cx="1175644" cy="108694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4" name="Rectángulo redondeado 136">
            <a:extLst>
              <a:ext uri="{FF2B5EF4-FFF2-40B4-BE49-F238E27FC236}">
                <a16:creationId xmlns:a16="http://schemas.microsoft.com/office/drawing/2014/main" id="{73B7D9B2-98CB-B28D-7B45-4D8BCA6136F7}"/>
              </a:ext>
            </a:extLst>
          </p:cNvPr>
          <p:cNvSpPr/>
          <p:nvPr/>
        </p:nvSpPr>
        <p:spPr>
          <a:xfrm>
            <a:off x="3359930" y="4876794"/>
            <a:ext cx="6696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MOI Reports</a:t>
            </a:r>
          </a:p>
        </p:txBody>
      </p:sp>
      <p:cxnSp>
        <p:nvCxnSpPr>
          <p:cNvPr id="145" name="Conector: angular 61">
            <a:extLst>
              <a:ext uri="{FF2B5EF4-FFF2-40B4-BE49-F238E27FC236}">
                <a16:creationId xmlns:a16="http://schemas.microsoft.com/office/drawing/2014/main" id="{032ABC3D-7419-D885-F437-B2CB6FE0C792}"/>
              </a:ext>
            </a:extLst>
          </p:cNvPr>
          <p:cNvCxnSpPr>
            <a:cxnSpLocks/>
            <a:stCxn id="112" idx="6"/>
            <a:endCxn id="144" idx="0"/>
          </p:cNvCxnSpPr>
          <p:nvPr/>
        </p:nvCxnSpPr>
        <p:spPr>
          <a:xfrm>
            <a:off x="3620437" y="3478608"/>
            <a:ext cx="74293" cy="1398186"/>
          </a:xfrm>
          <a:prstGeom prst="bentConnector2">
            <a:avLst/>
          </a:prstGeom>
          <a:noFill/>
          <a:ln w="12700" cap="flat" cmpd="sng" algn="ctr">
            <a:solidFill>
              <a:sysClr val="windowText" lastClr="000000"/>
            </a:solidFill>
            <a:prstDash val="solid"/>
            <a:miter lim="800000"/>
            <a:tailEnd type="triangle"/>
          </a:ln>
          <a:effectLst/>
        </p:spPr>
      </p:cxnSp>
      <p:sp>
        <p:nvSpPr>
          <p:cNvPr id="146" name="Rectángulo redondeado 136">
            <a:extLst>
              <a:ext uri="{FF2B5EF4-FFF2-40B4-BE49-F238E27FC236}">
                <a16:creationId xmlns:a16="http://schemas.microsoft.com/office/drawing/2014/main" id="{5343E30E-E7CF-AD77-7151-3C2D7B535452}"/>
              </a:ext>
            </a:extLst>
          </p:cNvPr>
          <p:cNvSpPr/>
          <p:nvPr/>
        </p:nvSpPr>
        <p:spPr>
          <a:xfrm>
            <a:off x="3008111" y="4164698"/>
            <a:ext cx="5040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PIF</a:t>
            </a:r>
          </a:p>
        </p:txBody>
      </p:sp>
      <p:cxnSp>
        <p:nvCxnSpPr>
          <p:cNvPr id="147" name="Conector: angular 61">
            <a:extLst>
              <a:ext uri="{FF2B5EF4-FFF2-40B4-BE49-F238E27FC236}">
                <a16:creationId xmlns:a16="http://schemas.microsoft.com/office/drawing/2014/main" id="{406FF466-1223-E8B0-3BDD-A6418A115E4F}"/>
              </a:ext>
            </a:extLst>
          </p:cNvPr>
          <p:cNvCxnSpPr>
            <a:cxnSpLocks/>
            <a:stCxn id="146" idx="2"/>
            <a:endCxn id="144" idx="1"/>
          </p:cNvCxnSpPr>
          <p:nvPr/>
        </p:nvCxnSpPr>
        <p:spPr>
          <a:xfrm rot="16200000" flipH="1">
            <a:off x="2995822" y="4596386"/>
            <a:ext cx="628396" cy="99819"/>
          </a:xfrm>
          <a:prstGeom prst="bentConnector2">
            <a:avLst/>
          </a:prstGeom>
          <a:noFill/>
          <a:ln w="12700" cap="flat" cmpd="sng" algn="ctr">
            <a:solidFill>
              <a:sysClr val="windowText" lastClr="000000"/>
            </a:solidFill>
            <a:prstDash val="solid"/>
            <a:miter lim="800000"/>
            <a:tailEnd type="triangle"/>
          </a:ln>
          <a:effectLst/>
        </p:spPr>
      </p:cxnSp>
      <p:cxnSp>
        <p:nvCxnSpPr>
          <p:cNvPr id="148" name="Conector: angular 61">
            <a:extLst>
              <a:ext uri="{FF2B5EF4-FFF2-40B4-BE49-F238E27FC236}">
                <a16:creationId xmlns:a16="http://schemas.microsoft.com/office/drawing/2014/main" id="{C695D3F0-6E45-F53C-D7A5-4957A2CFA6B8}"/>
              </a:ext>
            </a:extLst>
          </p:cNvPr>
          <p:cNvCxnSpPr>
            <a:cxnSpLocks/>
            <a:stCxn id="112" idx="2"/>
            <a:endCxn id="146" idx="0"/>
          </p:cNvCxnSpPr>
          <p:nvPr/>
        </p:nvCxnSpPr>
        <p:spPr>
          <a:xfrm rot="10800000" flipV="1">
            <a:off x="3260112" y="3478608"/>
            <a:ext cx="132243" cy="686090"/>
          </a:xfrm>
          <a:prstGeom prst="bentConnector2">
            <a:avLst/>
          </a:prstGeom>
          <a:noFill/>
          <a:ln w="12700" cap="flat" cmpd="sng" algn="ctr">
            <a:solidFill>
              <a:sysClr val="windowText" lastClr="000000"/>
            </a:solidFill>
            <a:prstDash val="solid"/>
            <a:miter lim="800000"/>
            <a:tailEnd type="triangle"/>
          </a:ln>
          <a:effectLst/>
        </p:spPr>
      </p:cxnSp>
      <p:sp>
        <p:nvSpPr>
          <p:cNvPr id="149" name="Elipse 148">
            <a:extLst>
              <a:ext uri="{FF2B5EF4-FFF2-40B4-BE49-F238E27FC236}">
                <a16:creationId xmlns:a16="http://schemas.microsoft.com/office/drawing/2014/main" id="{4B5FD4E0-C8F8-8671-759A-947E00EE1A7D}"/>
              </a:ext>
            </a:extLst>
          </p:cNvPr>
          <p:cNvSpPr/>
          <p:nvPr/>
        </p:nvSpPr>
        <p:spPr>
          <a:xfrm>
            <a:off x="3607323" y="3850573"/>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6</a:t>
            </a:r>
          </a:p>
        </p:txBody>
      </p:sp>
      <p:sp>
        <p:nvSpPr>
          <p:cNvPr id="150" name="Elipse 149">
            <a:extLst>
              <a:ext uri="{FF2B5EF4-FFF2-40B4-BE49-F238E27FC236}">
                <a16:creationId xmlns:a16="http://schemas.microsoft.com/office/drawing/2014/main" id="{EAA16EB2-BEEC-B58B-6790-9F5B916E75E3}"/>
              </a:ext>
            </a:extLst>
          </p:cNvPr>
          <p:cNvSpPr/>
          <p:nvPr/>
        </p:nvSpPr>
        <p:spPr>
          <a:xfrm>
            <a:off x="3096643" y="3589811"/>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5</a:t>
            </a:r>
          </a:p>
        </p:txBody>
      </p:sp>
      <p:sp>
        <p:nvSpPr>
          <p:cNvPr id="151" name="Rectángulo 150">
            <a:extLst>
              <a:ext uri="{FF2B5EF4-FFF2-40B4-BE49-F238E27FC236}">
                <a16:creationId xmlns:a16="http://schemas.microsoft.com/office/drawing/2014/main" id="{6A36ED14-89C4-4068-04AC-441B7F501992}"/>
              </a:ext>
            </a:extLst>
          </p:cNvPr>
          <p:cNvSpPr/>
          <p:nvPr/>
        </p:nvSpPr>
        <p:spPr>
          <a:xfrm>
            <a:off x="2785469" y="5120110"/>
            <a:ext cx="1484790" cy="237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i="1" dirty="0">
                <a:solidFill>
                  <a:schemeClr val="tx1"/>
                </a:solidFill>
              </a:rPr>
              <a:t>MOI </a:t>
            </a:r>
            <a:r>
              <a:rPr lang="es-ES" sz="700" i="1" dirty="0" err="1">
                <a:solidFill>
                  <a:schemeClr val="tx1"/>
                </a:solidFill>
              </a:rPr>
              <a:t>Reports</a:t>
            </a:r>
            <a:r>
              <a:rPr lang="es-ES" sz="700" i="1" dirty="0">
                <a:solidFill>
                  <a:schemeClr val="tx1"/>
                </a:solidFill>
              </a:rPr>
              <a:t>: MEGA: 5975</a:t>
            </a:r>
          </a:p>
          <a:p>
            <a:pPr algn="ctr"/>
            <a:r>
              <a:rPr lang="es-ES" sz="700" i="1" dirty="0">
                <a:solidFill>
                  <a:schemeClr val="tx1"/>
                </a:solidFill>
              </a:rPr>
              <a:t>BSI new </a:t>
            </a:r>
            <a:r>
              <a:rPr lang="es-ES" sz="700" i="1" dirty="0" err="1">
                <a:solidFill>
                  <a:schemeClr val="tx1"/>
                </a:solidFill>
              </a:rPr>
              <a:t>consumer</a:t>
            </a:r>
            <a:r>
              <a:rPr lang="es-ES" sz="700" i="1" dirty="0">
                <a:solidFill>
                  <a:schemeClr val="tx1"/>
                </a:solidFill>
              </a:rPr>
              <a:t> </a:t>
            </a:r>
          </a:p>
        </p:txBody>
      </p:sp>
    </p:spTree>
    <p:extLst>
      <p:ext uri="{BB962C8B-B14F-4D97-AF65-F5344CB8AC3E}">
        <p14:creationId xmlns:p14="http://schemas.microsoft.com/office/powerpoint/2010/main" val="45759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04</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Infrastructure Requirements</a:t>
            </a:r>
          </a:p>
        </p:txBody>
      </p:sp>
    </p:spTree>
    <p:extLst>
      <p:ext uri="{BB962C8B-B14F-4D97-AF65-F5344CB8AC3E}">
        <p14:creationId xmlns:p14="http://schemas.microsoft.com/office/powerpoint/2010/main" val="352225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all the relevant volumes</a:t>
            </a: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34</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 Volumes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12" name="3 Tabla">
            <a:extLst>
              <a:ext uri="{FF2B5EF4-FFF2-40B4-BE49-F238E27FC236}">
                <a16:creationId xmlns:a16="http://schemas.microsoft.com/office/drawing/2014/main" id="{B42DDF7D-CEE0-EF0E-AF76-0490CBACB872}"/>
              </a:ext>
            </a:extLst>
          </p:cNvPr>
          <p:cNvGraphicFramePr>
            <a:graphicFrameLocks noGrp="1"/>
          </p:cNvGraphicFramePr>
          <p:nvPr>
            <p:extLst>
              <p:ext uri="{D42A27DB-BD31-4B8C-83A1-F6EECF244321}">
                <p14:modId xmlns:p14="http://schemas.microsoft.com/office/powerpoint/2010/main" val="1055003960"/>
              </p:ext>
            </p:extLst>
          </p:nvPr>
        </p:nvGraphicFramePr>
        <p:xfrm>
          <a:off x="554083" y="1488440"/>
          <a:ext cx="8249756" cy="1940560"/>
        </p:xfrm>
        <a:graphic>
          <a:graphicData uri="http://schemas.openxmlformats.org/drawingml/2006/table">
            <a:tbl>
              <a:tblPr firstRow="1" bandRow="1"/>
              <a:tblGrid>
                <a:gridCol w="3953248">
                  <a:extLst>
                    <a:ext uri="{9D8B030D-6E8A-4147-A177-3AD203B41FA5}">
                      <a16:colId xmlns:a16="http://schemas.microsoft.com/office/drawing/2014/main" val="20000"/>
                    </a:ext>
                  </a:extLst>
                </a:gridCol>
                <a:gridCol w="429650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Users of the solution </a:t>
                      </a:r>
                      <a:r>
                        <a:rPr lang="en-US" sz="1200" baseline="0" noProof="0" dirty="0"/>
                        <a:t>(List of Roles and number of User per Role)</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Lending activity to be monitored on the JPM platform that’s already being used (new screen to be enabled)</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Average Requests per Day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0</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Peak Hour Requests </a:t>
                      </a:r>
                      <a:r>
                        <a:rPr lang="en-US" sz="1200" baseline="0" noProof="0" dirty="0"/>
                        <a:t>(during a time range)</a:t>
                      </a:r>
                      <a:endParaRPr lang="en-US" sz="1200" noProof="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NA</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Requests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NA</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bl>
          </a:graphicData>
        </a:graphic>
      </p:graphicFrame>
      <p:graphicFrame>
        <p:nvGraphicFramePr>
          <p:cNvPr id="13" name="Tabla 8">
            <a:extLst>
              <a:ext uri="{FF2B5EF4-FFF2-40B4-BE49-F238E27FC236}">
                <a16:creationId xmlns:a16="http://schemas.microsoft.com/office/drawing/2014/main" id="{4417A164-138D-78F4-6514-8789AAB5B878}"/>
              </a:ext>
            </a:extLst>
          </p:cNvPr>
          <p:cNvGraphicFramePr>
            <a:graphicFrameLocks noGrp="1"/>
          </p:cNvGraphicFramePr>
          <p:nvPr>
            <p:extLst>
              <p:ext uri="{D42A27DB-BD31-4B8C-83A1-F6EECF244321}">
                <p14:modId xmlns:p14="http://schemas.microsoft.com/office/powerpoint/2010/main" val="3158056375"/>
              </p:ext>
            </p:extLst>
          </p:nvPr>
        </p:nvGraphicFramePr>
        <p:xfrm>
          <a:off x="542864" y="3869541"/>
          <a:ext cx="8292619" cy="1569720"/>
        </p:xfrm>
        <a:graphic>
          <a:graphicData uri="http://schemas.openxmlformats.org/drawingml/2006/table">
            <a:tbl>
              <a:tblPr firstRow="1" bandRow="1"/>
              <a:tblGrid>
                <a:gridCol w="3964971">
                  <a:extLst>
                    <a:ext uri="{9D8B030D-6E8A-4147-A177-3AD203B41FA5}">
                      <a16:colId xmlns:a16="http://schemas.microsoft.com/office/drawing/2014/main" val="20000"/>
                    </a:ext>
                  </a:extLst>
                </a:gridCol>
                <a:gridCol w="432764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Access x Day</a:t>
                      </a:r>
                    </a:p>
                    <a:p>
                      <a:r>
                        <a:rPr lang="en-US" sz="1200" noProof="0" dirty="0"/>
                        <a:t>(users can have more than 1 access</a:t>
                      </a:r>
                      <a:r>
                        <a:rPr lang="en-US" sz="1200" baseline="0" noProof="0" dirty="0"/>
                        <a:t>)</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Users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Service hours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204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35</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4.2 Data Sizing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4987CC47-610E-50B3-F2D0-9672A831CB5A}"/>
              </a:ext>
            </a:extLst>
          </p:cNvPr>
          <p:cNvGraphicFramePr>
            <a:graphicFrameLocks noGrp="1"/>
          </p:cNvGraphicFramePr>
          <p:nvPr>
            <p:extLst>
              <p:ext uri="{D42A27DB-BD31-4B8C-83A1-F6EECF244321}">
                <p14:modId xmlns:p14="http://schemas.microsoft.com/office/powerpoint/2010/main" val="1742732461"/>
              </p:ext>
            </p:extLst>
          </p:nvPr>
        </p:nvGraphicFramePr>
        <p:xfrm>
          <a:off x="518888" y="1262351"/>
          <a:ext cx="5073190" cy="4172894"/>
        </p:xfrm>
        <a:graphic>
          <a:graphicData uri="http://schemas.openxmlformats.org/drawingml/2006/table">
            <a:tbl>
              <a:tblPr firstRow="1" bandRow="1">
                <a:tableStyleId>{6E25E649-3F16-4E02-A733-19D2CDBF48F0}</a:tableStyleId>
              </a:tblPr>
              <a:tblGrid>
                <a:gridCol w="3648908">
                  <a:extLst>
                    <a:ext uri="{9D8B030D-6E8A-4147-A177-3AD203B41FA5}">
                      <a16:colId xmlns:a16="http://schemas.microsoft.com/office/drawing/2014/main" val="20000"/>
                    </a:ext>
                  </a:extLst>
                </a:gridCol>
                <a:gridCol w="1424282">
                  <a:extLst>
                    <a:ext uri="{9D8B030D-6E8A-4147-A177-3AD203B41FA5}">
                      <a16:colId xmlns:a16="http://schemas.microsoft.com/office/drawing/2014/main" val="20001"/>
                    </a:ext>
                  </a:extLst>
                </a:gridCol>
              </a:tblGrid>
              <a:tr h="332414">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Files (</a:t>
                      </a:r>
                      <a:r>
                        <a:rPr lang="en-US" dirty="0"/>
                        <a:t>Current Peak Volume/Day)</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8600">
                <a:tc>
                  <a:txBody>
                    <a:bodyPr/>
                    <a:lstStyle/>
                    <a:p>
                      <a:pPr marL="171450" indent="-171450">
                        <a:buFont typeface="Arial" panose="020B0604020202020204" pitchFamily="34" charset="0"/>
                        <a:buChar char="•"/>
                      </a:pPr>
                      <a:r>
                        <a:rPr lang="en-US" sz="1200" dirty="0"/>
                        <a:t>Specify the</a:t>
                      </a:r>
                      <a:r>
                        <a:rPr lang="en-US" sz="1200" baseline="0" dirty="0"/>
                        <a:t> number of file systems helps plan. The number of filesystems helps plan for backup/restore and configuring control M jobs. Also shared storage based on NAS or SAN are decided depending on the criticality and latency requirement of the application.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2"/>
                  </a:ext>
                </a:extLst>
              </a:tr>
              <a:tr h="365760">
                <a:tc>
                  <a:txBody>
                    <a:bodyPr/>
                    <a:lstStyle/>
                    <a:p>
                      <a:r>
                        <a:rPr lang="en-US" sz="1800" dirty="0"/>
                        <a:t>Storage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t>Identifying this information will help with the storage sizing for these files.</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76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Approximate size per day/month</a:t>
                      </a:r>
                      <a:r>
                        <a:rPr lang="en-US" sz="1200" baseline="0" dirty="0"/>
                        <a: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file/data retention period in months/years.</a:t>
                      </a: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9" name="Table 8">
            <a:extLst>
              <a:ext uri="{FF2B5EF4-FFF2-40B4-BE49-F238E27FC236}">
                <a16:creationId xmlns:a16="http://schemas.microsoft.com/office/drawing/2014/main" id="{870AAC7B-F56E-6AE4-AE87-84FD4E40D36B}"/>
              </a:ext>
            </a:extLst>
          </p:cNvPr>
          <p:cNvGraphicFramePr>
            <a:graphicFrameLocks noGrp="1"/>
          </p:cNvGraphicFramePr>
          <p:nvPr>
            <p:extLst>
              <p:ext uri="{D42A27DB-BD31-4B8C-83A1-F6EECF244321}">
                <p14:modId xmlns:p14="http://schemas.microsoft.com/office/powerpoint/2010/main" val="3982392266"/>
              </p:ext>
            </p:extLst>
          </p:nvPr>
        </p:nvGraphicFramePr>
        <p:xfrm>
          <a:off x="5746286" y="1275494"/>
          <a:ext cx="4943882" cy="4182152"/>
        </p:xfrm>
        <a:graphic>
          <a:graphicData uri="http://schemas.openxmlformats.org/drawingml/2006/table">
            <a:tbl>
              <a:tblPr firstRow="1" bandRow="1">
                <a:tableStyleId>{6E25E649-3F16-4E02-A733-19D2CDBF48F0}</a:tableStyleId>
              </a:tblPr>
              <a:tblGrid>
                <a:gridCol w="3510601">
                  <a:extLst>
                    <a:ext uri="{9D8B030D-6E8A-4147-A177-3AD203B41FA5}">
                      <a16:colId xmlns:a16="http://schemas.microsoft.com/office/drawing/2014/main" val="20000"/>
                    </a:ext>
                  </a:extLst>
                </a:gridCol>
                <a:gridCol w="1433281">
                  <a:extLst>
                    <a:ext uri="{9D8B030D-6E8A-4147-A177-3AD203B41FA5}">
                      <a16:colId xmlns:a16="http://schemas.microsoft.com/office/drawing/2014/main" val="20001"/>
                    </a:ext>
                  </a:extLst>
                </a:gridCol>
              </a:tblGrid>
              <a:tr h="415175">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60698">
                <a:tc>
                  <a:txBody>
                    <a:bodyPr/>
                    <a:lstStyle/>
                    <a:p>
                      <a:r>
                        <a:rPr lang="en-US" sz="1800" dirty="0"/>
                        <a:t>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This information is critical input into planning for database sizing. The size influences method of backup and need for database replication. If the database is too large, partitioning is important for efficiency and meeting required response time.</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8628">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the # transactions queries per day.</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sz="1200" dirty="0"/>
                    </a:p>
                  </a:txBody>
                  <a:tcPr>
                    <a:solidFill>
                      <a:srgbClr val="F7CBCB"/>
                    </a:solidFill>
                  </a:tcPr>
                </a:tc>
                <a:extLst>
                  <a:ext uri="{0D108BD9-81ED-4DB2-BD59-A6C34878D82A}">
                    <a16:rowId xmlns:a16="http://schemas.microsoft.com/office/drawing/2014/main" val="10002"/>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 of tables and rows in the tables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Record size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2303">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Retention period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812584">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Size of partition if database partitioning is required. </a:t>
                      </a:r>
                    </a:p>
                    <a:p>
                      <a:pPr marL="171450" indent="-171450">
                        <a:buFont typeface="Arial" panose="020B0604020202020204" pitchFamily="34" charset="0"/>
                        <a:buChar cha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447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all information related to managing non real-time data below.</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36</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4.3 Data Handling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40221C0A-66BA-FA47-9413-2212D9DB67A4}"/>
              </a:ext>
            </a:extLst>
          </p:cNvPr>
          <p:cNvGraphicFramePr>
            <a:graphicFrameLocks noGrp="1"/>
          </p:cNvGraphicFramePr>
          <p:nvPr>
            <p:extLst>
              <p:ext uri="{D42A27DB-BD31-4B8C-83A1-F6EECF244321}">
                <p14:modId xmlns:p14="http://schemas.microsoft.com/office/powerpoint/2010/main" val="663342943"/>
              </p:ext>
            </p:extLst>
          </p:nvPr>
        </p:nvGraphicFramePr>
        <p:xfrm>
          <a:off x="579964" y="1571799"/>
          <a:ext cx="10525236" cy="2674620"/>
        </p:xfrm>
        <a:graphic>
          <a:graphicData uri="http://schemas.openxmlformats.org/drawingml/2006/table">
            <a:tbl>
              <a:tblPr firstRow="1" bandRow="1">
                <a:tableStyleId>{6E25E649-3F16-4E02-A733-19D2CDBF48F0}</a:tableStyleId>
              </a:tblPr>
              <a:tblGrid>
                <a:gridCol w="6227740">
                  <a:extLst>
                    <a:ext uri="{9D8B030D-6E8A-4147-A177-3AD203B41FA5}">
                      <a16:colId xmlns:a16="http://schemas.microsoft.com/office/drawing/2014/main" val="20000"/>
                    </a:ext>
                  </a:extLst>
                </a:gridCol>
                <a:gridCol w="4297496">
                  <a:extLst>
                    <a:ext uri="{9D8B030D-6E8A-4147-A177-3AD203B41FA5}">
                      <a16:colId xmlns:a16="http://schemas.microsoft.com/office/drawing/2014/main" val="20001"/>
                    </a:ext>
                  </a:extLst>
                </a:gridCol>
              </a:tblGrid>
              <a:tr h="0">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Details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t>Data</a:t>
                      </a:r>
                      <a:r>
                        <a:rPr lang="en-US" sz="1800" baseline="0" dirty="0"/>
                        <a:t> Retention Period.</a:t>
                      </a:r>
                    </a:p>
                    <a:p>
                      <a:r>
                        <a:rPr lang="en-US" sz="1200" baseline="0" dirty="0"/>
                        <a:t>The data retention period will help plan for data archive, managing content and how they are accessed when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t>Data</a:t>
                      </a:r>
                      <a:r>
                        <a:rPr lang="en-US" sz="1800" baseline="0" dirty="0"/>
                        <a:t> Purge</a:t>
                      </a:r>
                    </a:p>
                    <a:p>
                      <a:r>
                        <a:rPr lang="en-US" sz="1200" dirty="0"/>
                        <a:t>Specify</a:t>
                      </a:r>
                      <a:r>
                        <a:rPr lang="en-US" sz="1200" baseline="0" dirty="0"/>
                        <a:t> the procedure to move the data offline and/or how will the data be purged..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indent="0">
                        <a:buFont typeface="Arial" panose="020B0604020202020204" pitchFamily="34" charset="0"/>
                        <a:buNone/>
                      </a:pPr>
                      <a:r>
                        <a:rPr lang="en-US" sz="1800" dirty="0"/>
                        <a:t>Archived Data Access Instructions</a:t>
                      </a:r>
                    </a:p>
                    <a:p>
                      <a:pPr marL="0" indent="0">
                        <a:buFont typeface="Arial" panose="020B0604020202020204" pitchFamily="34" charset="0"/>
                        <a:buNone/>
                      </a:pPr>
                      <a:r>
                        <a:rPr lang="en-US" sz="1200" dirty="0"/>
                        <a:t>Provide</a:t>
                      </a:r>
                      <a:r>
                        <a:rPr lang="en-US" sz="1200" baseline="0" dirty="0"/>
                        <a:t> the archived data instructions.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indent="0">
                        <a:buFont typeface="Arial" panose="020B0604020202020204" pitchFamily="34" charset="0"/>
                        <a:buNone/>
                      </a:pPr>
                      <a:r>
                        <a:rPr lang="en-US" sz="1800" dirty="0"/>
                        <a:t>Content</a:t>
                      </a:r>
                      <a:r>
                        <a:rPr lang="en-US" sz="1800" baseline="0" dirty="0"/>
                        <a:t> Management Solution</a:t>
                      </a:r>
                    </a:p>
                    <a:p>
                      <a:pPr marL="0" indent="0">
                        <a:buFont typeface="Arial" panose="020B0604020202020204" pitchFamily="34" charset="0"/>
                        <a:buNone/>
                      </a:pPr>
                      <a:r>
                        <a:rPr lang="en-US" sz="1200" dirty="0"/>
                        <a:t>Specify</a:t>
                      </a:r>
                      <a:r>
                        <a:rPr lang="en-US" sz="1200" baseline="0" dirty="0"/>
                        <a:t> the content management solution.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0940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information related to reporting.</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37</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4.4 Reporting</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E218013C-E67B-BAC5-80E3-0D6719D0696B}"/>
              </a:ext>
            </a:extLst>
          </p:cNvPr>
          <p:cNvGraphicFramePr>
            <a:graphicFrameLocks noGrp="1"/>
          </p:cNvGraphicFramePr>
          <p:nvPr>
            <p:extLst>
              <p:ext uri="{D42A27DB-BD31-4B8C-83A1-F6EECF244321}">
                <p14:modId xmlns:p14="http://schemas.microsoft.com/office/powerpoint/2010/main" val="22965185"/>
              </p:ext>
            </p:extLst>
          </p:nvPr>
        </p:nvGraphicFramePr>
        <p:xfrm>
          <a:off x="579964" y="1366096"/>
          <a:ext cx="10386980" cy="4473413"/>
        </p:xfrm>
        <a:graphic>
          <a:graphicData uri="http://schemas.openxmlformats.org/drawingml/2006/table">
            <a:tbl>
              <a:tblPr firstRow="1" bandRow="1">
                <a:tableStyleId>{6E25E649-3F16-4E02-A733-19D2CDBF48F0}</a:tableStyleId>
              </a:tblPr>
              <a:tblGrid>
                <a:gridCol w="4863474">
                  <a:extLst>
                    <a:ext uri="{9D8B030D-6E8A-4147-A177-3AD203B41FA5}">
                      <a16:colId xmlns:a16="http://schemas.microsoft.com/office/drawing/2014/main" val="20000"/>
                    </a:ext>
                  </a:extLst>
                </a:gridCol>
                <a:gridCol w="5523506">
                  <a:extLst>
                    <a:ext uri="{9D8B030D-6E8A-4147-A177-3AD203B41FA5}">
                      <a16:colId xmlns:a16="http://schemas.microsoft.com/office/drawing/2014/main" val="20001"/>
                    </a:ext>
                  </a:extLst>
                </a:gridCol>
              </a:tblGrid>
              <a:tr h="332414">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Service</a:t>
                      </a:r>
                      <a:r>
                        <a:rPr lang="en-US" baseline="0" dirty="0"/>
                        <a:t> Description</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r>
                        <a:rPr lang="en-US" dirty="0"/>
                        <a:t>Method</a:t>
                      </a:r>
                      <a:r>
                        <a:rPr lang="en-US" baseline="0" dirty="0"/>
                        <a:t> of Report Generation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35816">
                <a:tc>
                  <a:txBody>
                    <a:bodyPr/>
                    <a:lstStyle/>
                    <a:p>
                      <a:r>
                        <a:rPr lang="en-US" sz="1200" baseline="0" dirty="0"/>
                        <a:t>Batch - Schedule for this report generation.</a:t>
                      </a:r>
                    </a:p>
                    <a:p>
                      <a:r>
                        <a:rPr lang="en-US" sz="1200" baseline="0" dirty="0"/>
                        <a:t>Online - Specify impact on the performance due to report generation, if yes, describe how it is handed.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301691">
                <a:tc>
                  <a:txBody>
                    <a:bodyPr/>
                    <a:lstStyle/>
                    <a:p>
                      <a:r>
                        <a:rPr lang="en-US" dirty="0"/>
                        <a:t>Reporting</a:t>
                      </a:r>
                      <a:r>
                        <a:rPr lang="en-US" baseline="0" dirty="0"/>
                        <a:t>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6280">
                <a:tc>
                  <a:txBody>
                    <a:bodyPr/>
                    <a:lstStyle/>
                    <a:p>
                      <a:r>
                        <a:rPr lang="en-US" sz="1200" baseline="0" dirty="0"/>
                        <a:t>Specify if this is a closed &amp; customized report. It is important to understand how the customization is done and how it is promoted from DEV to PRE/PRO. </a:t>
                      </a:r>
                    </a:p>
                    <a:p>
                      <a:r>
                        <a:rPr lang="en-US" sz="1200" baseline="0" dirty="0"/>
                        <a:t>Open - May be in the form of an UI, where the user makes a selection of criteria for the desired report, live on the system. Closed-In the case of closed reporting criteria is predetermined and cannot be changed at real-time.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10004"/>
                  </a:ext>
                </a:extLst>
              </a:tr>
              <a:tr h="259080">
                <a:tc>
                  <a:txBody>
                    <a:bodyPr/>
                    <a:lstStyle/>
                    <a:p>
                      <a:r>
                        <a:rPr lang="en-US" dirty="0"/>
                        <a:t>Report Orchestration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316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Specify if there is a special requirement</a:t>
                      </a:r>
                      <a:r>
                        <a:rPr lang="en-US" sz="1200" baseline="0" dirty="0"/>
                        <a:t> for this tool. </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6"/>
                  </a:ext>
                </a:extLst>
              </a:tr>
              <a:tr h="379828">
                <a:tc>
                  <a:txBody>
                    <a:bodyPr/>
                    <a:lstStyle/>
                    <a:p>
                      <a:r>
                        <a:rPr lang="en-US" sz="1800" baseline="0" dirty="0"/>
                        <a:t>Reporting Server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6240">
                <a:tc>
                  <a:txBody>
                    <a:bodyPr/>
                    <a:lstStyle/>
                    <a:p>
                      <a:r>
                        <a:rPr lang="en-US" sz="1200" baseline="0" dirty="0"/>
                        <a:t>Specify if there is dedicated server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1313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38</a:t>
            </a:fld>
            <a:endParaRPr lang="es-ES" dirty="0"/>
          </a:p>
        </p:txBody>
      </p:sp>
      <p:sp>
        <p:nvSpPr>
          <p:cNvPr id="9" name="Rectangle 8"/>
          <p:cNvSpPr/>
          <p:nvPr/>
        </p:nvSpPr>
        <p:spPr>
          <a:xfrm>
            <a:off x="917124" y="1159099"/>
            <a:ext cx="10210222" cy="388696"/>
          </a:xfrm>
          <a:prstGeom prst="rect">
            <a:avLst/>
          </a:prstGeom>
        </p:spPr>
        <p:txBody>
          <a:bodyPr wrap="square">
            <a:spAutoFit/>
          </a:bodyPr>
          <a:lstStyle/>
          <a:p>
            <a:pPr lvl="0" fontAlgn="auto">
              <a:lnSpc>
                <a:spcPct val="107000"/>
              </a:lnSpc>
              <a:spcBef>
                <a:spcPts val="0"/>
              </a:spcBef>
              <a:spcAft>
                <a:spcPts val="0"/>
              </a:spcAft>
              <a:buClrTx/>
            </a:pPr>
            <a:r>
              <a:rPr lang="en-US" sz="1800" i="1" dirty="0">
                <a:solidFill>
                  <a:schemeClr val="bg1">
                    <a:lumMod val="50000"/>
                  </a:schemeClr>
                </a:solidFill>
              </a:rPr>
              <a:t>Provide information related to </a:t>
            </a:r>
            <a:r>
              <a:rPr lang="en-US" i="1" dirty="0">
                <a:solidFill>
                  <a:schemeClr val="bg1">
                    <a:lumMod val="50000"/>
                  </a:schemeClr>
                </a:solidFill>
              </a:rPr>
              <a:t>workstations (clients) </a:t>
            </a:r>
            <a:endParaRPr lang="en-US" sz="1800" i="1" dirty="0">
              <a:solidFill>
                <a:schemeClr val="bg1">
                  <a:lumMod val="50000"/>
                </a:schemeClr>
              </a:solidFill>
            </a:endParaRPr>
          </a:p>
        </p:txBody>
      </p:sp>
      <p:graphicFrame>
        <p:nvGraphicFramePr>
          <p:cNvPr id="3" name="Table 2"/>
          <p:cNvGraphicFramePr>
            <a:graphicFrameLocks noGrp="1"/>
          </p:cNvGraphicFramePr>
          <p:nvPr/>
        </p:nvGraphicFramePr>
        <p:xfrm>
          <a:off x="901520" y="1672674"/>
          <a:ext cx="10446418" cy="3304540"/>
        </p:xfrm>
        <a:graphic>
          <a:graphicData uri="http://schemas.openxmlformats.org/drawingml/2006/table">
            <a:tbl>
              <a:tblPr firstRow="1" bandRow="1">
                <a:tableStyleId>{6E25E649-3F16-4E02-A733-19D2CDBF48F0}</a:tableStyleId>
              </a:tblPr>
              <a:tblGrid>
                <a:gridCol w="5223209">
                  <a:extLst>
                    <a:ext uri="{9D8B030D-6E8A-4147-A177-3AD203B41FA5}">
                      <a16:colId xmlns:a16="http://schemas.microsoft.com/office/drawing/2014/main" val="20000"/>
                    </a:ext>
                  </a:extLst>
                </a:gridCol>
                <a:gridCol w="5223209">
                  <a:extLst>
                    <a:ext uri="{9D8B030D-6E8A-4147-A177-3AD203B41FA5}">
                      <a16:colId xmlns:a16="http://schemas.microsoft.com/office/drawing/2014/main" val="20001"/>
                    </a:ext>
                  </a:extLst>
                </a:gridCol>
              </a:tblGrid>
              <a:tr h="37084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r>
                        <a:rPr lang="en-US" dirty="0"/>
                        <a:t>Connection to New System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185420">
                <a:tc>
                  <a:txBody>
                    <a:bodyPr/>
                    <a:lstStyle/>
                    <a:p>
                      <a:r>
                        <a:rPr lang="en-US" sz="1300" dirty="0"/>
                        <a:t>Specify whether it is a thick client, web-browser</a:t>
                      </a:r>
                      <a:r>
                        <a:rPr lang="en-US" sz="1300" baseline="0" dirty="0"/>
                        <a:t> based, and browser versions. Specify other types of connections so it will help with overall security assessment. Determining whether it is external and identify if there is a UI &amp; how are the credentials passed.</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185420">
                <a:tc>
                  <a:txBody>
                    <a:bodyPr/>
                    <a:lstStyle/>
                    <a:p>
                      <a:r>
                        <a:rPr lang="en-US" sz="1800" dirty="0"/>
                        <a:t>Remote Desktop</a:t>
                      </a:r>
                    </a:p>
                    <a:p>
                      <a:r>
                        <a:rPr lang="en-US" sz="1300" baseline="0" dirty="0"/>
                        <a:t>Specify whether Remote Desktop is required for the end clients.</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5420">
                <a:tc>
                  <a:txBody>
                    <a:bodyPr/>
                    <a:lstStyle/>
                    <a:p>
                      <a:r>
                        <a:rPr lang="en-US" dirty="0"/>
                        <a:t>Special Software needed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Please</a:t>
                      </a:r>
                      <a:r>
                        <a:rPr lang="en-US" sz="1300" baseline="0" dirty="0"/>
                        <a:t> list all special installation requirements and versions. (ex. Java, </a:t>
                      </a:r>
                      <a:r>
                        <a:rPr lang="en-US" sz="1300" baseline="0" dirty="0" err="1"/>
                        <a:t>.Net</a:t>
                      </a:r>
                      <a:r>
                        <a:rPr lang="en-US" sz="1300" baseline="0" dirty="0"/>
                        <a:t> Framework, Editors (i.e. SAS, Tableau), and special libraries)</a:t>
                      </a:r>
                      <a:endParaRPr lang="en-US" sz="1300" dirty="0"/>
                    </a:p>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Marcador de texto 5">
            <a:extLst>
              <a:ext uri="{FF2B5EF4-FFF2-40B4-BE49-F238E27FC236}">
                <a16:creationId xmlns:a16="http://schemas.microsoft.com/office/drawing/2014/main" id="{C58901BE-946A-47F3-291D-B0EDD3CAB73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
        <p:nvSpPr>
          <p:cNvPr id="10" name="Título 1">
            <a:extLst>
              <a:ext uri="{FF2B5EF4-FFF2-40B4-BE49-F238E27FC236}">
                <a16:creationId xmlns:a16="http://schemas.microsoft.com/office/drawing/2014/main" id="{B99473C8-B916-6ADB-827B-C6D09D9854F9}"/>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4.5 Workstation Requirement</a:t>
            </a:r>
          </a:p>
        </p:txBody>
      </p:sp>
    </p:spTree>
    <p:extLst>
      <p:ext uri="{BB962C8B-B14F-4D97-AF65-F5344CB8AC3E}">
        <p14:creationId xmlns:p14="http://schemas.microsoft.com/office/powerpoint/2010/main" val="128169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information regarding the Farms / Load Balancing </a:t>
            </a: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r>
              <a:rPr lang="en-US" sz="1400" b="1" dirty="0">
                <a:ea typeface="Calibri" panose="020F0502020204030204" pitchFamily="34" charset="0"/>
                <a:cs typeface="Times New Roman" panose="02020603050405020304" pitchFamily="18" charset="0"/>
              </a:rPr>
              <a:t>Provide information regarding Application Availability</a:t>
            </a:r>
            <a:endParaRPr lang="en-US" sz="1400" i="1" dirty="0">
              <a:solidFill>
                <a:schemeClr val="bg1">
                  <a:lumMod val="65000"/>
                </a:schemeClr>
              </a:solidFill>
            </a:endParaRPr>
          </a:p>
          <a:p>
            <a:pPr>
              <a:lnSpc>
                <a:spcPct val="107000"/>
              </a:lnSpc>
            </a:pPr>
            <a:r>
              <a:rPr lang="en-US" sz="1400" i="1" dirty="0">
                <a:solidFill>
                  <a:schemeClr val="bg1">
                    <a:lumMod val="50000"/>
                  </a:schemeClr>
                </a:solidFill>
              </a:rPr>
              <a:t>Provide any specific requirement for the different functional layers (for example, if the elements of the specific layer need to be active/active or active/passive, if a DB synchronous copy is needed or a file share is necessary)</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39</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4.6 Application Availability</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5" name="Table 4">
            <a:extLst>
              <a:ext uri="{FF2B5EF4-FFF2-40B4-BE49-F238E27FC236}">
                <a16:creationId xmlns:a16="http://schemas.microsoft.com/office/drawing/2014/main" id="{C758B059-8C52-AB96-787C-00F01BD0D17A}"/>
              </a:ext>
            </a:extLst>
          </p:cNvPr>
          <p:cNvGraphicFramePr>
            <a:graphicFrameLocks noGrp="1"/>
          </p:cNvGraphicFramePr>
          <p:nvPr>
            <p:extLst>
              <p:ext uri="{D42A27DB-BD31-4B8C-83A1-F6EECF244321}">
                <p14:modId xmlns:p14="http://schemas.microsoft.com/office/powerpoint/2010/main" val="3826244432"/>
              </p:ext>
            </p:extLst>
          </p:nvPr>
        </p:nvGraphicFramePr>
        <p:xfrm>
          <a:off x="558624" y="4660188"/>
          <a:ext cx="10469216" cy="1813560"/>
        </p:xfrm>
        <a:graphic>
          <a:graphicData uri="http://schemas.openxmlformats.org/drawingml/2006/table">
            <a:tbl>
              <a:tblPr firstRow="1" bandRow="1">
                <a:tableStyleId>{6E25E649-3F16-4E02-A733-19D2CDBF48F0}</a:tableStyleId>
              </a:tblPr>
              <a:tblGrid>
                <a:gridCol w="4916093">
                  <a:extLst>
                    <a:ext uri="{9D8B030D-6E8A-4147-A177-3AD203B41FA5}">
                      <a16:colId xmlns:a16="http://schemas.microsoft.com/office/drawing/2014/main" val="20000"/>
                    </a:ext>
                  </a:extLst>
                </a:gridCol>
                <a:gridCol w="5553123">
                  <a:extLst>
                    <a:ext uri="{9D8B030D-6E8A-4147-A177-3AD203B41FA5}">
                      <a16:colId xmlns:a16="http://schemas.microsoft.com/office/drawing/2014/main" val="20001"/>
                    </a:ext>
                  </a:extLst>
                </a:gridCol>
              </a:tblGrid>
              <a:tr h="0">
                <a:tc>
                  <a:txBody>
                    <a:bodyPr/>
                    <a:lstStyle/>
                    <a:p>
                      <a:pPr marL="0" algn="ctr" defTabSz="685800" rtl="0" eaLnBrk="1" latinLnBrk="0" hangingPunct="1"/>
                      <a:r>
                        <a:rPr lang="en-US" sz="1100" b="1" kern="1200" dirty="0">
                          <a:solidFill>
                            <a:schemeClr val="lt1"/>
                          </a:solidFill>
                          <a:latin typeface="+mn-lt"/>
                          <a:ea typeface="+mn-ea"/>
                          <a:cs typeface="+mn-cs"/>
                        </a:rPr>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tc>
                  <a:txBody>
                    <a:bodyPr/>
                    <a:lstStyle/>
                    <a:p>
                      <a:pPr marL="0" algn="ctr" defTabSz="685800" rtl="0" eaLnBrk="1" latinLnBrk="0" hangingPunct="1"/>
                      <a:r>
                        <a:rPr lang="en-US" sz="1100" b="1" kern="1200" dirty="0">
                          <a:solidFill>
                            <a:schemeClr val="lt1"/>
                          </a:solidFill>
                          <a:latin typeface="+mn-lt"/>
                          <a:ea typeface="+mn-ea"/>
                          <a:cs typeface="+mn-cs"/>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extLst>
                  <a:ext uri="{0D108BD9-81ED-4DB2-BD59-A6C34878D82A}">
                    <a16:rowId xmlns:a16="http://schemas.microsoft.com/office/drawing/2014/main" val="10000"/>
                  </a:ext>
                </a:extLst>
              </a:tr>
              <a:tr h="246737">
                <a:tc>
                  <a:txBody>
                    <a:bodyPr/>
                    <a:lstStyle/>
                    <a:p>
                      <a:r>
                        <a:rPr lang="en-US" sz="1100" kern="1200" dirty="0">
                          <a:solidFill>
                            <a:schemeClr val="dk1"/>
                          </a:solidFill>
                          <a:latin typeface="+mn-lt"/>
                          <a:ea typeface="+mn-ea"/>
                          <a:cs typeface="+mn-cs"/>
                        </a:rPr>
                        <a:t>Load Balancing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46737">
                <a:tc>
                  <a:txBody>
                    <a:bodyPr/>
                    <a:lstStyle/>
                    <a:p>
                      <a:r>
                        <a:rPr lang="en-US" sz="1100" kern="1200" dirty="0">
                          <a:solidFill>
                            <a:schemeClr val="dk1"/>
                          </a:solidFill>
                          <a:latin typeface="+mn-lt"/>
                          <a:ea typeface="+mn-ea"/>
                          <a:cs typeface="+mn-cs"/>
                        </a:rPr>
                        <a:t>Front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2"/>
                  </a:ext>
                </a:extLst>
              </a:tr>
              <a:tr h="246737">
                <a:tc>
                  <a:txBody>
                    <a:bodyPr/>
                    <a:lstStyle/>
                    <a:p>
                      <a:r>
                        <a:rPr lang="en-US" sz="1100" kern="1200" dirty="0">
                          <a:solidFill>
                            <a:schemeClr val="dk1"/>
                          </a:solidFill>
                          <a:latin typeface="+mn-lt"/>
                          <a:ea typeface="+mn-ea"/>
                          <a:cs typeface="+mn-cs"/>
                        </a:rPr>
                        <a:t>Business Logic or Application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46737">
                <a:tc>
                  <a:txBody>
                    <a:bodyPr/>
                    <a:lstStyle/>
                    <a:p>
                      <a:r>
                        <a:rPr lang="en-US" sz="1100" kern="1200" dirty="0">
                          <a:solidFill>
                            <a:schemeClr val="dk1"/>
                          </a:solidFill>
                          <a:latin typeface="+mn-lt"/>
                          <a:ea typeface="+mn-ea"/>
                          <a:cs typeface="+mn-cs"/>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4"/>
                  </a:ext>
                </a:extLst>
              </a:tr>
              <a:tr h="246737">
                <a:tc>
                  <a:txBody>
                    <a:bodyPr/>
                    <a:lstStyle/>
                    <a:p>
                      <a:r>
                        <a:rPr lang="en-US" sz="1100" kern="1200" dirty="0">
                          <a:solidFill>
                            <a:schemeClr val="dk1"/>
                          </a:solidFill>
                          <a:latin typeface="+mn-lt"/>
                          <a:ea typeface="+mn-ea"/>
                          <a:cs typeface="+mn-cs"/>
                        </a:rPr>
                        <a:t>Storage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46737">
                <a:tc>
                  <a:txBody>
                    <a:bodyPr/>
                    <a:lstStyle/>
                    <a:p>
                      <a:r>
                        <a:rPr lang="en-US" sz="1100" kern="1200" dirty="0">
                          <a:solidFill>
                            <a:schemeClr val="dk1"/>
                          </a:solidFill>
                          <a:latin typeface="+mn-lt"/>
                          <a:ea typeface="+mn-ea"/>
                          <a:cs typeface="+mn-cs"/>
                        </a:rPr>
                        <a:t>Communications or Network infrastructure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6"/>
                  </a:ext>
                </a:extLst>
              </a:tr>
            </a:tbl>
          </a:graphicData>
        </a:graphic>
      </p:graphicFrame>
      <p:pic>
        <p:nvPicPr>
          <p:cNvPr id="10" name="Picture 9">
            <a:extLst>
              <a:ext uri="{FF2B5EF4-FFF2-40B4-BE49-F238E27FC236}">
                <a16:creationId xmlns:a16="http://schemas.microsoft.com/office/drawing/2014/main" id="{58667736-5C5D-DBB0-1DEF-E09F8AD92563}"/>
              </a:ext>
            </a:extLst>
          </p:cNvPr>
          <p:cNvPicPr>
            <a:picLocks noChangeAspect="1"/>
          </p:cNvPicPr>
          <p:nvPr/>
        </p:nvPicPr>
        <p:blipFill>
          <a:blip r:embed="rId2"/>
          <a:stretch>
            <a:fillRect/>
          </a:stretch>
        </p:blipFill>
        <p:spPr>
          <a:xfrm>
            <a:off x="558624" y="1275391"/>
            <a:ext cx="3615013" cy="2084849"/>
          </a:xfrm>
          <a:prstGeom prst="rect">
            <a:avLst/>
          </a:prstGeom>
        </p:spPr>
      </p:pic>
      <p:graphicFrame>
        <p:nvGraphicFramePr>
          <p:cNvPr id="12" name="Table 11">
            <a:extLst>
              <a:ext uri="{FF2B5EF4-FFF2-40B4-BE49-F238E27FC236}">
                <a16:creationId xmlns:a16="http://schemas.microsoft.com/office/drawing/2014/main" id="{D35E1AA4-A649-914F-2128-7AEACE8F2684}"/>
              </a:ext>
            </a:extLst>
          </p:cNvPr>
          <p:cNvGraphicFramePr>
            <a:graphicFrameLocks noGrp="1"/>
          </p:cNvGraphicFramePr>
          <p:nvPr>
            <p:extLst>
              <p:ext uri="{D42A27DB-BD31-4B8C-83A1-F6EECF244321}">
                <p14:modId xmlns:p14="http://schemas.microsoft.com/office/powerpoint/2010/main" val="3140418456"/>
              </p:ext>
            </p:extLst>
          </p:nvPr>
        </p:nvGraphicFramePr>
        <p:xfrm>
          <a:off x="4530003" y="1304607"/>
          <a:ext cx="7103373" cy="2453640"/>
        </p:xfrm>
        <a:graphic>
          <a:graphicData uri="http://schemas.openxmlformats.org/drawingml/2006/table">
            <a:tbl>
              <a:tblPr firstRow="1" bandRow="1">
                <a:tableStyleId>{6E25E649-3F16-4E02-A733-19D2CDBF48F0}</a:tableStyleId>
              </a:tblPr>
              <a:tblGrid>
                <a:gridCol w="3130785">
                  <a:extLst>
                    <a:ext uri="{9D8B030D-6E8A-4147-A177-3AD203B41FA5}">
                      <a16:colId xmlns:a16="http://schemas.microsoft.com/office/drawing/2014/main" val="20000"/>
                    </a:ext>
                  </a:extLst>
                </a:gridCol>
                <a:gridCol w="3972588">
                  <a:extLst>
                    <a:ext uri="{9D8B030D-6E8A-4147-A177-3AD203B41FA5}">
                      <a16:colId xmlns:a16="http://schemas.microsoft.com/office/drawing/2014/main" val="20001"/>
                    </a:ext>
                  </a:extLst>
                </a:gridCol>
              </a:tblGrid>
              <a:tr h="213997">
                <a:tc>
                  <a:txBody>
                    <a:bodyPr/>
                    <a:lstStyle/>
                    <a:p>
                      <a:pPr algn="ctr"/>
                      <a:r>
                        <a:rPr lang="en-US" sz="1100" dirty="0"/>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68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Session Persistence</a:t>
                      </a:r>
                    </a:p>
                    <a:p>
                      <a:r>
                        <a:rPr lang="en-US" sz="1050" dirty="0"/>
                        <a:t>List</a:t>
                      </a:r>
                      <a:r>
                        <a:rPr lang="en-US" sz="1050" baseline="0" dirty="0"/>
                        <a:t> the session persistence. Each connected will be directed to the next available server regardless of where the previous connection went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u="sng" baseline="0" dirty="0"/>
                        <a:t>No </a:t>
                      </a:r>
                      <a:r>
                        <a:rPr lang="en-US" sz="1050" u="sng" baseline="0" dirty="0" err="1"/>
                        <a:t>Persistance</a:t>
                      </a:r>
                      <a:r>
                        <a:rPr lang="en-US" sz="1050" u="sng" baseline="0" dirty="0"/>
                        <a:t> </a:t>
                      </a:r>
                      <a:r>
                        <a:rPr lang="en-US" sz="1050" baseline="0" dirty="0"/>
                        <a:t>– Stateless</a:t>
                      </a:r>
                    </a:p>
                    <a:p>
                      <a:r>
                        <a:rPr lang="en-US" sz="1050" u="sng" baseline="0" dirty="0" err="1"/>
                        <a:t>Persistance</a:t>
                      </a:r>
                      <a:r>
                        <a:rPr lang="en-US" sz="1050" baseline="0" dirty="0"/>
                        <a:t> – Stateful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dirty="0"/>
                        <a:t>Source IP Affinity </a:t>
                      </a:r>
                      <a:r>
                        <a:rPr lang="en-US" sz="1050" dirty="0"/>
                        <a:t>- The load</a:t>
                      </a:r>
                      <a:r>
                        <a:rPr lang="en-US" sz="1050" baseline="0" dirty="0"/>
                        <a:t> balancer will keep track of source IP addresses.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baseline="0" dirty="0"/>
                        <a:t>HTTP Cookies </a:t>
                      </a:r>
                      <a:r>
                        <a:rPr lang="en-US" sz="1050" baseline="0" dirty="0"/>
                        <a:t>-</a:t>
                      </a:r>
                      <a:r>
                        <a:rPr lang="en-US" sz="1050" dirty="0"/>
                        <a:t>.</a:t>
                      </a:r>
                      <a:r>
                        <a:rPr lang="en-US" sz="1050" baseline="0" dirty="0"/>
                        <a:t> Session persistence by cookie.</a:t>
                      </a:r>
                      <a:endParaRPr lang="en-US" sz="1050" dirty="0"/>
                    </a:p>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04227">
                <a:tc>
                  <a:txBody>
                    <a:bodyPr/>
                    <a:lstStyle/>
                    <a:p>
                      <a:r>
                        <a:rPr lang="en-US" sz="1100" dirty="0"/>
                        <a:t>Timeouts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dirty="0"/>
                        <a:t>Provide the timeout due to user inactivity or connection/response time exceeding</a:t>
                      </a:r>
                      <a:r>
                        <a:rPr lang="en-US" sz="1050" baseline="0" dirty="0"/>
                        <a:t> the set time.</a:t>
                      </a:r>
                    </a:p>
                    <a:p>
                      <a:pPr marL="171450" indent="-171450">
                        <a:buFont typeface="Arial" panose="020B0604020202020204" pitchFamily="34" charset="0"/>
                        <a:buChar char="•"/>
                      </a:pPr>
                      <a:r>
                        <a:rPr lang="en-US" sz="1050" baseline="0" dirty="0"/>
                        <a:t>Application Session timeout </a:t>
                      </a:r>
                    </a:p>
                    <a:p>
                      <a:pPr marL="171450" indent="-171450">
                        <a:buFont typeface="Arial" panose="020B0604020202020204" pitchFamily="34" charset="0"/>
                        <a:buChar char="•"/>
                      </a:pPr>
                      <a:r>
                        <a:rPr lang="en-US" sz="1050" baseline="0" dirty="0"/>
                        <a:t>Persistence timeout.</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8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Availability</a:t>
                      </a:r>
                      <a:r>
                        <a:rPr lang="en-US" sz="1100" baseline="0" dirty="0"/>
                        <a:t>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dirty="0"/>
                        <a:t>Specify whether a health check will be tested by the balancer periodically. Provide/define the URL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8972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Please include all relevant Infrastructure components considering </a:t>
            </a:r>
            <a:r>
              <a:rPr lang="en-US" sz="1400" i="1" dirty="0" err="1">
                <a:solidFill>
                  <a:schemeClr val="bg1">
                    <a:lumMod val="50000"/>
                  </a:schemeClr>
                </a:solidFill>
              </a:rPr>
              <a:t>OnLine</a:t>
            </a:r>
            <a:r>
              <a:rPr lang="en-US" sz="1400" i="1" dirty="0">
                <a:solidFill>
                  <a:schemeClr val="bg1">
                    <a:lumMod val="50000"/>
                  </a:schemeClr>
                </a:solidFill>
              </a:rPr>
              <a:t> and Batch solutions</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40</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4.7 Infrastructure Components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3 Tabla">
            <a:extLst>
              <a:ext uri="{FF2B5EF4-FFF2-40B4-BE49-F238E27FC236}">
                <a16:creationId xmlns:a16="http://schemas.microsoft.com/office/drawing/2014/main" id="{48565407-52BE-1720-2C66-63FC00F920FB}"/>
              </a:ext>
            </a:extLst>
          </p:cNvPr>
          <p:cNvGraphicFramePr>
            <a:graphicFrameLocks noGrp="1"/>
          </p:cNvGraphicFramePr>
          <p:nvPr>
            <p:extLst>
              <p:ext uri="{D42A27DB-BD31-4B8C-83A1-F6EECF244321}">
                <p14:modId xmlns:p14="http://schemas.microsoft.com/office/powerpoint/2010/main" val="1462736276"/>
              </p:ext>
            </p:extLst>
          </p:nvPr>
        </p:nvGraphicFramePr>
        <p:xfrm>
          <a:off x="495299" y="1409700"/>
          <a:ext cx="10747514" cy="3425045"/>
        </p:xfrm>
        <a:graphic>
          <a:graphicData uri="http://schemas.openxmlformats.org/drawingml/2006/table">
            <a:tbl>
              <a:tblPr firstRow="1" bandRow="1">
                <a:tableStyleId>{5C22544A-7EE6-4342-B048-85BDC9FD1C3A}</a:tableStyleId>
              </a:tblPr>
              <a:tblGrid>
                <a:gridCol w="1754125">
                  <a:extLst>
                    <a:ext uri="{9D8B030D-6E8A-4147-A177-3AD203B41FA5}">
                      <a16:colId xmlns:a16="http://schemas.microsoft.com/office/drawing/2014/main" val="20000"/>
                    </a:ext>
                  </a:extLst>
                </a:gridCol>
                <a:gridCol w="1801368">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gridCol w="2221992">
                  <a:extLst>
                    <a:ext uri="{9D8B030D-6E8A-4147-A177-3AD203B41FA5}">
                      <a16:colId xmlns:a16="http://schemas.microsoft.com/office/drawing/2014/main" val="807588602"/>
                    </a:ext>
                  </a:extLst>
                </a:gridCol>
                <a:gridCol w="1156981">
                  <a:extLst>
                    <a:ext uri="{9D8B030D-6E8A-4147-A177-3AD203B41FA5}">
                      <a16:colId xmlns:a16="http://schemas.microsoft.com/office/drawing/2014/main" val="3570843594"/>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Component</a:t>
                      </a:r>
                    </a:p>
                  </a:txBody>
                  <a:tcP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Description</a:t>
                      </a:r>
                    </a:p>
                  </a:txBody>
                  <a:tcPr>
                    <a:solidFill>
                      <a:srgbClr val="FF0000"/>
                    </a:solidFill>
                  </a:tcPr>
                </a:tc>
                <a:tc>
                  <a:txBody>
                    <a:bodyPr/>
                    <a:lstStyle/>
                    <a:p>
                      <a:pPr algn="ctr"/>
                      <a:r>
                        <a:rPr lang="en-US" sz="1200" noProof="0" dirty="0"/>
                        <a:t>New / Changed / </a:t>
                      </a:r>
                      <a:br>
                        <a:rPr lang="en-US" sz="1200" noProof="0" dirty="0"/>
                      </a:br>
                      <a:r>
                        <a:rPr lang="en-US" sz="1200" noProof="0" dirty="0"/>
                        <a:t>No Changed</a:t>
                      </a:r>
                    </a:p>
                  </a:txBody>
                  <a:tcPr>
                    <a:solidFill>
                      <a:srgbClr val="FF0000"/>
                    </a:solidFill>
                  </a:tcPr>
                </a:tc>
                <a:tc>
                  <a:txBody>
                    <a:bodyPr/>
                    <a:lstStyle/>
                    <a:p>
                      <a:pPr algn="ctr"/>
                      <a:r>
                        <a:rPr lang="en-US" sz="1200" noProof="0" dirty="0"/>
                        <a:t>Infrastructure Layer</a:t>
                      </a:r>
                    </a:p>
                  </a:txBody>
                  <a:tcPr>
                    <a:solidFill>
                      <a:srgbClr val="FF0000"/>
                    </a:solidFill>
                  </a:tcPr>
                </a:tc>
                <a:tc>
                  <a:txBody>
                    <a:bodyPr/>
                    <a:lstStyle/>
                    <a:p>
                      <a:pPr algn="ctr"/>
                      <a:r>
                        <a:rPr lang="en-US" sz="1200" noProof="0" dirty="0"/>
                        <a:t>Hardware Specification</a:t>
                      </a:r>
                    </a:p>
                  </a:txBody>
                  <a:tcPr>
                    <a:solidFill>
                      <a:srgbClr val="FF0000"/>
                    </a:solidFill>
                  </a:tcPr>
                </a:tc>
                <a:tc>
                  <a:txBody>
                    <a:bodyPr/>
                    <a:lstStyle/>
                    <a:p>
                      <a:pPr algn="ctr"/>
                      <a:r>
                        <a:rPr lang="en-US" sz="1200" noProof="0" dirty="0"/>
                        <a:t>Mandatory</a:t>
                      </a:r>
                    </a:p>
                    <a:p>
                      <a:pPr algn="ctr"/>
                      <a:r>
                        <a:rPr lang="en-US" sz="1200" noProof="0" dirty="0"/>
                        <a:t>Y/N</a:t>
                      </a:r>
                    </a:p>
                  </a:txBody>
                  <a:tcP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Ctrl-M</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Orchestrator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Oracle DB</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Application Database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MOM (MQSeries)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Message middleware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No 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WAS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WebSphere Application Server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SMTP Servers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Common 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No changed</a:t>
                      </a: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Virtual Machine RHEL</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Web/Application Server</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New</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2 CPU</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4GB RAM</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40 GB Local File System</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Y</a:t>
                      </a:r>
                    </a:p>
                  </a:txBody>
                  <a:tcPr marL="90000" marR="90000" marT="46795" marB="46795" horzOverflow="overflow">
                    <a:solidFill>
                      <a:srgbClr val="E7E7E7"/>
                    </a:solidFill>
                  </a:tcPr>
                </a:tc>
                <a:extLst>
                  <a:ext uri="{0D108BD9-81ED-4DB2-BD59-A6C34878D82A}">
                    <a16:rowId xmlns:a16="http://schemas.microsoft.com/office/drawing/2014/main" val="1013906520"/>
                  </a:ext>
                </a:extLst>
              </a:tr>
            </a:tbl>
          </a:graphicData>
        </a:graphic>
      </p:graphicFrame>
      <p:sp>
        <p:nvSpPr>
          <p:cNvPr id="4" name="TextBox 3">
            <a:extLst>
              <a:ext uri="{FF2B5EF4-FFF2-40B4-BE49-F238E27FC236}">
                <a16:creationId xmlns:a16="http://schemas.microsoft.com/office/drawing/2014/main" id="{E1692D65-9B66-CE24-F6FA-8522CB6B3836}"/>
              </a:ext>
            </a:extLst>
          </p:cNvPr>
          <p:cNvSpPr txBox="1"/>
          <p:nvPr/>
        </p:nvSpPr>
        <p:spPr>
          <a:xfrm>
            <a:off x="7541039" y="259973"/>
            <a:ext cx="3933006" cy="646331"/>
          </a:xfrm>
          <a:prstGeom prst="rect">
            <a:avLst/>
          </a:prstGeom>
          <a:solidFill>
            <a:srgbClr val="FFFF00"/>
          </a:solidFill>
          <a:ln>
            <a:solidFill>
              <a:schemeClr val="tx1"/>
            </a:solidFill>
          </a:ln>
        </p:spPr>
        <p:txBody>
          <a:bodyPr wrap="square" rtlCol="0">
            <a:spAutoFit/>
          </a:bodyPr>
          <a:lstStyle/>
          <a:p>
            <a:pPr algn="ctr"/>
            <a:r>
              <a:rPr lang="en-US" b="1" dirty="0"/>
              <a:t>Updated: Hardware Specification (hard Requirement)</a:t>
            </a:r>
          </a:p>
        </p:txBody>
      </p:sp>
    </p:spTree>
    <p:extLst>
      <p:ext uri="{BB962C8B-B14F-4D97-AF65-F5344CB8AC3E}">
        <p14:creationId xmlns:p14="http://schemas.microsoft.com/office/powerpoint/2010/main" val="88272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Microservices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Namespaces specifications</a:t>
            </a:r>
          </a:p>
          <a:p>
            <a:pPr>
              <a:lnSpc>
                <a:spcPct val="107000"/>
              </a:lnSpc>
            </a:pPr>
            <a:r>
              <a:rPr lang="en-US" sz="1400" i="1" dirty="0">
                <a:solidFill>
                  <a:schemeClr val="bg1">
                    <a:lumMod val="65000"/>
                  </a:schemeClr>
                </a:solidFill>
              </a:rPr>
              <a:t>Project Size (S, M, L, XL) based on: Project Quota, Persistent Volume, Project Limits, K8S objects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41</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4.8 CaaS Infrastructure</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pic>
        <p:nvPicPr>
          <p:cNvPr id="5" name="Picture 4">
            <a:extLst>
              <a:ext uri="{FF2B5EF4-FFF2-40B4-BE49-F238E27FC236}">
                <a16:creationId xmlns:a16="http://schemas.microsoft.com/office/drawing/2014/main" id="{08018A0F-9398-2B02-DEFC-BA477E18EFCC}"/>
              </a:ext>
            </a:extLst>
          </p:cNvPr>
          <p:cNvPicPr>
            <a:picLocks noChangeAspect="1"/>
          </p:cNvPicPr>
          <p:nvPr/>
        </p:nvPicPr>
        <p:blipFill rotWithShape="1">
          <a:blip r:embed="rId3"/>
          <a:srcRect t="9360" b="12108"/>
          <a:stretch/>
        </p:blipFill>
        <p:spPr>
          <a:xfrm>
            <a:off x="437230" y="5137989"/>
            <a:ext cx="8293615" cy="1219163"/>
          </a:xfrm>
          <a:prstGeom prst="rect">
            <a:avLst/>
          </a:prstGeom>
        </p:spPr>
      </p:pic>
      <p:pic>
        <p:nvPicPr>
          <p:cNvPr id="12" name="Picture 11">
            <a:extLst>
              <a:ext uri="{FF2B5EF4-FFF2-40B4-BE49-F238E27FC236}">
                <a16:creationId xmlns:a16="http://schemas.microsoft.com/office/drawing/2014/main" id="{D15E0C65-0B4F-5966-9FF0-9A191929E8CC}"/>
              </a:ext>
            </a:extLst>
          </p:cNvPr>
          <p:cNvPicPr>
            <a:picLocks noChangeAspect="1"/>
          </p:cNvPicPr>
          <p:nvPr/>
        </p:nvPicPr>
        <p:blipFill>
          <a:blip r:embed="rId4"/>
          <a:stretch>
            <a:fillRect/>
          </a:stretch>
        </p:blipFill>
        <p:spPr>
          <a:xfrm>
            <a:off x="437230" y="1234509"/>
            <a:ext cx="8805333" cy="3011490"/>
          </a:xfrm>
          <a:prstGeom prst="rect">
            <a:avLst/>
          </a:prstGeom>
        </p:spPr>
      </p:pic>
      <p:pic>
        <p:nvPicPr>
          <p:cNvPr id="14" name="Picture 13">
            <a:extLst>
              <a:ext uri="{FF2B5EF4-FFF2-40B4-BE49-F238E27FC236}">
                <a16:creationId xmlns:a16="http://schemas.microsoft.com/office/drawing/2014/main" id="{2C62A1AA-EC8E-8808-9CF1-42E8813506EF}"/>
              </a:ext>
            </a:extLst>
          </p:cNvPr>
          <p:cNvPicPr>
            <a:picLocks noChangeAspect="1"/>
          </p:cNvPicPr>
          <p:nvPr/>
        </p:nvPicPr>
        <p:blipFill>
          <a:blip r:embed="rId5"/>
          <a:stretch>
            <a:fillRect/>
          </a:stretch>
        </p:blipFill>
        <p:spPr>
          <a:xfrm>
            <a:off x="9450966" y="3602803"/>
            <a:ext cx="1302958" cy="3130657"/>
          </a:xfrm>
          <a:prstGeom prst="rect">
            <a:avLst/>
          </a:prstGeom>
        </p:spPr>
      </p:pic>
    </p:spTree>
    <p:extLst>
      <p:ext uri="{BB962C8B-B14F-4D97-AF65-F5344CB8AC3E}">
        <p14:creationId xmlns:p14="http://schemas.microsoft.com/office/powerpoint/2010/main" val="621319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Special Hardware/Software requirements</a:t>
            </a:r>
          </a:p>
          <a:p>
            <a:pPr marL="0" marR="0" lvl="0" indent="0" fontAlgn="auto">
              <a:lnSpc>
                <a:spcPct val="100000"/>
              </a:lnSpc>
              <a:spcBef>
                <a:spcPts val="0"/>
              </a:spcBef>
              <a:spcAft>
                <a:spcPts val="0"/>
              </a:spcAft>
              <a:buClrTx/>
              <a:buSzTx/>
              <a:buFontTx/>
              <a:buNone/>
              <a:tabLst/>
              <a:defRPr/>
            </a:pPr>
            <a:r>
              <a:rPr lang="en-US" i="1" dirty="0">
                <a:solidFill>
                  <a:schemeClr val="bg1">
                    <a:lumMod val="65000"/>
                  </a:schemeClr>
                </a:solidFill>
              </a:rPr>
              <a:t>Please specify any out of the box requirement for this application/solution to work. (This is to specify if there is any special instruction related to the application that has not been covered before)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42</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4.9 Special Requirements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Tree>
    <p:extLst>
      <p:ext uri="{BB962C8B-B14F-4D97-AF65-F5344CB8AC3E}">
        <p14:creationId xmlns:p14="http://schemas.microsoft.com/office/powerpoint/2010/main" val="244770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This criteria focuses on the concept of resilience – the ability to “bounce back” from an adverse event. This is required in order to identify the measures that have been taken or considered during the planning stage of the application development/configuration. The primary focus is on the ability to fully or partially withstand a cyber event. Alternatively, should there be an impact, identify the course of action to restore the application with least impact or delay. Cyber resiliency must be addressed at the application level and also at the infrastructure level (every tier) which can be further defined in the infrastructure design.</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43</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4.10 Cyber Resiliency -  Application Level</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F5641B1D-F85F-B318-88B1-FAB3500BE6A4}"/>
              </a:ext>
            </a:extLst>
          </p:cNvPr>
          <p:cNvGraphicFramePr>
            <a:graphicFrameLocks noGrp="1"/>
          </p:cNvGraphicFramePr>
          <p:nvPr>
            <p:extLst>
              <p:ext uri="{D42A27DB-BD31-4B8C-83A1-F6EECF244321}">
                <p14:modId xmlns:p14="http://schemas.microsoft.com/office/powerpoint/2010/main" val="1493914461"/>
              </p:ext>
            </p:extLst>
          </p:nvPr>
        </p:nvGraphicFramePr>
        <p:xfrm>
          <a:off x="563031" y="2437846"/>
          <a:ext cx="10495515" cy="3181279"/>
        </p:xfrm>
        <a:graphic>
          <a:graphicData uri="http://schemas.openxmlformats.org/drawingml/2006/table">
            <a:tbl>
              <a:tblPr firstRow="1" bandRow="1">
                <a:tableStyleId>{6E25E649-3F16-4E02-A733-19D2CDBF48F0}</a:tableStyleId>
              </a:tblPr>
              <a:tblGrid>
                <a:gridCol w="5313114">
                  <a:extLst>
                    <a:ext uri="{9D8B030D-6E8A-4147-A177-3AD203B41FA5}">
                      <a16:colId xmlns:a16="http://schemas.microsoft.com/office/drawing/2014/main" val="20000"/>
                    </a:ext>
                  </a:extLst>
                </a:gridCol>
                <a:gridCol w="5182401">
                  <a:extLst>
                    <a:ext uri="{9D8B030D-6E8A-4147-A177-3AD203B41FA5}">
                      <a16:colId xmlns:a16="http://schemas.microsoft.com/office/drawing/2014/main" val="20001"/>
                    </a:ext>
                  </a:extLst>
                </a:gridCol>
              </a:tblGrid>
              <a:tr h="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a:t>
                      </a:r>
                      <a:r>
                        <a:rPr lang="en-US" baseline="0" dirty="0"/>
                        <a:t> Level</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40187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u="none" baseline="0" dirty="0"/>
                        <a:t>Provide the CND Compatible, Distributed computing/redundancy, and the details related to the Provision &amp; configuration automation for quick and easy restoration.</a:t>
                      </a:r>
                    </a:p>
                    <a:p>
                      <a:pPr marL="171450" indent="-171450">
                        <a:buFont typeface="Arial" panose="020B0604020202020204" pitchFamily="34" charset="0"/>
                        <a:buChar char="•"/>
                      </a:pPr>
                      <a:r>
                        <a:rPr lang="en-US" sz="1200" u="sng" baseline="0" dirty="0"/>
                        <a:t>Distributed computing/redundancy </a:t>
                      </a:r>
                      <a:r>
                        <a:rPr lang="en-US" sz="1200" baseline="0" dirty="0"/>
                        <a:t>(</a:t>
                      </a:r>
                      <a:r>
                        <a:rPr lang="en-US" sz="1200" baseline="0" dirty="0" err="1"/>
                        <a:t>i.e</a:t>
                      </a:r>
                      <a:r>
                        <a:rPr lang="en-US" sz="1200" baseline="0" dirty="0"/>
                        <a:t> Active-Active application cluster capability) and (i.e. </a:t>
                      </a:r>
                      <a:r>
                        <a:rPr lang="en-US" sz="1200" baseline="0" dirty="0" err="1"/>
                        <a:t>Microservices</a:t>
                      </a:r>
                      <a:r>
                        <a:rPr lang="en-US" sz="1200" baseline="0" dirty="0"/>
                        <a:t> Architecture)</a:t>
                      </a:r>
                    </a:p>
                    <a:p>
                      <a:pPr marL="171450" indent="-171450">
                        <a:buFont typeface="Arial" panose="020B0604020202020204" pitchFamily="34" charset="0"/>
                        <a:buChar char="•"/>
                      </a:pPr>
                      <a:r>
                        <a:rPr lang="en-US" sz="1200" u="sng" baseline="0" dirty="0"/>
                        <a:t>CDN Compatible</a:t>
                      </a:r>
                      <a:r>
                        <a:rPr lang="en-US" sz="1200" u="none" baseline="0" dirty="0"/>
                        <a:t>  </a:t>
                      </a:r>
                      <a:r>
                        <a:rPr lang="en-US" sz="1200" baseline="0" dirty="0"/>
                        <a:t>(i.e. DDOS mitigation using Akamai/CDN)</a:t>
                      </a:r>
                    </a:p>
                    <a:p>
                      <a:pPr marL="171450" indent="-171450">
                        <a:buFont typeface="Arial" panose="020B0604020202020204" pitchFamily="34" charset="0"/>
                        <a:buChar char="•"/>
                      </a:pPr>
                      <a:r>
                        <a:rPr lang="en-US" sz="1200" u="sng" baseline="0" dirty="0"/>
                        <a:t>Provision &amp; configuration automation for quick and easy restoration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200935">
                <a:tc>
                  <a:txBody>
                    <a:bodyPr/>
                    <a:lstStyle/>
                    <a:p>
                      <a:pPr marL="0" indent="0">
                        <a:buFont typeface="Arial" panose="020B0604020202020204" pitchFamily="34" charset="0"/>
                        <a:buNone/>
                      </a:pPr>
                      <a:r>
                        <a:rPr lang="en-US" sz="1800" dirty="0"/>
                        <a:t>Database</a:t>
                      </a:r>
                      <a:r>
                        <a:rPr lang="en-US" sz="1800" baseline="0" dirty="0"/>
                        <a:t> Level</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00935">
                <a:tc>
                  <a:txBody>
                    <a:bodyPr/>
                    <a:lstStyle/>
                    <a:p>
                      <a:pPr marL="0" indent="0">
                        <a:buFont typeface="Arial" panose="020B0604020202020204" pitchFamily="34" charset="0"/>
                        <a:buNone/>
                      </a:pPr>
                      <a:r>
                        <a:rPr lang="en-US" sz="1200" dirty="0"/>
                        <a:t>Specify</a:t>
                      </a:r>
                      <a:r>
                        <a:rPr lang="en-US" sz="1200" baseline="0" dirty="0"/>
                        <a:t> the r</a:t>
                      </a:r>
                      <a:r>
                        <a:rPr lang="en-US" sz="1200" dirty="0"/>
                        <a:t>ecovery</a:t>
                      </a:r>
                      <a:r>
                        <a:rPr lang="en-US" sz="1200" baseline="0" dirty="0"/>
                        <a:t> from data loss/corruption:</a:t>
                      </a:r>
                    </a:p>
                    <a:p>
                      <a:pPr marL="171450" indent="-171450">
                        <a:buFont typeface="Arial" panose="020B0604020202020204" pitchFamily="34" charset="0"/>
                        <a:buChar char="•"/>
                      </a:pPr>
                      <a:r>
                        <a:rPr lang="en-US" sz="1200" baseline="0" dirty="0"/>
                        <a:t>Recovery/rollback using transaction</a:t>
                      </a:r>
                    </a:p>
                    <a:p>
                      <a:pPr marL="171450" indent="-171450">
                        <a:buFont typeface="Arial" panose="020B0604020202020204" pitchFamily="34" charset="0"/>
                        <a:buChar char="•"/>
                      </a:pPr>
                      <a:r>
                        <a:rPr lang="en-US" sz="1200" baseline="0" dirty="0"/>
                        <a:t>Recovery from backup</a:t>
                      </a:r>
                    </a:p>
                    <a:p>
                      <a:pPr marL="171450" indent="-171450">
                        <a:buFont typeface="Arial" panose="020B0604020202020204" pitchFamily="34" charset="0"/>
                        <a:buChar char="•"/>
                      </a:pPr>
                      <a:r>
                        <a:rPr lang="en-US" sz="1200" baseline="0" dirty="0"/>
                        <a:t>Reconstruct from original source (DataMart)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72380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44</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4.11 References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9460CB67-9CE7-ABA2-D59F-9741CD548588}"/>
              </a:ext>
            </a:extLst>
          </p:cNvPr>
          <p:cNvGraphicFramePr>
            <a:graphicFrameLocks noGrp="1"/>
          </p:cNvGraphicFramePr>
          <p:nvPr>
            <p:extLst>
              <p:ext uri="{D42A27DB-BD31-4B8C-83A1-F6EECF244321}">
                <p14:modId xmlns:p14="http://schemas.microsoft.com/office/powerpoint/2010/main" val="4155833818"/>
              </p:ext>
            </p:extLst>
          </p:nvPr>
        </p:nvGraphicFramePr>
        <p:xfrm>
          <a:off x="705313" y="1006924"/>
          <a:ext cx="9573220" cy="2595880"/>
        </p:xfrm>
        <a:graphic>
          <a:graphicData uri="http://schemas.openxmlformats.org/drawingml/2006/table">
            <a:tbl>
              <a:tblPr firstRow="1" bandRow="1">
                <a:tableStyleId>{6E25E649-3F16-4E02-A733-19D2CDBF48F0}</a:tableStyleId>
              </a:tblPr>
              <a:tblGrid>
                <a:gridCol w="1049372">
                  <a:extLst>
                    <a:ext uri="{9D8B030D-6E8A-4147-A177-3AD203B41FA5}">
                      <a16:colId xmlns:a16="http://schemas.microsoft.com/office/drawing/2014/main" val="20000"/>
                    </a:ext>
                  </a:extLst>
                </a:gridCol>
                <a:gridCol w="8523848">
                  <a:extLst>
                    <a:ext uri="{9D8B030D-6E8A-4147-A177-3AD203B41FA5}">
                      <a16:colId xmlns:a16="http://schemas.microsoft.com/office/drawing/2014/main" val="20001"/>
                    </a:ext>
                  </a:extLst>
                </a:gridCol>
              </a:tblGrid>
              <a:tr h="370840">
                <a:tc>
                  <a:txBody>
                    <a:bodyPr/>
                    <a:lstStyle/>
                    <a:p>
                      <a:pPr algn="ctr"/>
                      <a:r>
                        <a:rPr lang="en-US" dirty="0"/>
                        <a:t>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Description / URL / Attachment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294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TANDER">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ANTANDER" id="{A7931A0C-76EE-415A-A28C-30BEBECE9455}" vid="{C3444778-56DA-482B-9A7D-493CC6A4697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D486FBC31F5F47BA4B4A6B071A982A" ma:contentTypeVersion="57" ma:contentTypeDescription="Create a new document." ma:contentTypeScope="" ma:versionID="00ff8005fdf1e8f7480875bdd5a7f66a">
  <xsd:schema xmlns:xsd="http://www.w3.org/2001/XMLSchema" xmlns:xs="http://www.w3.org/2001/XMLSchema" xmlns:p="http://schemas.microsoft.com/office/2006/metadata/properties" xmlns:ns1="http://schemas.microsoft.com/sharepoint/v3" xmlns:ns2="4b19d947-0aee-4c2c-92f6-e5a6d3d59fb1" xmlns:ns3="a9a4d068-c905-4774-b659-40df8e123523" targetNamespace="http://schemas.microsoft.com/office/2006/metadata/properties" ma:root="true" ma:fieldsID="91558006f293632ca0204a8e6893f73a" ns1:_="" ns2:_="" ns3:_="">
    <xsd:import namespace="http://schemas.microsoft.com/sharepoint/v3"/>
    <xsd:import namespace="4b19d947-0aee-4c2c-92f6-e5a6d3d59fb1"/>
    <xsd:import namespace="a9a4d068-c905-4774-b659-40df8e123523"/>
    <xsd:element name="properties">
      <xsd:complexType>
        <xsd:sequence>
          <xsd:element name="documentManagement">
            <xsd:complexType>
              <xsd:all>
                <xsd:element ref="ns2:ProjectName" minOccurs="0"/>
                <xsd:element ref="ns2:ProjectID" minOccurs="0"/>
                <xsd:element ref="ns2:CoversheetChoice" minOccurs="0"/>
                <xsd:element ref="ns2:DeliverableName" minOccurs="0"/>
                <xsd:element ref="ns2:SelectProject" minOccurs="0"/>
                <xsd:element ref="ns2:FlowGUID" minOccurs="0"/>
                <xsd:element ref="ns2:Release" minOccurs="0"/>
                <xsd:element ref="ns2:ExitGate" minOccurs="0"/>
                <xsd:element ref="ns2:ItemInTracker" minOccurs="0"/>
                <xsd:element ref="ns2:DeliveryHubArtifactTrackerID" minOccurs="0"/>
                <xsd:element ref="ns2:ReadyForFlow" minOccurs="0"/>
                <xsd:element ref="ns2:FilePath" minOccurs="0"/>
                <xsd:element ref="ns2:CopyFileFlag" minOccurs="0"/>
                <xsd:element ref="ns2:StatusComments" minOccurs="0"/>
                <xsd:element ref="ns2:TaskID" minOccurs="0"/>
                <xsd:element ref="ns2:Trigger" minOccurs="0"/>
                <xsd:element ref="ns2:TypeID" minOccurs="0"/>
                <xsd:element ref="ns2:IPMFID" minOccurs="0"/>
                <xsd:element ref="ns2:BusinessFunction" minOccurs="0"/>
                <xsd:element ref="ns2:Completed" minOccurs="0"/>
                <xsd:element ref="ns2:CompletedIcon" minOccurs="0"/>
                <xsd:element ref="ns2:Coversheet" minOccurs="0"/>
                <xsd:element ref="ns2:IPMFPhase" minOccurs="0"/>
                <xsd:element ref="ns2:IPMFArtifactID" minOccurs="0"/>
                <xsd:element ref="ns2:PriorApproval" minOccurs="0"/>
                <xsd:element ref="ns2:ProgramName" minOccurs="0"/>
                <xsd:element ref="ns2:ReadyForApproval" minOccurs="0"/>
                <xsd:element ref="ns2:Status" minOccurs="0"/>
                <xsd:element ref="ns2:Approver" minOccurs="0"/>
                <xsd:element ref="ns2:SelectProject_x003a_ID" minOccurs="0"/>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1:TranslationStateDownloadLink" minOccurs="0"/>
                <xsd:element ref="ns2:g11ba78ee44d4604a30d2abb45f83283"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50" nillable="true" ma:displayName="Unified Compliance Policy Properties" ma:hidden="true" ma:internalName="_ip_UnifiedCompliancePolicyProperties">
      <xsd:simpleType>
        <xsd:restriction base="dms:Note"/>
      </xsd:simpleType>
    </xsd:element>
    <xsd:element name="_ip_UnifiedCompliancePolicyUIAction" ma:index="51" nillable="true" ma:displayName="Unified Compliance Policy UI Action" ma:hidden="true" ma:internalName="_ip_UnifiedCompliancePolicyUIAction">
      <xsd:simpleType>
        <xsd:restriction base="dms:Text"/>
      </xsd:simpleType>
    </xsd:element>
    <xsd:element name="TranslationStateDownloadLink" ma:index="53" nillable="true" ma:displayName="Download Link" ma:description="" ma:internalName="TranslationStateDownload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19d947-0aee-4c2c-92f6-e5a6d3d59fb1" elementFormDefault="qualified">
    <xsd:import namespace="http://schemas.microsoft.com/office/2006/documentManagement/types"/>
    <xsd:import namespace="http://schemas.microsoft.com/office/infopath/2007/PartnerControls"/>
    <xsd:element name="ProjectName" ma:index="2" nillable="true" ma:displayName="ProjectName" ma:indexed="true" ma:internalName="ProjectName" ma:readOnly="false">
      <xsd:simpleType>
        <xsd:restriction base="dms:Text">
          <xsd:maxLength value="255"/>
        </xsd:restriction>
      </xsd:simpleType>
    </xsd:element>
    <xsd:element name="ProjectID" ma:index="3" nillable="true" ma:displayName="ProjectID" ma:indexed="true" ma:internalName="ProjectID" ma:readOnly="false">
      <xsd:simpleType>
        <xsd:restriction base="dms:Text">
          <xsd:maxLength value="255"/>
        </xsd:restriction>
      </xsd:simpleType>
    </xsd:element>
    <xsd:element name="CoversheetChoice" ma:index="4" nillable="true" ma:displayName="CoversheetChoice" ma:internalName="CoversheetChoice" ma:readOnly="false">
      <xsd:simpleType>
        <xsd:restriction base="dms:Text">
          <xsd:maxLength value="255"/>
        </xsd:restriction>
      </xsd:simpleType>
    </xsd:element>
    <xsd:element name="DeliverableName" ma:index="5" nillable="true" ma:displayName="DeliverableName" ma:indexed="true" ma:internalName="DeliverableName" ma:readOnly="false">
      <xsd:simpleType>
        <xsd:restriction base="dms:Text">
          <xsd:maxLength value="255"/>
        </xsd:restriction>
      </xsd:simpleType>
    </xsd:element>
    <xsd:element name="SelectProject" ma:index="6" nillable="true" ma:displayName="SelectProject" ma:list="{06d5e1ce-f8e8-4c9d-a808-4a3aaa87923a}" ma:internalName="SelectProject" ma:readOnly="false" ma:showField="ProjectName" ma:web="3611249a-3e52-482f-b158-ab6f5cb1606d">
      <xsd:simpleType>
        <xsd:restriction base="dms:Lookup"/>
      </xsd:simpleType>
    </xsd:element>
    <xsd:element name="FlowGUID" ma:index="7" nillable="true" ma:displayName="FlowGUID" ma:internalName="FlowGUID" ma:readOnly="false">
      <xsd:simpleType>
        <xsd:restriction base="dms:Text">
          <xsd:maxLength value="255"/>
        </xsd:restriction>
      </xsd:simpleType>
    </xsd:element>
    <xsd:element name="Release" ma:index="8" nillable="true" ma:displayName="Release" ma:format="Dropdown" ma:internalName="Release" ma:readOnly="false">
      <xsd:simpleType>
        <xsd:restriction base="dms:Choice">
          <xsd:enumeration value="ALL"/>
          <xsd:enumeration value="R01"/>
          <xsd:enumeration value="R02"/>
          <xsd:enumeration value="R03"/>
          <xsd:enumeration value="R04"/>
          <xsd:enumeration value="R05"/>
          <xsd:enumeration value="R06"/>
          <xsd:enumeration value="R07"/>
          <xsd:enumeration value="R08"/>
          <xsd:enumeration value="R09"/>
          <xsd:enumeration value="R10"/>
          <xsd:enumeration value="R11"/>
          <xsd:enumeration value="R12"/>
          <xsd:enumeration value="R13"/>
          <xsd:enumeration value="R14"/>
          <xsd:enumeration value="R15"/>
          <xsd:enumeration value="R16"/>
          <xsd:enumeration value="R17"/>
          <xsd:enumeration value="R18"/>
          <xsd:enumeration value="R19"/>
          <xsd:enumeration value="R20"/>
          <xsd:enumeration value="R21"/>
          <xsd:enumeration value="R22"/>
          <xsd:enumeration value="R23"/>
          <xsd:enumeration value="R24"/>
          <xsd:enumeration value="R25"/>
          <xsd:enumeration value="R26"/>
          <xsd:enumeration value="R27"/>
          <xsd:enumeration value="R28"/>
          <xsd:enumeration value="R29"/>
          <xsd:enumeration value="R30"/>
          <xsd:enumeration value="R31"/>
          <xsd:enumeration value="R32"/>
          <xsd:enumeration value="R33"/>
          <xsd:enumeration value="R34"/>
          <xsd:enumeration value="R35"/>
          <xsd:enumeration value="R36"/>
          <xsd:enumeration value="R37"/>
          <xsd:enumeration value="R38"/>
          <xsd:enumeration value="R39"/>
          <xsd:enumeration value="R40"/>
        </xsd:restriction>
      </xsd:simpleType>
    </xsd:element>
    <xsd:element name="ExitGate" ma:index="9" nillable="true" ma:displayName="ExitGate" ma:indexed="true" ma:internalName="ExitGate" ma:readOnly="false">
      <xsd:simpleType>
        <xsd:restriction base="dms:Text">
          <xsd:maxLength value="255"/>
        </xsd:restriction>
      </xsd:simpleType>
    </xsd:element>
    <xsd:element name="ItemInTracker" ma:index="10" nillable="true" ma:displayName="ItemInTracker" ma:indexed="true" ma:internalName="ItemInTracker" ma:readOnly="false">
      <xsd:simpleType>
        <xsd:restriction base="dms:Text">
          <xsd:maxLength value="255"/>
        </xsd:restriction>
      </xsd:simpleType>
    </xsd:element>
    <xsd:element name="DeliveryHubArtifactTrackerID" ma:index="11" nillable="true" ma:displayName="DeliveryHubArtifactTrackerID" ma:decimals="0" ma:internalName="DeliveryHubArtifactTrackerID" ma:readOnly="false" ma:percentage="FALSE">
      <xsd:simpleType>
        <xsd:restriction base="dms:Number"/>
      </xsd:simpleType>
    </xsd:element>
    <xsd:element name="ReadyForFlow" ma:index="12" nillable="true" ma:displayName="ReadyForFlow" ma:indexed="true" ma:internalName="ReadyForFlow" ma:readOnly="false">
      <xsd:simpleType>
        <xsd:restriction base="dms:Text">
          <xsd:maxLength value="255"/>
        </xsd:restriction>
      </xsd:simpleType>
    </xsd:element>
    <xsd:element name="FilePath" ma:index="13" nillable="true" ma:displayName="FilePath" ma:internalName="FilePath" ma:readOnly="false">
      <xsd:simpleType>
        <xsd:restriction base="dms:Text">
          <xsd:maxLength value="255"/>
        </xsd:restriction>
      </xsd:simpleType>
    </xsd:element>
    <xsd:element name="CopyFileFlag" ma:index="14" nillable="true" ma:displayName="CopyFileFlag" ma:internalName="CopyFileFlag" ma:readOnly="false">
      <xsd:simpleType>
        <xsd:restriction base="dms:Text">
          <xsd:maxLength value="255"/>
        </xsd:restriction>
      </xsd:simpleType>
    </xsd:element>
    <xsd:element name="StatusComments" ma:index="15" nillable="true" ma:displayName="StatusComments" ma:hidden="true" ma:internalName="StatusComments" ma:readOnly="false">
      <xsd:simpleType>
        <xsd:restriction base="dms:Note"/>
      </xsd:simpleType>
    </xsd:element>
    <xsd:element name="TaskID" ma:index="16" nillable="true" ma:displayName="TaskID" ma:hidden="true" ma:internalName="TaskID" ma:readOnly="false">
      <xsd:simpleType>
        <xsd:restriction base="dms:Text">
          <xsd:maxLength value="255"/>
        </xsd:restriction>
      </xsd:simpleType>
    </xsd:element>
    <xsd:element name="Trigger" ma:index="17" nillable="true" ma:displayName="Trigger" ma:hidden="true" ma:internalName="Trigger" ma:readOnly="false">
      <xsd:simpleType>
        <xsd:restriction base="dms:Text">
          <xsd:maxLength value="255"/>
        </xsd:restriction>
      </xsd:simpleType>
    </xsd:element>
    <xsd:element name="TypeID" ma:index="18" nillable="true" ma:displayName="TypeID" ma:hidden="true" ma:internalName="TypeID" ma:readOnly="false">
      <xsd:simpleType>
        <xsd:restriction base="dms:Text">
          <xsd:maxLength value="255"/>
        </xsd:restriction>
      </xsd:simpleType>
    </xsd:element>
    <xsd:element name="IPMFID" ma:index="19" nillable="true" ma:displayName="IPMFID" ma:hidden="true" ma:internalName="IPMFID" ma:readOnly="false">
      <xsd:simpleType>
        <xsd:restriction base="dms:Text">
          <xsd:maxLength value="255"/>
        </xsd:restriction>
      </xsd:simpleType>
    </xsd:element>
    <xsd:element name="BusinessFunction" ma:index="24" nillable="true" ma:displayName="BusinessFunction" ma:hidden="true" ma:internalName="BusinessFunction" ma:readOnly="false">
      <xsd:simpleType>
        <xsd:restriction base="dms:Text">
          <xsd:maxLength value="255"/>
        </xsd:restriction>
      </xsd:simpleType>
    </xsd:element>
    <xsd:element name="Completed" ma:index="25" nillable="true" ma:displayName="Completed" ma:hidden="true" ma:internalName="Completed" ma:readOnly="false">
      <xsd:simpleType>
        <xsd:restriction base="dms:Text">
          <xsd:maxLength value="255"/>
        </xsd:restriction>
      </xsd:simpleType>
    </xsd:element>
    <xsd:element name="CompletedIcon" ma:index="26" nillable="true" ma:displayName="CompletedIcon" ma:hidden="true" ma:internalName="CompletedIcon" ma:readOnly="false">
      <xsd:simpleType>
        <xsd:restriction base="dms:Text">
          <xsd:maxLength value="255"/>
        </xsd:restriction>
      </xsd:simpleType>
    </xsd:element>
    <xsd:element name="Coversheet" ma:index="27" nillable="true" ma:displayName="Coversheet" ma:hidden="true" ma:internalName="Coversheet" ma:readOnly="false">
      <xsd:simpleType>
        <xsd:restriction base="dms:Text">
          <xsd:maxLength value="255"/>
        </xsd:restriction>
      </xsd:simpleType>
    </xsd:element>
    <xsd:element name="IPMFPhase" ma:index="28" nillable="true" ma:displayName="IPMFPhase" ma:hidden="true" ma:internalName="IPMFPhase" ma:readOnly="false">
      <xsd:simpleType>
        <xsd:restriction base="dms:Text">
          <xsd:maxLength value="255"/>
        </xsd:restriction>
      </xsd:simpleType>
    </xsd:element>
    <xsd:element name="IPMFArtifactID" ma:index="29" nillable="true" ma:displayName="IPMFArtifactID" ma:hidden="true" ma:internalName="IPMFArtifactID" ma:readOnly="false">
      <xsd:simpleType>
        <xsd:restriction base="dms:Text">
          <xsd:maxLength value="255"/>
        </xsd:restriction>
      </xsd:simpleType>
    </xsd:element>
    <xsd:element name="PriorApproval" ma:index="30" nillable="true" ma:displayName="PriorApproval" ma:hidden="true" ma:internalName="PriorApproval" ma:readOnly="false">
      <xsd:simpleType>
        <xsd:restriction base="dms:Text">
          <xsd:maxLength value="255"/>
        </xsd:restriction>
      </xsd:simpleType>
    </xsd:element>
    <xsd:element name="ProgramName" ma:index="31" nillable="true" ma:displayName="ProgramName" ma:hidden="true" ma:internalName="ProgramName" ma:readOnly="false">
      <xsd:simpleType>
        <xsd:restriction base="dms:Text">
          <xsd:maxLength value="255"/>
        </xsd:restriction>
      </xsd:simpleType>
    </xsd:element>
    <xsd:element name="ReadyForApproval" ma:index="34" nillable="true" ma:displayName="ReadyForApproval" ma:hidden="true" ma:internalName="ReadyForApproval" ma:readOnly="false">
      <xsd:simpleType>
        <xsd:restriction base="dms:Text">
          <xsd:maxLength value="255"/>
        </xsd:restriction>
      </xsd:simpleType>
    </xsd:element>
    <xsd:element name="Status" ma:index="35" nillable="true" ma:displayName="Status" ma:hidden="true" ma:internalName="Status" ma:readOnly="false">
      <xsd:simpleType>
        <xsd:restriction base="dms:Text">
          <xsd:maxLength value="255"/>
        </xsd:restriction>
      </xsd:simpleType>
    </xsd:element>
    <xsd:element name="Approver" ma:index="36" nillable="true" ma:displayName="Approver" ma:hidden="true" ma:internalName="Approver" ma:readOnly="false">
      <xsd:simpleType>
        <xsd:restriction base="dms:Text">
          <xsd:maxLength value="255"/>
        </xsd:restriction>
      </xsd:simpleType>
    </xsd:element>
    <xsd:element name="SelectProject_x003a_ID" ma:index="37" nillable="true" ma:displayName="SelectProject:ID" ma:list="{06d5e1ce-f8e8-4c9d-a808-4a3aaa87923a}" ma:internalName="SelectProject_x003a_ID" ma:readOnly="true" ma:showField="ID" ma:web="3611249a-3e52-482f-b158-ab6f5cb1606d">
      <xsd:simpleType>
        <xsd:restriction base="dms:Lookup"/>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element name="MediaServiceObjectDetectorVersions" ma:index="43" nillable="true" ma:displayName="MediaServiceObjectDetectorVersions" ma:description="" ma:hidden="true" ma:internalName="MediaServiceObjectDetectorVersions" ma:readOnly="true">
      <xsd:simpleType>
        <xsd:restriction base="dms:Text"/>
      </xsd:simpleType>
    </xsd:element>
    <xsd:element name="MediaServiceOCR" ma:index="44" nillable="true" ma:displayName="Extracted Text" ma:internalName="MediaServiceOCR" ma:readOnly="true">
      <xsd:simpleType>
        <xsd:restriction base="dms:Note">
          <xsd:maxLength value="255"/>
        </xsd:restriction>
      </xsd:simpleType>
    </xsd:element>
    <xsd:element name="MediaServiceGenerationTime" ma:index="45" nillable="true" ma:displayName="MediaServiceGenerationTime" ma:hidden="true" ma:internalName="MediaServiceGenerationTime" ma:readOnly="true">
      <xsd:simpleType>
        <xsd:restriction base="dms:Text"/>
      </xsd:simpleType>
    </xsd:element>
    <xsd:element name="MediaServiceEventHashCode" ma:index="46" nillable="true" ma:displayName="MediaServiceEventHashCode" ma:hidden="true" ma:internalName="MediaServiceEventHashCode" ma:readOnly="true">
      <xsd:simpleType>
        <xsd:restriction base="dms:Text"/>
      </xsd:simpleType>
    </xsd:element>
    <xsd:element name="MediaServiceDateTaken" ma:index="47" nillable="true" ma:displayName="MediaServiceDateTaken" ma:description="" ma:hidden="true" ma:internalName="MediaServiceDateTaken" ma:readOnly="true">
      <xsd:simpleType>
        <xsd:restriction base="dms:Text"/>
      </xsd:simpleType>
    </xsd:element>
    <xsd:element name="MediaServiceSearchProperties" ma:index="52" nillable="true" ma:displayName="MediaServiceSearchProperties" ma:hidden="true" ma:internalName="MediaServiceSearchProperties" ma:readOnly="true">
      <xsd:simpleType>
        <xsd:restriction base="dms:Note"/>
      </xsd:simpleType>
    </xsd:element>
    <xsd:element name="g11ba78ee44d4604a30d2abb45f83283" ma:index="55" nillable="true" ma:taxonomy="true" ma:internalName="g11ba78ee44d4604a30d2abb45f83283" ma:taxonomyFieldName="Record_x0020_Type" ma:displayName="Record Type" ma:fieldId="{011ba78e-e44d-4604-a30d-2abb45f83283}" ma:sspId="e471ada5-31db-43fa-8830-84ca9293ff45" ma:termSetId="3684b711-0fc2-430f-9bb6-14cf8daf0c91" ma:anchorId="00000000-0000-0000-0000-000000000000" ma:open="false" ma:isKeyword="false">
      <xsd:complexType>
        <xsd:sequence>
          <xsd:element ref="pc:Terms" minOccurs="0" maxOccurs="1"/>
        </xsd:sequence>
      </xsd:complexType>
    </xsd:element>
    <xsd:element name="MediaServiceBillingMetadata" ma:index="5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a4d068-c905-4774-b659-40df8e123523" elementFormDefault="qualified">
    <xsd:import namespace="http://schemas.microsoft.com/office/2006/documentManagement/types"/>
    <xsd:import namespace="http://schemas.microsoft.com/office/infopath/2007/PartnerControls"/>
    <xsd:element name="TaxCatchAll" ma:index="40" nillable="true" ma:displayName="Taxonomy Catch All Column" ma:hidden="true" ma:list="{df0259b7-cd6d-48a5-8300-8811b007095a}" ma:internalName="TaxCatchAll" ma:showField="CatchAllData" ma:web="a9a4d068-c905-4774-b659-40df8e123523">
      <xsd:complexType>
        <xsd:complexContent>
          <xsd:extension base="dms:MultiChoiceLookup">
            <xsd:sequence>
              <xsd:element name="Value" type="dms:Lookup" maxOccurs="unbounded" minOccurs="0" nillable="true"/>
            </xsd:sequence>
          </xsd:extension>
        </xsd:complexContent>
      </xsd:complexType>
    </xsd:element>
    <xsd:element name="SharedWithUsers" ma:index="4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9a4d068-c905-4774-b659-40df8e123523" xsi:nil="true"/>
    <lcf76f155ced4ddcb4097134ff3c332f xmlns="4b19d947-0aee-4c2c-92f6-e5a6d3d59fb1">
      <Terms xmlns="http://schemas.microsoft.com/office/infopath/2007/PartnerControls"/>
    </lcf76f155ced4ddcb4097134ff3c332f>
    <ExitGate xmlns="4b19d947-0aee-4c2c-92f6-e5a6d3d59fb1">Gate 5</ExitGate>
    <DeliverableName xmlns="4b19d947-0aee-4c2c-92f6-e5a6d3d59fb1" xsi:nil="true"/>
    <ProjectName xmlns="4b19d947-0aee-4c2c-92f6-e5a6d3d59fb1">Derivatives OTC Customer phase 1</ProjectName>
    <IPMFPhase xmlns="4b19d947-0aee-4c2c-92f6-e5a6d3d59fb1">Execution</IPMFPhase>
    <ProjectID xmlns="4b19d947-0aee-4c2c-92f6-e5a6d3d59fb1">3264</ProjectID>
    <TaskID xmlns="4b19d947-0aee-4c2c-92f6-e5a6d3d59fb1" xsi:nil="true"/>
    <Release xmlns="4b19d947-0aee-4c2c-92f6-e5a6d3d59fb1">R01</Release>
    <TypeID xmlns="4b19d947-0aee-4c2c-92f6-e5a6d3d59fb1">B3P_M</TypeID>
    <_ip_UnifiedCompliancePolicyUIAction xmlns="http://schemas.microsoft.com/sharepoint/v3" xsi:nil="true"/>
    <FlowGUID xmlns="4b19d947-0aee-4c2c-92f6-e5a6d3d59fb1" xsi:nil="true"/>
    <CompletedIcon xmlns="4b19d947-0aee-4c2c-92f6-e5a6d3d59fb1" xsi:nil="true"/>
    <Approver xmlns="4b19d947-0aee-4c2c-92f6-e5a6d3d59fb1" xsi:nil="true"/>
    <IPMFID xmlns="4b19d947-0aee-4c2c-92f6-e5a6d3d59fb1" xsi:nil="true"/>
    <TranslationStateDownloadLink xmlns="http://schemas.microsoft.com/sharepoint/v3">
      <Url xsi:nil="true"/>
      <Description xsi:nil="true"/>
    </TranslationStateDownloadLink>
    <ReadyForFlow xmlns="4b19d947-0aee-4c2c-92f6-e5a6d3d59fb1" xsi:nil="true"/>
    <IPMFArtifactID xmlns="4b19d947-0aee-4c2c-92f6-e5a6d3d59fb1" xsi:nil="true"/>
    <_ip_UnifiedCompliancePolicyProperties xmlns="http://schemas.microsoft.com/sharepoint/v3" xsi:nil="true"/>
    <Completed xmlns="4b19d947-0aee-4c2c-92f6-e5a6d3d59fb1" xsi:nil="true"/>
    <g11ba78ee44d4604a30d2abb45f83283 xmlns="4b19d947-0aee-4c2c-92f6-e5a6d3d59fb1">
      <Terms xmlns="http://schemas.microsoft.com/office/infopath/2007/PartnerControls"/>
    </g11ba78ee44d4604a30d2abb45f83283>
    <DeliveryHubArtifactTrackerID xmlns="4b19d947-0aee-4c2c-92f6-e5a6d3d59fb1" xsi:nil="true"/>
    <ProgramName xmlns="4b19d947-0aee-4c2c-92f6-e5a6d3d59fb1" xsi:nil="true"/>
    <PriorApproval xmlns="4b19d947-0aee-4c2c-92f6-e5a6d3d59fb1" xsi:nil="true"/>
    <CopyFileFlag xmlns="4b19d947-0aee-4c2c-92f6-e5a6d3d59fb1" xsi:nil="true"/>
    <Coversheet xmlns="4b19d947-0aee-4c2c-92f6-e5a6d3d59fb1" xsi:nil="true"/>
    <ReadyForApproval xmlns="4b19d947-0aee-4c2c-92f6-e5a6d3d59fb1" xsi:nil="true"/>
    <CoversheetChoice xmlns="4b19d947-0aee-4c2c-92f6-e5a6d3d59fb1" xsi:nil="true"/>
    <ItemInTracker xmlns="4b19d947-0aee-4c2c-92f6-e5a6d3d59fb1" xsi:nil="true"/>
    <StatusComments xmlns="4b19d947-0aee-4c2c-92f6-e5a6d3d59fb1" xsi:nil="true"/>
    <Trigger xmlns="4b19d947-0aee-4c2c-92f6-e5a6d3d59fb1" xsi:nil="true"/>
    <BusinessFunction xmlns="4b19d947-0aee-4c2c-92f6-e5a6d3d59fb1" xsi:nil="true"/>
    <Status xmlns="4b19d947-0aee-4c2c-92f6-e5a6d3d59fb1" xsi:nil="true"/>
    <SelectProject xmlns="4b19d947-0aee-4c2c-92f6-e5a6d3d59fb1" xsi:nil="true"/>
    <FilePath xmlns="4b19d947-0aee-4c2c-92f6-e5a6d3d59fb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A26401-B3D0-4892-8F64-67DB380DD4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b19d947-0aee-4c2c-92f6-e5a6d3d59fb1"/>
    <ds:schemaRef ds:uri="a9a4d068-c905-4774-b659-40df8e1235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76FAD3-AF17-47E8-93FF-10A5DF74BDD0}">
  <ds:schemaRefs>
    <ds:schemaRef ds:uri="http://schemas.microsoft.com/office/2006/metadata/properties"/>
    <ds:schemaRef ds:uri="http://schemas.microsoft.com/office/infopath/2007/PartnerControls"/>
    <ds:schemaRef ds:uri="7b72b7f5-8a94-4ed8-9c3b-621e3bb18844"/>
    <ds:schemaRef ds:uri="http://schemas.microsoft.com/sharepoint/v3"/>
    <ds:schemaRef ds:uri="a9a4d068-c905-4774-b659-40df8e123523"/>
    <ds:schemaRef ds:uri="a4d9b60c-05aa-4695-a641-e05b771a5948"/>
    <ds:schemaRef ds:uri="4b19d947-0aee-4c2c-92f6-e5a6d3d59fb1"/>
  </ds:schemaRefs>
</ds:datastoreItem>
</file>

<file path=customXml/itemProps3.xml><?xml version="1.0" encoding="utf-8"?>
<ds:datastoreItem xmlns:ds="http://schemas.openxmlformats.org/officeDocument/2006/customXml" ds:itemID="{FC60AA7E-2504-4610-B9B4-C29E733D94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5717</Words>
  <Application>Microsoft Office PowerPoint</Application>
  <PresentationFormat>Widescreen</PresentationFormat>
  <Paragraphs>1123</Paragraphs>
  <Slides>44</Slides>
  <Notes>3</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SANTANDER</vt:lpstr>
      <vt:lpstr>Single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Design</dc:title>
  <dc:creator>Presentalia (info@presentalia.com)</dc:creator>
  <cp:lastModifiedBy>Megia Planet Domingo</cp:lastModifiedBy>
  <cp:revision>303</cp:revision>
  <dcterms:created xsi:type="dcterms:W3CDTF">2018-03-19T11:10:43Z</dcterms:created>
  <dcterms:modified xsi:type="dcterms:W3CDTF">2026-10-28T19:35:26Z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0f90fca-59d9-4aac-bcc2-47e1f4ce48b8_Enabled">
    <vt:lpwstr>true</vt:lpwstr>
  </property>
  <property fmtid="{D5CDD505-2E9C-101B-9397-08002B2CF9AE}" pid="3" name="MSIP_Label_e0f90fca-59d9-4aac-bcc2-47e1f4ce48b8_SetDate">
    <vt:lpwstr>2023-07-24T13:27:49Z</vt:lpwstr>
  </property>
  <property fmtid="{D5CDD505-2E9C-101B-9397-08002B2CF9AE}" pid="4" name="MSIP_Label_e0f90fca-59d9-4aac-bcc2-47e1f4ce48b8_Method">
    <vt:lpwstr>Standard</vt:lpwstr>
  </property>
  <property fmtid="{D5CDD505-2E9C-101B-9397-08002B2CF9AE}" pid="5" name="MSIP_Label_e0f90fca-59d9-4aac-bcc2-47e1f4ce48b8_Name">
    <vt:lpwstr>US Confidential</vt:lpwstr>
  </property>
  <property fmtid="{D5CDD505-2E9C-101B-9397-08002B2CF9AE}" pid="6" name="MSIP_Label_e0f90fca-59d9-4aac-bcc2-47e1f4ce48b8_SiteId">
    <vt:lpwstr>35595a02-4d6d-44ac-99e1-f9ab4cd872db</vt:lpwstr>
  </property>
  <property fmtid="{D5CDD505-2E9C-101B-9397-08002B2CF9AE}" pid="7" name="MSIP_Label_e0f90fca-59d9-4aac-bcc2-47e1f4ce48b8_ActionId">
    <vt:lpwstr>569dff0f-3cae-441e-af4f-819a7afdf823</vt:lpwstr>
  </property>
  <property fmtid="{D5CDD505-2E9C-101B-9397-08002B2CF9AE}" pid="8" name="MSIP_Label_e0f90fca-59d9-4aac-bcc2-47e1f4ce48b8_ContentBits">
    <vt:lpwstr>1</vt:lpwstr>
  </property>
  <property fmtid="{D5CDD505-2E9C-101B-9397-08002B2CF9AE}" pid="9" name="ContentTypeId">
    <vt:lpwstr>0x01010035D486FBC31F5F47BA4B4A6B071A982A</vt:lpwstr>
  </property>
  <property fmtid="{D5CDD505-2E9C-101B-9397-08002B2CF9AE}" pid="10" name="MediaServiceImageTags">
    <vt:lpwstr/>
  </property>
  <property fmtid="{D5CDD505-2E9C-101B-9397-08002B2CF9AE}" pid="11" name="Record Type">
    <vt:lpwstr/>
  </property>
  <property fmtid="{D5CDD505-2E9C-101B-9397-08002B2CF9AE}" pid="12" name="Record_x0020_Type">
    <vt:lpwstr/>
  </property>
</Properties>
</file>